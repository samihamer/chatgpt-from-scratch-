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I'm Samih. The title is a mouthful but the project is simple. I took our course GPT, swapped its tokenizer for one I trained on medical text, and measured what changed. Everything else — architecture, optimizer, training corpus, evaluation — is held fixed. The whole question is: does a medical-text tokenizer make a medical language model better? You'll see the answer is 'yes — but only narrowly, and with two surprises along the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training happens, the tokenizer decides what vocabulary the model will see. That matters because a unit the tokenizer doesn't respect — like 'cholecystectomy' — is a unit the model has to reconstruct from pieces. A general tokenizer, trained on web text, shatters that word into six subword pieces. A tokenizer trained on PubMed treats it as one. The claim this project tests: if you shift that workload from the model to the tokenizer, the in-domain model should get better. Let me make that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experiment, a quick grounding in how BPE actually works. Byte-Pair Encoding starts from a byte-level alphabet and iteratively merges the most frequent adjacent pair until it hits a target vocabulary size — ten thousand here. The training corpus decides which merges are profitable. Wikitext makes 'the', 'and', 'tion' high-utility. PubMed makes 'cellular', 'clinical', 'cholecystectomy' high-utility. Same algorithm, same vocab size — different vocabulary contents. That's the whole lever I'm pulling.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experiment is minimal by design. Two runs. Same 29-million-parameter GPT — pre-LayerNorm, 6 layers, 8 heads, d-model 512, the Module 6 configuration. Same optimizer, same learning rate, same batch size, same cosine schedule. Same training corpus: 100,000 PubMed abstracts. Same three evaluation corpora. The only variable that changes is which of two tokenizers I use. Both are 10k-vocab byte-level BPEs — one trained on wikitext, one on PubMed. Anything I find has to come from the tokenizer, because nothing else has 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can't compare two tokenizers with per-token perplexity. If my tokenizer packs text into fewer tokens, each of my tokens carries more information — so a per-token loss of, say, 2 means something different for each tokenizer. The fix is bits-per-character. Take the cross-entropy in nats, convert to bits with log base 2 of e, multiply by number of tokens, divide by number of raw characters. Same unit on both sides — bits of surprise per character of English text. BPC is my primary metric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unavoidable fairness problem. Because medical packs more characters per token, one epoch of PubMed is fewer gradient updates for medical than for general. You can't hold compute and tokens and text all constant simultaneously — they're tied together by the compression ratio. So I report two frames. Option 1: same compute, same step count, but medical sees more raw text. Option 2: same text exposure, one epoch each, but general does more gradient steps. Both are honest; they answer slightly different questions. I report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result — and this one requires no trained model at all. The tokenizers themselves compress the three eval corpora differently. Medical wins by 27% on in-domain PubMed, as expected. Medical loses by 46% on wikitext, also expected — it has no 'the-and-tion' merges. And then — medical ties on MTSamples. That's a medical corpus, but the medical tokenizer has no compression edge. Hold onto that. It's the first clue that 'medical text is medical text'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detour on methodology that almost cost me the result. I first trained both models for one epoch. General's loss plateaued around 3.2 nats; medical kept descending. I nearly wrote it up as 'general converged, medical had headroom.' Then I looked at the LR schedule — cosine had collapsed to three-times-ten-to-the-minus-five, 10 percent of peak, at the 1-epoch mark. The plateau wasn't convergence; it was the schedule bottoming out. I re-ran for two epochs with a schedule spanning the full horizon. General kept learning another half-nat. The moral: under-training can mask the effect you're studying. A quick pilot would have given me the wrong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both models properly converged, here's the held-out BPC on all three corpora. On in-domain PubMed, medical wins under both fairness frames — by 0.031 BPC at matched compute, by 0.010 at matched text exposure. On wikitext, general wins by almost a full bit per character. On MTSamples, general wins by about half a bit. The PubMed lead is small but consistent across frames; the out-of-domain costs are substantial. Domain tokenization is a real win — it's just a narrow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 into just the second epoch. What did each model learn from that extra pass? Medical improved roughly uniformly — 0.12 to 0.15 BPC better on all three corpora. General improved strongly on PubMed, barely moved on MTSamples, and went nowhere on wikitext. That's an interesting pattern: general was already saturated on corpora its tokenizer can't reach. More training only helps where the representation is good enough to keep pulling signal from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MTSamples result is the finding I didn't expect. The medical tokenizer loses on medical text. Why? Because MTSamples isn't PubMed. PubMed is formal academic prose — 'patients with acute myocardial infarction were randomly assigned.' MTSamples is clinical dictation — 'pt is 54 y/o M w/ CP times two days, admitted for r/o MI.' My tokenizer learned 'myocardial.' It didn't learn 'pt', 'y/o', 'w/', 'r/o' — those didn't appear enough in PubMed. The lesson is that tokenizer specialization is register-specific, not domain-specific. The phrase 'medical tokenizer' is less meaningful than 'PubMed-abstract tokenizer.'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 at similar loss, the two models fail in different shapes. General invents words mid-sequence — 'cholesterolecystitis', 'udgulopathy', 'bronchiolitin stenting.' It does this because 'cholecystectomy' is six tokens for it — swap one and you get a plausible-sounding fake. Medical can fabricate too — 'laparoscopic cholecystostomyectomy' is a portmanteau of two real procedure names — but it can't do char-level drift, because the whole word is one token. Different failure shapes, not just different error rates. Hallucination analysis should probably be tokenizer-conditioned.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domain-specific tokenizers work, modestly, on the exact register they were trained on — and they impose a real cost everywhere else. Second: 'specialization' is finer-grained than I assumed; PubMed-medical and clinical-dictation-medical are different targets for a tokenizer. Third, the methodological point: if you run a short pilot and see a null result, check your LR schedule before you believe it. An under-trained model looks a lot like a no-effect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I'd do with more compute. A mixed-corpus tokenizer — PubMed plus MTSamples plus general — might keep the in-domain win while closing the cross-register gap. Register-aware tokenizer switching at inference is an interesting trick. Chinchilla-scale training — we're currently 18x below optimal — would tell us if the gap widens or collapses at scale. And tokenizer-conditioned hallucination analysis, because these models fail differently, not just differently often. Thanks —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1143000" y="533400"/>
            <a:ext cx="5571770"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FINAL PROJECT · GPT-FROM-SCRATCH</a:t>
            </a:r>
            <a:endParaRPr lang="en-US" sz="1800" dirty="0"/>
          </a:p>
        </p:txBody>
      </p:sp>
      <p:sp>
        <p:nvSpPr>
          <p:cNvPr id="3" name="Text 1"/>
          <p:cNvSpPr/>
          <p:nvPr/>
        </p:nvSpPr>
        <p:spPr>
          <a:xfrm>
            <a:off x="16102013" y="533400"/>
            <a:ext cx="1119188"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01 </a:t>
            </a:r>
            <a:pPr algn="l" indent="0" marL="0">
              <a:lnSpc>
                <a:spcPct val="142000"/>
              </a:lnSpc>
              <a:buNone/>
            </a:pPr>
            <a:r>
              <a:rPr lang="en-US" sz="1800" spc="252" kern="0" dirty="0">
                <a:solidFill>
                  <a:srgbClr val="C9BFA8"/>
                </a:solidFill>
                <a:latin typeface="Arial" pitchFamily="34" charset="0"/>
                <a:ea typeface="Arial" pitchFamily="34" charset="-122"/>
                <a:cs typeface="Arial" pitchFamily="34" charset="-120"/>
              </a:rPr>
              <a:t>/ 14</a:t>
            </a:r>
            <a:endParaRPr lang="en-US" sz="1800" dirty="0"/>
          </a:p>
        </p:txBody>
      </p:sp>
      <p:sp>
        <p:nvSpPr>
          <p:cNvPr id="4" name="Text 2"/>
          <p:cNvSpPr/>
          <p:nvPr/>
        </p:nvSpPr>
        <p:spPr>
          <a:xfrm>
            <a:off x="1143000" y="1793915"/>
            <a:ext cx="15697200"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spc="288" kern="0" dirty="0">
                <a:solidFill>
                  <a:srgbClr val="8A8375"/>
                </a:solidFill>
                <a:latin typeface="Arial" pitchFamily="34" charset="0"/>
                <a:ea typeface="Arial" pitchFamily="34" charset="-122"/>
                <a:cs typeface="Arial" pitchFamily="34" charset="-120"/>
              </a:rPr>
              <a:t>A STUDY IN DOMAIN-SPECIFIC TOKENIZATION</a:t>
            </a:r>
            <a:endParaRPr lang="en-US" sz="1800" dirty="0"/>
          </a:p>
        </p:txBody>
      </p:sp>
      <p:sp>
        <p:nvSpPr>
          <p:cNvPr id="5" name="Text 3"/>
          <p:cNvSpPr/>
          <p:nvPr/>
        </p:nvSpPr>
        <p:spPr>
          <a:xfrm>
            <a:off x="1143000" y="2499479"/>
            <a:ext cx="15697200" cy="3185636"/>
          </a:xfrm>
          <a:prstGeom prst="rect">
            <a:avLst/>
          </a:prstGeom>
          <a:noFill/>
          <a:ln/>
        </p:spPr>
        <p:txBody>
          <a:bodyPr wrap="square" lIns="25400" tIns="25400" rIns="25400" bIns="25400" rtlCol="0" anchor="t">
            <a:normAutofit/>
          </a:bodyPr>
          <a:lstStyle/>
          <a:p>
            <a:pPr algn="l" indent="0" marL="0">
              <a:lnSpc>
                <a:spcPct val="102000"/>
              </a:lnSpc>
              <a:buNone/>
            </a:pPr>
            <a:r>
              <a:rPr lang="en-US" sz="8100" spc="-203" kern="0" dirty="0">
                <a:solidFill>
                  <a:srgbClr val="1A1A1A"/>
                </a:solidFill>
                <a:latin typeface="Arial" pitchFamily="34" charset="0"/>
                <a:ea typeface="Arial" pitchFamily="34" charset="-122"/>
                <a:cs typeface="Arial" pitchFamily="34" charset="-120"/>
              </a:rPr>
              <a:t>Does a domain-specific BPE tokenizer improve in-domain language modeling?</a:t>
            </a:r>
            <a:endParaRPr lang="en-US" sz="8100" dirty="0"/>
          </a:p>
        </p:txBody>
      </p:sp>
      <p:sp>
        <p:nvSpPr>
          <p:cNvPr id="6" name="Text 4"/>
          <p:cNvSpPr/>
          <p:nvPr/>
        </p:nvSpPr>
        <p:spPr>
          <a:xfrm>
            <a:off x="1143000" y="6066115"/>
            <a:ext cx="12753975" cy="541020"/>
          </a:xfrm>
          <a:prstGeom prst="rect">
            <a:avLst/>
          </a:prstGeom>
          <a:noFill/>
          <a:ln/>
        </p:spPr>
        <p:txBody>
          <a:bodyPr wrap="square" lIns="25400" tIns="25400" rIns="25400" bIns="25400" rtlCol="0" anchor="t">
            <a:normAutofit/>
          </a:bodyPr>
          <a:lstStyle/>
          <a:p>
            <a:pPr algn="l" indent="0" marL="0">
              <a:lnSpc>
                <a:spcPct val="120000"/>
              </a:lnSpc>
              <a:buNone/>
            </a:pPr>
            <a:r>
              <a:rPr lang="en-US" sz="3300" i="1" spc="-33" kern="0" dirty="0">
                <a:solidFill>
                  <a:srgbClr val="3E3A33"/>
                </a:solidFill>
                <a:latin typeface="Arial" pitchFamily="34" charset="0"/>
                <a:ea typeface="Arial" pitchFamily="34" charset="-122"/>
                <a:cs typeface="Arial" pitchFamily="34" charset="-120"/>
              </a:rPr>
              <a:t>An evaluation on medical text — one variable, two tokenizers, three corpora.</a:t>
            </a:r>
            <a:endParaRPr lang="en-US" sz="3300" dirty="0"/>
          </a:p>
        </p:txBody>
      </p:sp>
      <p:sp>
        <p:nvSpPr>
          <p:cNvPr id="7" name="Shape 5"/>
          <p:cNvSpPr/>
          <p:nvPr/>
        </p:nvSpPr>
        <p:spPr>
          <a:xfrm>
            <a:off x="1143000" y="7692986"/>
            <a:ext cx="875586" cy="800100"/>
          </a:xfrm>
          <a:prstGeom prst="roundRect">
            <a:avLst>
              <a:gd name="adj" fmla="val 4762"/>
            </a:avLst>
          </a:prstGeom>
          <a:solidFill>
            <a:srgbClr val="E3EAF5"/>
          </a:solidFill>
          <a:ln w="7620">
            <a:solidFill>
              <a:srgbClr val="2457A8">
                <a:alpha val="30000"/>
              </a:srgbClr>
            </a:solidFill>
            <a:prstDash val="solid"/>
          </a:ln>
        </p:spPr>
      </p:sp>
      <p:sp>
        <p:nvSpPr>
          <p:cNvPr id="8" name="Text 6"/>
          <p:cNvSpPr/>
          <p:nvPr/>
        </p:nvSpPr>
        <p:spPr>
          <a:xfrm>
            <a:off x="1264920" y="7757756"/>
            <a:ext cx="707946" cy="708660"/>
          </a:xfrm>
          <a:prstGeom prst="rect">
            <a:avLst/>
          </a:prstGeom>
          <a:noFill/>
          <a:ln/>
        </p:spPr>
        <p:txBody>
          <a:bodyPr wrap="square" lIns="25400" tIns="25400" rIns="25400" bIns="25400" rtlCol="0" anchor="t">
            <a:normAutofit/>
          </a:bodyPr>
          <a:lstStyle/>
          <a:p>
            <a:pPr algn="l" indent="0" marL="0">
              <a:lnSpc>
                <a:spcPct val="110000"/>
              </a:lnSpc>
              <a:buNone/>
            </a:pPr>
            <a:r>
              <a:rPr lang="en-US" sz="4800" spc="-48" kern="0" dirty="0">
                <a:solidFill>
                  <a:srgbClr val="173876"/>
                </a:solidFill>
                <a:latin typeface="Arial" pitchFamily="34" charset="0"/>
                <a:ea typeface="Arial" pitchFamily="34" charset="-122"/>
                <a:cs typeface="Arial" pitchFamily="34" charset="-120"/>
              </a:rPr>
              <a:t>ch</a:t>
            </a:r>
            <a:endParaRPr lang="en-US" sz="4800" dirty="0"/>
          </a:p>
        </p:txBody>
      </p:sp>
      <p:sp>
        <p:nvSpPr>
          <p:cNvPr id="9" name="Text 7"/>
          <p:cNvSpPr/>
          <p:nvPr/>
        </p:nvSpPr>
        <p:spPr>
          <a:xfrm>
            <a:off x="2094786" y="7849195"/>
            <a:ext cx="180975" cy="644009"/>
          </a:xfrm>
          <a:prstGeom prst="rect">
            <a:avLst/>
          </a:prstGeom>
          <a:noFill/>
          <a:ln/>
        </p:spPr>
        <p:txBody>
          <a:bodyPr wrap="square" lIns="25400" tIns="25400" rIns="25400" bIns="25400" rtlCol="0" anchor="t">
            <a:normAutofit/>
          </a:bodyPr>
          <a:lstStyle/>
          <a:p>
            <a:pPr algn="l" indent="0" marL="0">
              <a:lnSpc>
                <a:spcPct val="142000"/>
              </a:lnSpc>
              <a:buNone/>
            </a:pPr>
            <a:r>
              <a:rPr lang="en-US" sz="3360" spc="-48" kern="0" dirty="0">
                <a:solidFill>
                  <a:srgbClr val="8A8375"/>
                </a:solidFill>
                <a:latin typeface="Arial" pitchFamily="34" charset="0"/>
                <a:ea typeface="Arial" pitchFamily="34" charset="-122"/>
                <a:cs typeface="Arial" pitchFamily="34" charset="-120"/>
              </a:rPr>
              <a:t>|</a:t>
            </a:r>
            <a:endParaRPr lang="en-US" sz="3360" dirty="0"/>
          </a:p>
        </p:txBody>
      </p:sp>
      <p:sp>
        <p:nvSpPr>
          <p:cNvPr id="10" name="Shape 8"/>
          <p:cNvSpPr/>
          <p:nvPr/>
        </p:nvSpPr>
        <p:spPr>
          <a:xfrm>
            <a:off x="2275761" y="7692986"/>
            <a:ext cx="1039058" cy="800100"/>
          </a:xfrm>
          <a:prstGeom prst="roundRect">
            <a:avLst>
              <a:gd name="adj" fmla="val 4762"/>
            </a:avLst>
          </a:prstGeom>
          <a:solidFill>
            <a:srgbClr val="E3EAF5"/>
          </a:solidFill>
          <a:ln w="7620">
            <a:solidFill>
              <a:srgbClr val="2457A8">
                <a:alpha val="30000"/>
              </a:srgbClr>
            </a:solidFill>
            <a:prstDash val="solid"/>
          </a:ln>
        </p:spPr>
      </p:sp>
      <p:sp>
        <p:nvSpPr>
          <p:cNvPr id="11" name="Text 9"/>
          <p:cNvSpPr/>
          <p:nvPr/>
        </p:nvSpPr>
        <p:spPr>
          <a:xfrm>
            <a:off x="2397681" y="7757756"/>
            <a:ext cx="871418" cy="708660"/>
          </a:xfrm>
          <a:prstGeom prst="rect">
            <a:avLst/>
          </a:prstGeom>
          <a:noFill/>
          <a:ln/>
        </p:spPr>
        <p:txBody>
          <a:bodyPr wrap="square" lIns="25400" tIns="25400" rIns="25400" bIns="25400" rtlCol="0" anchor="t">
            <a:normAutofit/>
          </a:bodyPr>
          <a:lstStyle/>
          <a:p>
            <a:pPr algn="l" indent="0" marL="0">
              <a:lnSpc>
                <a:spcPct val="110000"/>
              </a:lnSpc>
              <a:buNone/>
            </a:pPr>
            <a:r>
              <a:rPr lang="en-US" sz="4800" spc="-48" kern="0" dirty="0">
                <a:solidFill>
                  <a:srgbClr val="173876"/>
                </a:solidFill>
                <a:latin typeface="Arial" pitchFamily="34" charset="0"/>
                <a:ea typeface="Arial" pitchFamily="34" charset="-122"/>
                <a:cs typeface="Arial" pitchFamily="34" charset="-120"/>
              </a:rPr>
              <a:t>ole</a:t>
            </a:r>
            <a:endParaRPr lang="en-US" sz="4800" dirty="0"/>
          </a:p>
        </p:txBody>
      </p:sp>
      <p:sp>
        <p:nvSpPr>
          <p:cNvPr id="12" name="Text 10"/>
          <p:cNvSpPr/>
          <p:nvPr/>
        </p:nvSpPr>
        <p:spPr>
          <a:xfrm>
            <a:off x="3391019" y="7849195"/>
            <a:ext cx="180975" cy="644009"/>
          </a:xfrm>
          <a:prstGeom prst="rect">
            <a:avLst/>
          </a:prstGeom>
          <a:noFill/>
          <a:ln/>
        </p:spPr>
        <p:txBody>
          <a:bodyPr wrap="square" lIns="25400" tIns="25400" rIns="25400" bIns="25400" rtlCol="0" anchor="t">
            <a:normAutofit/>
          </a:bodyPr>
          <a:lstStyle/>
          <a:p>
            <a:pPr algn="l" indent="0" marL="0">
              <a:lnSpc>
                <a:spcPct val="142000"/>
              </a:lnSpc>
              <a:buNone/>
            </a:pPr>
            <a:r>
              <a:rPr lang="en-US" sz="3360" spc="-48" kern="0" dirty="0">
                <a:solidFill>
                  <a:srgbClr val="8A8375"/>
                </a:solidFill>
                <a:latin typeface="Arial" pitchFamily="34" charset="0"/>
                <a:ea typeface="Arial" pitchFamily="34" charset="-122"/>
                <a:cs typeface="Arial" pitchFamily="34" charset="-120"/>
              </a:rPr>
              <a:t>|</a:t>
            </a:r>
            <a:endParaRPr lang="en-US" sz="3360" dirty="0"/>
          </a:p>
        </p:txBody>
      </p:sp>
      <p:sp>
        <p:nvSpPr>
          <p:cNvPr id="13" name="Shape 11"/>
          <p:cNvSpPr/>
          <p:nvPr/>
        </p:nvSpPr>
        <p:spPr>
          <a:xfrm>
            <a:off x="3571994" y="7692986"/>
            <a:ext cx="841296" cy="800100"/>
          </a:xfrm>
          <a:prstGeom prst="roundRect">
            <a:avLst>
              <a:gd name="adj" fmla="val 4762"/>
            </a:avLst>
          </a:prstGeom>
          <a:solidFill>
            <a:srgbClr val="E3EAF5"/>
          </a:solidFill>
          <a:ln w="7620">
            <a:solidFill>
              <a:srgbClr val="2457A8">
                <a:alpha val="30000"/>
              </a:srgbClr>
            </a:solidFill>
            <a:prstDash val="solid"/>
          </a:ln>
        </p:spPr>
      </p:sp>
      <p:sp>
        <p:nvSpPr>
          <p:cNvPr id="14" name="Text 12"/>
          <p:cNvSpPr/>
          <p:nvPr/>
        </p:nvSpPr>
        <p:spPr>
          <a:xfrm>
            <a:off x="3693914" y="7757756"/>
            <a:ext cx="673656" cy="708660"/>
          </a:xfrm>
          <a:prstGeom prst="rect">
            <a:avLst/>
          </a:prstGeom>
          <a:noFill/>
          <a:ln/>
        </p:spPr>
        <p:txBody>
          <a:bodyPr wrap="square" lIns="25400" tIns="25400" rIns="25400" bIns="25400" rtlCol="0" anchor="t">
            <a:normAutofit/>
          </a:bodyPr>
          <a:lstStyle/>
          <a:p>
            <a:pPr algn="l" indent="0" marL="0">
              <a:lnSpc>
                <a:spcPct val="110000"/>
              </a:lnSpc>
              <a:buNone/>
            </a:pPr>
            <a:r>
              <a:rPr lang="en-US" sz="4800" spc="-48" kern="0" dirty="0">
                <a:solidFill>
                  <a:srgbClr val="173876"/>
                </a:solidFill>
                <a:latin typeface="Arial" pitchFamily="34" charset="0"/>
                <a:ea typeface="Arial" pitchFamily="34" charset="-122"/>
                <a:cs typeface="Arial" pitchFamily="34" charset="-120"/>
              </a:rPr>
              <a:t>cy</a:t>
            </a:r>
            <a:endParaRPr lang="en-US" sz="4800" dirty="0"/>
          </a:p>
        </p:txBody>
      </p:sp>
      <p:sp>
        <p:nvSpPr>
          <p:cNvPr id="15" name="Text 13"/>
          <p:cNvSpPr/>
          <p:nvPr/>
        </p:nvSpPr>
        <p:spPr>
          <a:xfrm>
            <a:off x="4489490" y="7849195"/>
            <a:ext cx="180975" cy="644009"/>
          </a:xfrm>
          <a:prstGeom prst="rect">
            <a:avLst/>
          </a:prstGeom>
          <a:noFill/>
          <a:ln/>
        </p:spPr>
        <p:txBody>
          <a:bodyPr wrap="square" lIns="25400" tIns="25400" rIns="25400" bIns="25400" rtlCol="0" anchor="t">
            <a:normAutofit/>
          </a:bodyPr>
          <a:lstStyle/>
          <a:p>
            <a:pPr algn="l" indent="0" marL="0">
              <a:lnSpc>
                <a:spcPct val="142000"/>
              </a:lnSpc>
              <a:buNone/>
            </a:pPr>
            <a:r>
              <a:rPr lang="en-US" sz="3360" spc="-48" kern="0" dirty="0">
                <a:solidFill>
                  <a:srgbClr val="8A8375"/>
                </a:solidFill>
                <a:latin typeface="Arial" pitchFamily="34" charset="0"/>
                <a:ea typeface="Arial" pitchFamily="34" charset="-122"/>
                <a:cs typeface="Arial" pitchFamily="34" charset="-120"/>
              </a:rPr>
              <a:t>|</a:t>
            </a:r>
            <a:endParaRPr lang="en-US" sz="3360" dirty="0"/>
          </a:p>
        </p:txBody>
      </p:sp>
      <p:sp>
        <p:nvSpPr>
          <p:cNvPr id="16" name="Shape 14"/>
          <p:cNvSpPr/>
          <p:nvPr/>
        </p:nvSpPr>
        <p:spPr>
          <a:xfrm>
            <a:off x="4670465" y="7692986"/>
            <a:ext cx="705922" cy="800100"/>
          </a:xfrm>
          <a:prstGeom prst="roundRect">
            <a:avLst>
              <a:gd name="adj" fmla="val 5397"/>
            </a:avLst>
          </a:prstGeom>
          <a:solidFill>
            <a:srgbClr val="E3EAF5"/>
          </a:solidFill>
          <a:ln w="7620">
            <a:solidFill>
              <a:srgbClr val="2457A8">
                <a:alpha val="30000"/>
              </a:srgbClr>
            </a:solidFill>
            <a:prstDash val="solid"/>
          </a:ln>
        </p:spPr>
      </p:sp>
      <p:sp>
        <p:nvSpPr>
          <p:cNvPr id="17" name="Text 15"/>
          <p:cNvSpPr/>
          <p:nvPr/>
        </p:nvSpPr>
        <p:spPr>
          <a:xfrm>
            <a:off x="4792385" y="7757756"/>
            <a:ext cx="538282" cy="708660"/>
          </a:xfrm>
          <a:prstGeom prst="rect">
            <a:avLst/>
          </a:prstGeom>
          <a:noFill/>
          <a:ln/>
        </p:spPr>
        <p:txBody>
          <a:bodyPr wrap="square" lIns="25400" tIns="25400" rIns="25400" bIns="25400" rtlCol="0" anchor="t">
            <a:normAutofit/>
          </a:bodyPr>
          <a:lstStyle/>
          <a:p>
            <a:pPr algn="l" indent="0" marL="0">
              <a:lnSpc>
                <a:spcPct val="110000"/>
              </a:lnSpc>
              <a:buNone/>
            </a:pPr>
            <a:r>
              <a:rPr lang="en-US" sz="4800" spc="-48" kern="0" dirty="0">
                <a:solidFill>
                  <a:srgbClr val="173876"/>
                </a:solidFill>
                <a:latin typeface="Arial" pitchFamily="34" charset="0"/>
                <a:ea typeface="Arial" pitchFamily="34" charset="-122"/>
                <a:cs typeface="Arial" pitchFamily="34" charset="-120"/>
              </a:rPr>
              <a:t>st</a:t>
            </a:r>
            <a:endParaRPr lang="en-US" sz="4800" dirty="0"/>
          </a:p>
        </p:txBody>
      </p:sp>
      <p:sp>
        <p:nvSpPr>
          <p:cNvPr id="18" name="Text 16"/>
          <p:cNvSpPr/>
          <p:nvPr/>
        </p:nvSpPr>
        <p:spPr>
          <a:xfrm>
            <a:off x="5452586" y="7849195"/>
            <a:ext cx="180975" cy="644009"/>
          </a:xfrm>
          <a:prstGeom prst="rect">
            <a:avLst/>
          </a:prstGeom>
          <a:noFill/>
          <a:ln/>
        </p:spPr>
        <p:txBody>
          <a:bodyPr wrap="square" lIns="25400" tIns="25400" rIns="25400" bIns="25400" rtlCol="0" anchor="t">
            <a:normAutofit/>
          </a:bodyPr>
          <a:lstStyle/>
          <a:p>
            <a:pPr algn="l" indent="0" marL="0">
              <a:lnSpc>
                <a:spcPct val="142000"/>
              </a:lnSpc>
              <a:buNone/>
            </a:pPr>
            <a:r>
              <a:rPr lang="en-US" sz="3360" spc="-48" kern="0" dirty="0">
                <a:solidFill>
                  <a:srgbClr val="8A8375"/>
                </a:solidFill>
                <a:latin typeface="Arial" pitchFamily="34" charset="0"/>
                <a:ea typeface="Arial" pitchFamily="34" charset="-122"/>
                <a:cs typeface="Arial" pitchFamily="34" charset="-120"/>
              </a:rPr>
              <a:t>|</a:t>
            </a:r>
            <a:endParaRPr lang="en-US" sz="3360" dirty="0"/>
          </a:p>
        </p:txBody>
      </p:sp>
      <p:sp>
        <p:nvSpPr>
          <p:cNvPr id="19" name="Shape 17"/>
          <p:cNvSpPr/>
          <p:nvPr/>
        </p:nvSpPr>
        <p:spPr>
          <a:xfrm>
            <a:off x="5633561" y="7692986"/>
            <a:ext cx="1038820" cy="800100"/>
          </a:xfrm>
          <a:prstGeom prst="roundRect">
            <a:avLst>
              <a:gd name="adj" fmla="val 4762"/>
            </a:avLst>
          </a:prstGeom>
          <a:solidFill>
            <a:srgbClr val="E3EAF5"/>
          </a:solidFill>
          <a:ln w="7620">
            <a:solidFill>
              <a:srgbClr val="2457A8">
                <a:alpha val="30000"/>
              </a:srgbClr>
            </a:solidFill>
            <a:prstDash val="solid"/>
          </a:ln>
        </p:spPr>
      </p:sp>
      <p:sp>
        <p:nvSpPr>
          <p:cNvPr id="20" name="Text 18"/>
          <p:cNvSpPr/>
          <p:nvPr/>
        </p:nvSpPr>
        <p:spPr>
          <a:xfrm>
            <a:off x="5755481" y="7757756"/>
            <a:ext cx="871180" cy="708660"/>
          </a:xfrm>
          <a:prstGeom prst="rect">
            <a:avLst/>
          </a:prstGeom>
          <a:noFill/>
          <a:ln/>
        </p:spPr>
        <p:txBody>
          <a:bodyPr wrap="square" lIns="25400" tIns="25400" rIns="25400" bIns="25400" rtlCol="0" anchor="t">
            <a:normAutofit/>
          </a:bodyPr>
          <a:lstStyle/>
          <a:p>
            <a:pPr algn="l" indent="0" marL="0">
              <a:lnSpc>
                <a:spcPct val="110000"/>
              </a:lnSpc>
              <a:buNone/>
            </a:pPr>
            <a:r>
              <a:rPr lang="en-US" sz="4800" spc="-48" kern="0" dirty="0">
                <a:solidFill>
                  <a:srgbClr val="173876"/>
                </a:solidFill>
                <a:latin typeface="Arial" pitchFamily="34" charset="0"/>
                <a:ea typeface="Arial" pitchFamily="34" charset="-122"/>
                <a:cs typeface="Arial" pitchFamily="34" charset="-120"/>
              </a:rPr>
              <a:t>ect</a:t>
            </a:r>
            <a:endParaRPr lang="en-US" sz="4800" dirty="0"/>
          </a:p>
        </p:txBody>
      </p:sp>
      <p:sp>
        <p:nvSpPr>
          <p:cNvPr id="21" name="Text 19"/>
          <p:cNvSpPr/>
          <p:nvPr/>
        </p:nvSpPr>
        <p:spPr>
          <a:xfrm>
            <a:off x="6748582" y="7849195"/>
            <a:ext cx="180975" cy="644009"/>
          </a:xfrm>
          <a:prstGeom prst="rect">
            <a:avLst/>
          </a:prstGeom>
          <a:noFill/>
          <a:ln/>
        </p:spPr>
        <p:txBody>
          <a:bodyPr wrap="square" lIns="25400" tIns="25400" rIns="25400" bIns="25400" rtlCol="0" anchor="t">
            <a:normAutofit/>
          </a:bodyPr>
          <a:lstStyle/>
          <a:p>
            <a:pPr algn="l" indent="0" marL="0">
              <a:lnSpc>
                <a:spcPct val="142000"/>
              </a:lnSpc>
              <a:buNone/>
            </a:pPr>
            <a:r>
              <a:rPr lang="en-US" sz="3360" spc="-48" kern="0" dirty="0">
                <a:solidFill>
                  <a:srgbClr val="8A8375"/>
                </a:solidFill>
                <a:latin typeface="Arial" pitchFamily="34" charset="0"/>
                <a:ea typeface="Arial" pitchFamily="34" charset="-122"/>
                <a:cs typeface="Arial" pitchFamily="34" charset="-120"/>
              </a:rPr>
              <a:t>|</a:t>
            </a:r>
            <a:endParaRPr lang="en-US" sz="3360" dirty="0"/>
          </a:p>
        </p:txBody>
      </p:sp>
      <p:sp>
        <p:nvSpPr>
          <p:cNvPr id="22" name="Shape 20"/>
          <p:cNvSpPr/>
          <p:nvPr/>
        </p:nvSpPr>
        <p:spPr>
          <a:xfrm>
            <a:off x="6929557" y="7692986"/>
            <a:ext cx="1377196" cy="800100"/>
          </a:xfrm>
          <a:prstGeom prst="roundRect">
            <a:avLst>
              <a:gd name="adj" fmla="val 4762"/>
            </a:avLst>
          </a:prstGeom>
          <a:solidFill>
            <a:srgbClr val="E3EAF5"/>
          </a:solidFill>
          <a:ln w="7620">
            <a:solidFill>
              <a:srgbClr val="2457A8">
                <a:alpha val="30000"/>
              </a:srgbClr>
            </a:solidFill>
            <a:prstDash val="solid"/>
          </a:ln>
        </p:spPr>
      </p:sp>
      <p:sp>
        <p:nvSpPr>
          <p:cNvPr id="23" name="Text 21"/>
          <p:cNvSpPr/>
          <p:nvPr/>
        </p:nvSpPr>
        <p:spPr>
          <a:xfrm>
            <a:off x="7051477" y="7757756"/>
            <a:ext cx="1209556" cy="708660"/>
          </a:xfrm>
          <a:prstGeom prst="rect">
            <a:avLst/>
          </a:prstGeom>
          <a:noFill/>
          <a:ln/>
        </p:spPr>
        <p:txBody>
          <a:bodyPr wrap="square" lIns="25400" tIns="25400" rIns="25400" bIns="25400" rtlCol="0" anchor="t">
            <a:normAutofit/>
          </a:bodyPr>
          <a:lstStyle/>
          <a:p>
            <a:pPr algn="l" indent="0" marL="0">
              <a:lnSpc>
                <a:spcPct val="110000"/>
              </a:lnSpc>
              <a:buNone/>
            </a:pPr>
            <a:r>
              <a:rPr lang="en-US" sz="4800" spc="-48" kern="0" dirty="0">
                <a:solidFill>
                  <a:srgbClr val="173876"/>
                </a:solidFill>
                <a:latin typeface="Arial" pitchFamily="34" charset="0"/>
                <a:ea typeface="Arial" pitchFamily="34" charset="-122"/>
                <a:cs typeface="Arial" pitchFamily="34" charset="-120"/>
              </a:rPr>
              <a:t>omy</a:t>
            </a:r>
            <a:endParaRPr lang="en-US" sz="4800" dirty="0"/>
          </a:p>
        </p:txBody>
      </p:sp>
      <p:sp>
        <p:nvSpPr>
          <p:cNvPr id="24" name="Text 22"/>
          <p:cNvSpPr/>
          <p:nvPr/>
        </p:nvSpPr>
        <p:spPr>
          <a:xfrm>
            <a:off x="8687753" y="7863126"/>
            <a:ext cx="430292" cy="497919"/>
          </a:xfrm>
          <a:prstGeom prst="rect">
            <a:avLst/>
          </a:prstGeom>
          <a:noFill/>
          <a:ln/>
        </p:spPr>
        <p:txBody>
          <a:bodyPr wrap="square" lIns="25400" tIns="25400" rIns="25400" bIns="25400" rtlCol="0" anchor="t">
            <a:normAutofit/>
          </a:bodyPr>
          <a:lstStyle/>
          <a:p>
            <a:pPr algn="l" indent="0" marL="0">
              <a:lnSpc>
                <a:spcPct val="142000"/>
              </a:lnSpc>
              <a:buNone/>
            </a:pPr>
            <a:r>
              <a:rPr lang="en-US" sz="2550" i="1" dirty="0">
                <a:solidFill>
                  <a:srgbClr val="8A8375"/>
                </a:solidFill>
                <a:latin typeface="Arial" pitchFamily="34" charset="0"/>
                <a:ea typeface="Arial" pitchFamily="34" charset="-122"/>
                <a:cs typeface="Arial" pitchFamily="34" charset="-120"/>
              </a:rPr>
              <a:t>vs.</a:t>
            </a:r>
            <a:endParaRPr lang="en-US" sz="2550" dirty="0"/>
          </a:p>
        </p:txBody>
      </p:sp>
      <p:sp>
        <p:nvSpPr>
          <p:cNvPr id="25" name="Shape 23"/>
          <p:cNvSpPr/>
          <p:nvPr/>
        </p:nvSpPr>
        <p:spPr>
          <a:xfrm>
            <a:off x="9422845" y="7692986"/>
            <a:ext cx="4658439" cy="800100"/>
          </a:xfrm>
          <a:prstGeom prst="roundRect">
            <a:avLst>
              <a:gd name="adj" fmla="val 4762"/>
            </a:avLst>
          </a:prstGeom>
          <a:solidFill>
            <a:srgbClr val="F3DFD7"/>
          </a:solidFill>
          <a:ln w="7620">
            <a:solidFill>
              <a:srgbClr val="B6351D">
                <a:alpha val="30000"/>
              </a:srgbClr>
            </a:solidFill>
            <a:prstDash val="solid"/>
          </a:ln>
        </p:spPr>
      </p:sp>
      <p:sp>
        <p:nvSpPr>
          <p:cNvPr id="26" name="Text 24"/>
          <p:cNvSpPr/>
          <p:nvPr/>
        </p:nvSpPr>
        <p:spPr>
          <a:xfrm>
            <a:off x="9544765" y="7757756"/>
            <a:ext cx="4554353" cy="708660"/>
          </a:xfrm>
          <a:prstGeom prst="rect">
            <a:avLst/>
          </a:prstGeom>
          <a:noFill/>
          <a:ln/>
        </p:spPr>
        <p:txBody>
          <a:bodyPr wrap="square" lIns="25400" tIns="25400" rIns="25400" bIns="25400" rtlCol="0" anchor="t">
            <a:normAutofit/>
          </a:bodyPr>
          <a:lstStyle/>
          <a:p>
            <a:pPr algn="l" indent="0" marL="0">
              <a:lnSpc>
                <a:spcPct val="110000"/>
              </a:lnSpc>
              <a:buNone/>
            </a:pPr>
            <a:r>
              <a:rPr lang="en-US" sz="4800" spc="-48" kern="0" dirty="0">
                <a:solidFill>
                  <a:srgbClr val="7A2212"/>
                </a:solidFill>
                <a:latin typeface="Arial" pitchFamily="34" charset="0"/>
                <a:ea typeface="Arial" pitchFamily="34" charset="-122"/>
                <a:cs typeface="Arial" pitchFamily="34" charset="-120"/>
              </a:rPr>
              <a:t>cholecystectomy</a:t>
            </a:r>
            <a:endParaRPr lang="en-US" sz="4800" dirty="0"/>
          </a:p>
        </p:txBody>
      </p:sp>
      <p:sp>
        <p:nvSpPr>
          <p:cNvPr id="27" name="Text 25"/>
          <p:cNvSpPr/>
          <p:nvPr/>
        </p:nvSpPr>
        <p:spPr>
          <a:xfrm>
            <a:off x="1143000" y="9421416"/>
            <a:ext cx="3503787" cy="370284"/>
          </a:xfrm>
          <a:prstGeom prst="rect">
            <a:avLst/>
          </a:prstGeom>
          <a:noFill/>
          <a:ln/>
        </p:spPr>
        <p:txBody>
          <a:bodyPr wrap="square" lIns="25400" tIns="25400" rIns="25400" bIns="25400" rtlCol="0" anchor="t">
            <a:normAutofit/>
          </a:bodyPr>
          <a:lstStyle/>
          <a:p>
            <a:pPr algn="l" indent="0" marL="0">
              <a:lnSpc>
                <a:spcPct val="142000"/>
              </a:lnSpc>
              <a:buNone/>
            </a:pPr>
            <a:r>
              <a:rPr lang="en-US" sz="1800" b="1" spc="36" kern="0" dirty="0">
                <a:solidFill>
                  <a:srgbClr val="1A1A1A"/>
                </a:solidFill>
                <a:latin typeface="Arial" pitchFamily="34" charset="0"/>
                <a:ea typeface="Arial" pitchFamily="34" charset="-122"/>
                <a:cs typeface="Arial" pitchFamily="34" charset="-120"/>
              </a:rPr>
              <a:t>Samih Amer </a:t>
            </a:r>
            <a:pPr algn="l" indent="0" marL="0">
              <a:lnSpc>
                <a:spcPct val="142000"/>
              </a:lnSpc>
              <a:buNone/>
            </a:pPr>
            <a:r>
              <a:rPr lang="en-US" sz="1800" spc="36" kern="0" dirty="0">
                <a:solidFill>
                  <a:srgbClr val="8A8375"/>
                </a:solidFill>
                <a:latin typeface="Arial" pitchFamily="34" charset="0"/>
                <a:ea typeface="Arial" pitchFamily="34" charset="-122"/>
                <a:cs typeface="Arial" pitchFamily="34" charset="-120"/>
              </a:rPr>
              <a:t>· Individual project</a:t>
            </a:r>
            <a:endParaRPr lang="en-US" sz="1800" dirty="0"/>
          </a:p>
        </p:txBody>
      </p:sp>
      <p:sp>
        <p:nvSpPr>
          <p:cNvPr id="28" name="Text 26"/>
          <p:cNvSpPr/>
          <p:nvPr/>
        </p:nvSpPr>
        <p:spPr>
          <a:xfrm>
            <a:off x="16069866" y="9429036"/>
            <a:ext cx="1151334"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36" kern="0" dirty="0">
                <a:solidFill>
                  <a:srgbClr val="8A8375"/>
                </a:solidFill>
                <a:latin typeface="Arial" pitchFamily="34" charset="0"/>
                <a:ea typeface="Arial" pitchFamily="34" charset="-122"/>
                <a:cs typeface="Arial" pitchFamily="34" charset="-120"/>
              </a:rPr>
              <a:t>April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1143000" y="533400"/>
            <a:ext cx="2682872"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 01 · MOTIVATION</a:t>
            </a:r>
            <a:endParaRPr lang="en-US" sz="1800" dirty="0"/>
          </a:p>
        </p:txBody>
      </p:sp>
      <p:sp>
        <p:nvSpPr>
          <p:cNvPr id="3" name="Text 1"/>
          <p:cNvSpPr/>
          <p:nvPr/>
        </p:nvSpPr>
        <p:spPr>
          <a:xfrm>
            <a:off x="16102013" y="533400"/>
            <a:ext cx="1119188"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02 </a:t>
            </a:r>
            <a:pPr algn="l" indent="0" marL="0">
              <a:lnSpc>
                <a:spcPct val="142000"/>
              </a:lnSpc>
              <a:buNone/>
            </a:pPr>
            <a:r>
              <a:rPr lang="en-US" sz="1800" spc="252" kern="0" dirty="0">
                <a:solidFill>
                  <a:srgbClr val="C9BFA8"/>
                </a:solidFill>
                <a:latin typeface="Arial" pitchFamily="34" charset="0"/>
                <a:ea typeface="Arial" pitchFamily="34" charset="-122"/>
                <a:cs typeface="Arial" pitchFamily="34" charset="-120"/>
              </a:rPr>
              <a:t>/ 14</a:t>
            </a:r>
            <a:endParaRPr lang="en-US" sz="1800" dirty="0"/>
          </a:p>
        </p:txBody>
      </p:sp>
      <p:sp>
        <p:nvSpPr>
          <p:cNvPr id="4" name="Shape 2"/>
          <p:cNvSpPr/>
          <p:nvPr/>
        </p:nvSpPr>
        <p:spPr>
          <a:xfrm>
            <a:off x="1143000" y="2286000"/>
            <a:ext cx="914400" cy="9525"/>
          </a:xfrm>
          <a:prstGeom prst="rect">
            <a:avLst/>
          </a:prstGeom>
          <a:solidFill>
            <a:srgbClr val="C9BFA8"/>
          </a:solidFill>
          <a:ln/>
        </p:spPr>
      </p:sp>
      <p:sp>
        <p:nvSpPr>
          <p:cNvPr id="5" name="Text 3"/>
          <p:cNvSpPr/>
          <p:nvPr/>
        </p:nvSpPr>
        <p:spPr>
          <a:xfrm>
            <a:off x="1143000" y="2674620"/>
            <a:ext cx="14716125" cy="696397"/>
          </a:xfrm>
          <a:prstGeom prst="rect">
            <a:avLst/>
          </a:prstGeom>
          <a:noFill/>
          <a:ln/>
        </p:spPr>
        <p:txBody>
          <a:bodyPr wrap="square" lIns="25400" tIns="25400" rIns="25400" bIns="25400" rtlCol="0" anchor="t">
            <a:normAutofit/>
          </a:bodyPr>
          <a:lstStyle/>
          <a:p>
            <a:pPr algn="l" indent="0" marL="0">
              <a:lnSpc>
                <a:spcPct val="108000"/>
              </a:lnSpc>
              <a:buNone/>
            </a:pPr>
            <a:r>
              <a:rPr lang="en-US" sz="4800" spc="-72" kern="0" dirty="0">
                <a:solidFill>
                  <a:srgbClr val="1A1A1A"/>
                </a:solidFill>
                <a:latin typeface="Arial" pitchFamily="34" charset="0"/>
                <a:ea typeface="Arial" pitchFamily="34" charset="-122"/>
                <a:cs typeface="Arial" pitchFamily="34" charset="-120"/>
              </a:rPr>
              <a:t>The tokenizer constrains what the model can learn.</a:t>
            </a:r>
            <a:endParaRPr lang="en-US" sz="4800" dirty="0"/>
          </a:p>
        </p:txBody>
      </p:sp>
      <p:sp>
        <p:nvSpPr>
          <p:cNvPr id="6" name="Text 4"/>
          <p:cNvSpPr/>
          <p:nvPr/>
        </p:nvSpPr>
        <p:spPr>
          <a:xfrm>
            <a:off x="1143000" y="3790117"/>
            <a:ext cx="14716125" cy="501015"/>
          </a:xfrm>
          <a:prstGeom prst="rect">
            <a:avLst/>
          </a:prstGeom>
          <a:noFill/>
          <a:ln/>
        </p:spPr>
        <p:txBody>
          <a:bodyPr wrap="square" lIns="25400" tIns="25400" rIns="25400" bIns="25400" rtlCol="0" anchor="t">
            <a:normAutofit/>
          </a:bodyPr>
          <a:lstStyle/>
          <a:p>
            <a:pPr algn="l" indent="0" marL="0">
              <a:lnSpc>
                <a:spcPct val="135000"/>
              </a:lnSpc>
              <a:buNone/>
            </a:pPr>
            <a:r>
              <a:rPr lang="en-US" sz="2700" dirty="0">
                <a:solidFill>
                  <a:srgbClr val="3E3A33"/>
                </a:solidFill>
                <a:latin typeface="Arial" pitchFamily="34" charset="0"/>
                <a:ea typeface="Arial" pitchFamily="34" charset="-122"/>
                <a:cs typeface="Arial" pitchFamily="34" charset="-120"/>
              </a:rPr>
              <a:t>A unit the tokenizer doesn't respect is a unit the model has to reconstruct from pieces.</a:t>
            </a:r>
            <a:endParaRPr lang="en-US" sz="2700" dirty="0"/>
          </a:p>
        </p:txBody>
      </p:sp>
      <p:sp>
        <p:nvSpPr>
          <p:cNvPr id="7" name="Text 5"/>
          <p:cNvSpPr/>
          <p:nvPr/>
        </p:nvSpPr>
        <p:spPr>
          <a:xfrm>
            <a:off x="1143000" y="5281732"/>
            <a:ext cx="7887843"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spc="288" kern="0" dirty="0">
                <a:solidFill>
                  <a:srgbClr val="8A8375"/>
                </a:solidFill>
                <a:latin typeface="Arial" pitchFamily="34" charset="0"/>
                <a:ea typeface="Arial" pitchFamily="34" charset="-122"/>
                <a:cs typeface="Arial" pitchFamily="34" charset="-120"/>
              </a:rPr>
              <a:t>GENERAL BPE · WIKITEXT</a:t>
            </a:r>
            <a:endParaRPr lang="en-US" sz="1800" dirty="0"/>
          </a:p>
        </p:txBody>
      </p:sp>
      <p:sp>
        <p:nvSpPr>
          <p:cNvPr id="8" name="Shape 6"/>
          <p:cNvSpPr/>
          <p:nvPr/>
        </p:nvSpPr>
        <p:spPr>
          <a:xfrm>
            <a:off x="1143000" y="5907286"/>
            <a:ext cx="767001" cy="674370"/>
          </a:xfrm>
          <a:prstGeom prst="roundRect">
            <a:avLst>
              <a:gd name="adj" fmla="val 5650"/>
            </a:avLst>
          </a:prstGeom>
          <a:solidFill>
            <a:srgbClr val="E3EAF5"/>
          </a:solidFill>
          <a:ln w="7620">
            <a:solidFill>
              <a:srgbClr val="2457A8">
                <a:alpha val="30000"/>
              </a:srgbClr>
            </a:solidFill>
            <a:prstDash val="solid"/>
          </a:ln>
        </p:spPr>
      </p:sp>
      <p:sp>
        <p:nvSpPr>
          <p:cNvPr id="9" name="Text 7"/>
          <p:cNvSpPr/>
          <p:nvPr/>
        </p:nvSpPr>
        <p:spPr>
          <a:xfrm>
            <a:off x="1264920" y="5972056"/>
            <a:ext cx="599361" cy="582930"/>
          </a:xfrm>
          <a:prstGeom prst="rect">
            <a:avLst/>
          </a:prstGeom>
          <a:noFill/>
          <a:ln/>
        </p:spPr>
        <p:txBody>
          <a:bodyPr wrap="square" lIns="25400" tIns="25400" rIns="25400" bIns="25400" rtlCol="0" anchor="t">
            <a:normAutofit/>
          </a:bodyPr>
          <a:lstStyle/>
          <a:p>
            <a:pPr algn="l" indent="0" marL="0">
              <a:lnSpc>
                <a:spcPct val="110000"/>
              </a:lnSpc>
              <a:buNone/>
            </a:pPr>
            <a:r>
              <a:rPr lang="en-US" sz="3900" dirty="0">
                <a:solidFill>
                  <a:srgbClr val="173876"/>
                </a:solidFill>
                <a:latin typeface="Arial" pitchFamily="34" charset="0"/>
                <a:ea typeface="Arial" pitchFamily="34" charset="-122"/>
                <a:cs typeface="Arial" pitchFamily="34" charset="-120"/>
              </a:rPr>
              <a:t>ch</a:t>
            </a:r>
            <a:endParaRPr lang="en-US" sz="3900" dirty="0"/>
          </a:p>
        </p:txBody>
      </p:sp>
      <p:sp>
        <p:nvSpPr>
          <p:cNvPr id="10" name="Text 8"/>
          <p:cNvSpPr/>
          <p:nvPr/>
        </p:nvSpPr>
        <p:spPr>
          <a:xfrm>
            <a:off x="1948101" y="5964436"/>
            <a:ext cx="204907" cy="594360"/>
          </a:xfrm>
          <a:prstGeom prst="rect">
            <a:avLst/>
          </a:prstGeom>
          <a:noFill/>
          <a:ln/>
        </p:spPr>
        <p:txBody>
          <a:bodyPr wrap="square" lIns="25400" tIns="25400" rIns="25400" bIns="25400" rtlCol="0" anchor="t">
            <a:normAutofit/>
          </a:bodyPr>
          <a:lstStyle/>
          <a:p>
            <a:pPr algn="l" indent="0" marL="0">
              <a:lnSpc>
                <a:spcPct val="150000"/>
              </a:lnSpc>
              <a:buNone/>
            </a:pPr>
            <a:r>
              <a:rPr lang="en-US" sz="3900" dirty="0">
                <a:solidFill>
                  <a:srgbClr val="8A8375"/>
                </a:solidFill>
                <a:latin typeface="Arial" pitchFamily="34" charset="0"/>
                <a:ea typeface="Arial" pitchFamily="34" charset="-122"/>
                <a:cs typeface="Arial" pitchFamily="34" charset="-120"/>
              </a:rPr>
              <a:t>|</a:t>
            </a:r>
            <a:endParaRPr lang="en-US" sz="3900" dirty="0"/>
          </a:p>
        </p:txBody>
      </p:sp>
      <p:sp>
        <p:nvSpPr>
          <p:cNvPr id="11" name="Shape 9"/>
          <p:cNvSpPr/>
          <p:nvPr/>
        </p:nvSpPr>
        <p:spPr>
          <a:xfrm>
            <a:off x="2114907" y="5907286"/>
            <a:ext cx="904875" cy="674370"/>
          </a:xfrm>
          <a:prstGeom prst="roundRect">
            <a:avLst>
              <a:gd name="adj" fmla="val 5650"/>
            </a:avLst>
          </a:prstGeom>
          <a:solidFill>
            <a:srgbClr val="E3EAF5"/>
          </a:solidFill>
          <a:ln w="7620">
            <a:solidFill>
              <a:srgbClr val="2457A8">
                <a:alpha val="30000"/>
              </a:srgbClr>
            </a:solidFill>
            <a:prstDash val="solid"/>
          </a:ln>
        </p:spPr>
      </p:sp>
      <p:sp>
        <p:nvSpPr>
          <p:cNvPr id="12" name="Text 10"/>
          <p:cNvSpPr/>
          <p:nvPr/>
        </p:nvSpPr>
        <p:spPr>
          <a:xfrm>
            <a:off x="2236827" y="5972056"/>
            <a:ext cx="737235" cy="582930"/>
          </a:xfrm>
          <a:prstGeom prst="rect">
            <a:avLst/>
          </a:prstGeom>
          <a:noFill/>
          <a:ln/>
        </p:spPr>
        <p:txBody>
          <a:bodyPr wrap="square" lIns="25400" tIns="25400" rIns="25400" bIns="25400" rtlCol="0" anchor="t">
            <a:normAutofit/>
          </a:bodyPr>
          <a:lstStyle/>
          <a:p>
            <a:pPr algn="l" indent="0" marL="0">
              <a:lnSpc>
                <a:spcPct val="110000"/>
              </a:lnSpc>
              <a:buNone/>
            </a:pPr>
            <a:r>
              <a:rPr lang="en-US" sz="3900" dirty="0">
                <a:solidFill>
                  <a:srgbClr val="173876"/>
                </a:solidFill>
                <a:latin typeface="Arial" pitchFamily="34" charset="0"/>
                <a:ea typeface="Arial" pitchFamily="34" charset="-122"/>
                <a:cs typeface="Arial" pitchFamily="34" charset="-120"/>
              </a:rPr>
              <a:t>ole</a:t>
            </a:r>
            <a:endParaRPr lang="en-US" sz="3900" dirty="0"/>
          </a:p>
        </p:txBody>
      </p:sp>
      <p:sp>
        <p:nvSpPr>
          <p:cNvPr id="13" name="Text 11"/>
          <p:cNvSpPr/>
          <p:nvPr/>
        </p:nvSpPr>
        <p:spPr>
          <a:xfrm>
            <a:off x="3057882" y="5964436"/>
            <a:ext cx="204907" cy="594360"/>
          </a:xfrm>
          <a:prstGeom prst="rect">
            <a:avLst/>
          </a:prstGeom>
          <a:noFill/>
          <a:ln/>
        </p:spPr>
        <p:txBody>
          <a:bodyPr wrap="square" lIns="25400" tIns="25400" rIns="25400" bIns="25400" rtlCol="0" anchor="t">
            <a:normAutofit/>
          </a:bodyPr>
          <a:lstStyle/>
          <a:p>
            <a:pPr algn="l" indent="0" marL="0">
              <a:lnSpc>
                <a:spcPct val="150000"/>
              </a:lnSpc>
              <a:buNone/>
            </a:pPr>
            <a:r>
              <a:rPr lang="en-US" sz="3900" dirty="0">
                <a:solidFill>
                  <a:srgbClr val="8A8375"/>
                </a:solidFill>
                <a:latin typeface="Arial" pitchFamily="34" charset="0"/>
                <a:ea typeface="Arial" pitchFamily="34" charset="-122"/>
                <a:cs typeface="Arial" pitchFamily="34" charset="-120"/>
              </a:rPr>
              <a:t>|</a:t>
            </a:r>
            <a:endParaRPr lang="en-US" sz="3900" dirty="0"/>
          </a:p>
        </p:txBody>
      </p:sp>
      <p:sp>
        <p:nvSpPr>
          <p:cNvPr id="14" name="Shape 12"/>
          <p:cNvSpPr/>
          <p:nvPr/>
        </p:nvSpPr>
        <p:spPr>
          <a:xfrm>
            <a:off x="3224689" y="5907286"/>
            <a:ext cx="739140" cy="674370"/>
          </a:xfrm>
          <a:prstGeom prst="roundRect">
            <a:avLst>
              <a:gd name="adj" fmla="val 5650"/>
            </a:avLst>
          </a:prstGeom>
          <a:solidFill>
            <a:srgbClr val="E3EAF5"/>
          </a:solidFill>
          <a:ln w="7620">
            <a:solidFill>
              <a:srgbClr val="2457A8">
                <a:alpha val="30000"/>
              </a:srgbClr>
            </a:solidFill>
            <a:prstDash val="solid"/>
          </a:ln>
        </p:spPr>
      </p:sp>
      <p:sp>
        <p:nvSpPr>
          <p:cNvPr id="15" name="Text 13"/>
          <p:cNvSpPr/>
          <p:nvPr/>
        </p:nvSpPr>
        <p:spPr>
          <a:xfrm>
            <a:off x="3346609" y="5972056"/>
            <a:ext cx="571500" cy="582930"/>
          </a:xfrm>
          <a:prstGeom prst="rect">
            <a:avLst/>
          </a:prstGeom>
          <a:noFill/>
          <a:ln/>
        </p:spPr>
        <p:txBody>
          <a:bodyPr wrap="square" lIns="25400" tIns="25400" rIns="25400" bIns="25400" rtlCol="0" anchor="t">
            <a:normAutofit/>
          </a:bodyPr>
          <a:lstStyle/>
          <a:p>
            <a:pPr algn="l" indent="0" marL="0">
              <a:lnSpc>
                <a:spcPct val="110000"/>
              </a:lnSpc>
              <a:buNone/>
            </a:pPr>
            <a:r>
              <a:rPr lang="en-US" sz="3900" dirty="0">
                <a:solidFill>
                  <a:srgbClr val="173876"/>
                </a:solidFill>
                <a:latin typeface="Arial" pitchFamily="34" charset="0"/>
                <a:ea typeface="Arial" pitchFamily="34" charset="-122"/>
                <a:cs typeface="Arial" pitchFamily="34" charset="-120"/>
              </a:rPr>
              <a:t>cy</a:t>
            </a:r>
            <a:endParaRPr lang="en-US" sz="3900" dirty="0"/>
          </a:p>
        </p:txBody>
      </p:sp>
      <p:sp>
        <p:nvSpPr>
          <p:cNvPr id="16" name="Text 14"/>
          <p:cNvSpPr/>
          <p:nvPr/>
        </p:nvSpPr>
        <p:spPr>
          <a:xfrm>
            <a:off x="4001929" y="5964436"/>
            <a:ext cx="204907" cy="594360"/>
          </a:xfrm>
          <a:prstGeom prst="rect">
            <a:avLst/>
          </a:prstGeom>
          <a:noFill/>
          <a:ln/>
        </p:spPr>
        <p:txBody>
          <a:bodyPr wrap="square" lIns="25400" tIns="25400" rIns="25400" bIns="25400" rtlCol="0" anchor="t">
            <a:normAutofit/>
          </a:bodyPr>
          <a:lstStyle/>
          <a:p>
            <a:pPr algn="l" indent="0" marL="0">
              <a:lnSpc>
                <a:spcPct val="150000"/>
              </a:lnSpc>
              <a:buNone/>
            </a:pPr>
            <a:r>
              <a:rPr lang="en-US" sz="3900" dirty="0">
                <a:solidFill>
                  <a:srgbClr val="8A8375"/>
                </a:solidFill>
                <a:latin typeface="Arial" pitchFamily="34" charset="0"/>
                <a:ea typeface="Arial" pitchFamily="34" charset="-122"/>
                <a:cs typeface="Arial" pitchFamily="34" charset="-120"/>
              </a:rPr>
              <a:t>|</a:t>
            </a:r>
            <a:endParaRPr lang="en-US" sz="3900" dirty="0"/>
          </a:p>
        </p:txBody>
      </p:sp>
      <p:sp>
        <p:nvSpPr>
          <p:cNvPr id="17" name="Shape 15"/>
          <p:cNvSpPr/>
          <p:nvPr/>
        </p:nvSpPr>
        <p:spPr>
          <a:xfrm>
            <a:off x="4168735" y="5907286"/>
            <a:ext cx="629126" cy="674370"/>
          </a:xfrm>
          <a:prstGeom prst="roundRect">
            <a:avLst>
              <a:gd name="adj" fmla="val 6056"/>
            </a:avLst>
          </a:prstGeom>
          <a:solidFill>
            <a:srgbClr val="E3EAF5"/>
          </a:solidFill>
          <a:ln w="7620">
            <a:solidFill>
              <a:srgbClr val="2457A8">
                <a:alpha val="30000"/>
              </a:srgbClr>
            </a:solidFill>
            <a:prstDash val="solid"/>
          </a:ln>
        </p:spPr>
      </p:sp>
      <p:sp>
        <p:nvSpPr>
          <p:cNvPr id="18" name="Text 16"/>
          <p:cNvSpPr/>
          <p:nvPr/>
        </p:nvSpPr>
        <p:spPr>
          <a:xfrm>
            <a:off x="4290655" y="5972056"/>
            <a:ext cx="461486" cy="582930"/>
          </a:xfrm>
          <a:prstGeom prst="rect">
            <a:avLst/>
          </a:prstGeom>
          <a:noFill/>
          <a:ln/>
        </p:spPr>
        <p:txBody>
          <a:bodyPr wrap="square" lIns="25400" tIns="25400" rIns="25400" bIns="25400" rtlCol="0" anchor="t">
            <a:normAutofit/>
          </a:bodyPr>
          <a:lstStyle/>
          <a:p>
            <a:pPr algn="l" indent="0" marL="0">
              <a:lnSpc>
                <a:spcPct val="110000"/>
              </a:lnSpc>
              <a:buNone/>
            </a:pPr>
            <a:r>
              <a:rPr lang="en-US" sz="3900" dirty="0">
                <a:solidFill>
                  <a:srgbClr val="173876"/>
                </a:solidFill>
                <a:latin typeface="Arial" pitchFamily="34" charset="0"/>
                <a:ea typeface="Arial" pitchFamily="34" charset="-122"/>
                <a:cs typeface="Arial" pitchFamily="34" charset="-120"/>
              </a:rPr>
              <a:t>st</a:t>
            </a:r>
            <a:endParaRPr lang="en-US" sz="3900" dirty="0"/>
          </a:p>
        </p:txBody>
      </p:sp>
      <p:sp>
        <p:nvSpPr>
          <p:cNvPr id="19" name="Text 17"/>
          <p:cNvSpPr/>
          <p:nvPr/>
        </p:nvSpPr>
        <p:spPr>
          <a:xfrm>
            <a:off x="4835962" y="5964436"/>
            <a:ext cx="204907" cy="594360"/>
          </a:xfrm>
          <a:prstGeom prst="rect">
            <a:avLst/>
          </a:prstGeom>
          <a:noFill/>
          <a:ln/>
        </p:spPr>
        <p:txBody>
          <a:bodyPr wrap="square" lIns="25400" tIns="25400" rIns="25400" bIns="25400" rtlCol="0" anchor="t">
            <a:normAutofit/>
          </a:bodyPr>
          <a:lstStyle/>
          <a:p>
            <a:pPr algn="l" indent="0" marL="0">
              <a:lnSpc>
                <a:spcPct val="150000"/>
              </a:lnSpc>
              <a:buNone/>
            </a:pPr>
            <a:r>
              <a:rPr lang="en-US" sz="3900" dirty="0">
                <a:solidFill>
                  <a:srgbClr val="8A8375"/>
                </a:solidFill>
                <a:latin typeface="Arial" pitchFamily="34" charset="0"/>
                <a:ea typeface="Arial" pitchFamily="34" charset="-122"/>
                <a:cs typeface="Arial" pitchFamily="34" charset="-120"/>
              </a:rPr>
              <a:t>|</a:t>
            </a:r>
            <a:endParaRPr lang="en-US" sz="3900" dirty="0"/>
          </a:p>
        </p:txBody>
      </p:sp>
      <p:sp>
        <p:nvSpPr>
          <p:cNvPr id="20" name="Shape 18"/>
          <p:cNvSpPr/>
          <p:nvPr/>
        </p:nvSpPr>
        <p:spPr>
          <a:xfrm>
            <a:off x="5002768" y="5907286"/>
            <a:ext cx="904637" cy="674370"/>
          </a:xfrm>
          <a:prstGeom prst="roundRect">
            <a:avLst>
              <a:gd name="adj" fmla="val 5650"/>
            </a:avLst>
          </a:prstGeom>
          <a:solidFill>
            <a:srgbClr val="E3EAF5"/>
          </a:solidFill>
          <a:ln w="7620">
            <a:solidFill>
              <a:srgbClr val="2457A8">
                <a:alpha val="30000"/>
              </a:srgbClr>
            </a:solidFill>
            <a:prstDash val="solid"/>
          </a:ln>
        </p:spPr>
      </p:sp>
      <p:sp>
        <p:nvSpPr>
          <p:cNvPr id="21" name="Text 19"/>
          <p:cNvSpPr/>
          <p:nvPr/>
        </p:nvSpPr>
        <p:spPr>
          <a:xfrm>
            <a:off x="5124688" y="5972056"/>
            <a:ext cx="736997" cy="582930"/>
          </a:xfrm>
          <a:prstGeom prst="rect">
            <a:avLst/>
          </a:prstGeom>
          <a:noFill/>
          <a:ln/>
        </p:spPr>
        <p:txBody>
          <a:bodyPr wrap="square" lIns="25400" tIns="25400" rIns="25400" bIns="25400" rtlCol="0" anchor="t">
            <a:normAutofit/>
          </a:bodyPr>
          <a:lstStyle/>
          <a:p>
            <a:pPr algn="l" indent="0" marL="0">
              <a:lnSpc>
                <a:spcPct val="110000"/>
              </a:lnSpc>
              <a:buNone/>
            </a:pPr>
            <a:r>
              <a:rPr lang="en-US" sz="3900" dirty="0">
                <a:solidFill>
                  <a:srgbClr val="173876"/>
                </a:solidFill>
                <a:latin typeface="Arial" pitchFamily="34" charset="0"/>
                <a:ea typeface="Arial" pitchFamily="34" charset="-122"/>
                <a:cs typeface="Arial" pitchFamily="34" charset="-120"/>
              </a:rPr>
              <a:t>ect</a:t>
            </a:r>
            <a:endParaRPr lang="en-US" sz="3900" dirty="0"/>
          </a:p>
        </p:txBody>
      </p:sp>
      <p:sp>
        <p:nvSpPr>
          <p:cNvPr id="22" name="Text 20"/>
          <p:cNvSpPr/>
          <p:nvPr/>
        </p:nvSpPr>
        <p:spPr>
          <a:xfrm>
            <a:off x="5945505" y="5964436"/>
            <a:ext cx="204907" cy="594360"/>
          </a:xfrm>
          <a:prstGeom prst="rect">
            <a:avLst/>
          </a:prstGeom>
          <a:noFill/>
          <a:ln/>
        </p:spPr>
        <p:txBody>
          <a:bodyPr wrap="square" lIns="25400" tIns="25400" rIns="25400" bIns="25400" rtlCol="0" anchor="t">
            <a:normAutofit/>
          </a:bodyPr>
          <a:lstStyle/>
          <a:p>
            <a:pPr algn="l" indent="0" marL="0">
              <a:lnSpc>
                <a:spcPct val="150000"/>
              </a:lnSpc>
              <a:buNone/>
            </a:pPr>
            <a:r>
              <a:rPr lang="en-US" sz="3900" dirty="0">
                <a:solidFill>
                  <a:srgbClr val="8A8375"/>
                </a:solidFill>
                <a:latin typeface="Arial" pitchFamily="34" charset="0"/>
                <a:ea typeface="Arial" pitchFamily="34" charset="-122"/>
                <a:cs typeface="Arial" pitchFamily="34" charset="-120"/>
              </a:rPr>
              <a:t>|</a:t>
            </a:r>
            <a:endParaRPr lang="en-US" sz="3900" dirty="0"/>
          </a:p>
        </p:txBody>
      </p:sp>
      <p:sp>
        <p:nvSpPr>
          <p:cNvPr id="23" name="Shape 21"/>
          <p:cNvSpPr/>
          <p:nvPr/>
        </p:nvSpPr>
        <p:spPr>
          <a:xfrm>
            <a:off x="6112312" y="5907286"/>
            <a:ext cx="1179552" cy="674370"/>
          </a:xfrm>
          <a:prstGeom prst="roundRect">
            <a:avLst>
              <a:gd name="adj" fmla="val 5650"/>
            </a:avLst>
          </a:prstGeom>
          <a:solidFill>
            <a:srgbClr val="E3EAF5"/>
          </a:solidFill>
          <a:ln w="7620">
            <a:solidFill>
              <a:srgbClr val="2457A8">
                <a:alpha val="30000"/>
              </a:srgbClr>
            </a:solidFill>
            <a:prstDash val="solid"/>
          </a:ln>
        </p:spPr>
      </p:sp>
      <p:sp>
        <p:nvSpPr>
          <p:cNvPr id="24" name="Text 22"/>
          <p:cNvSpPr/>
          <p:nvPr/>
        </p:nvSpPr>
        <p:spPr>
          <a:xfrm>
            <a:off x="6234232" y="5972056"/>
            <a:ext cx="1011912" cy="582930"/>
          </a:xfrm>
          <a:prstGeom prst="rect">
            <a:avLst/>
          </a:prstGeom>
          <a:noFill/>
          <a:ln/>
        </p:spPr>
        <p:txBody>
          <a:bodyPr wrap="square" lIns="25400" tIns="25400" rIns="25400" bIns="25400" rtlCol="0" anchor="t">
            <a:normAutofit/>
          </a:bodyPr>
          <a:lstStyle/>
          <a:p>
            <a:pPr algn="l" indent="0" marL="0">
              <a:lnSpc>
                <a:spcPct val="110000"/>
              </a:lnSpc>
              <a:buNone/>
            </a:pPr>
            <a:r>
              <a:rPr lang="en-US" sz="3900" dirty="0">
                <a:solidFill>
                  <a:srgbClr val="173876"/>
                </a:solidFill>
                <a:latin typeface="Arial" pitchFamily="34" charset="0"/>
                <a:ea typeface="Arial" pitchFamily="34" charset="-122"/>
                <a:cs typeface="Arial" pitchFamily="34" charset="-120"/>
              </a:rPr>
              <a:t>omy</a:t>
            </a:r>
            <a:endParaRPr lang="en-US" sz="3900" dirty="0"/>
          </a:p>
        </p:txBody>
      </p:sp>
      <p:sp>
        <p:nvSpPr>
          <p:cNvPr id="25" name="Text 23"/>
          <p:cNvSpPr/>
          <p:nvPr/>
        </p:nvSpPr>
        <p:spPr>
          <a:xfrm>
            <a:off x="1143000" y="6844546"/>
            <a:ext cx="7887843" cy="416719"/>
          </a:xfrm>
          <a:prstGeom prst="rect">
            <a:avLst/>
          </a:prstGeom>
          <a:noFill/>
          <a:ln/>
        </p:spPr>
        <p:txBody>
          <a:bodyPr wrap="square" lIns="25400" tIns="25400" rIns="25400" bIns="25400" rtlCol="0" anchor="t">
            <a:normAutofit/>
          </a:bodyPr>
          <a:lstStyle/>
          <a:p>
            <a:pPr algn="l" indent="0" marL="0">
              <a:lnSpc>
                <a:spcPct val="142000"/>
              </a:lnSpc>
              <a:buNone/>
            </a:pPr>
            <a:r>
              <a:rPr lang="en-US" sz="2100" i="1" dirty="0">
                <a:solidFill>
                  <a:srgbClr val="8A8375"/>
                </a:solidFill>
                <a:latin typeface="Arial" pitchFamily="34" charset="0"/>
                <a:ea typeface="Arial" pitchFamily="34" charset="-122"/>
                <a:cs typeface="Arial" pitchFamily="34" charset="-120"/>
              </a:rPr>
              <a:t>6 tokens</a:t>
            </a:r>
            <a:endParaRPr lang="en-US" sz="2100" dirty="0"/>
          </a:p>
        </p:txBody>
      </p:sp>
      <p:sp>
        <p:nvSpPr>
          <p:cNvPr id="26" name="Text 24"/>
          <p:cNvSpPr/>
          <p:nvPr/>
        </p:nvSpPr>
        <p:spPr>
          <a:xfrm>
            <a:off x="9486900" y="5281732"/>
            <a:ext cx="7887843"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spc="288" kern="0" dirty="0">
                <a:solidFill>
                  <a:srgbClr val="8A8375"/>
                </a:solidFill>
                <a:latin typeface="Arial" pitchFamily="34" charset="0"/>
                <a:ea typeface="Arial" pitchFamily="34" charset="-122"/>
                <a:cs typeface="Arial" pitchFamily="34" charset="-120"/>
              </a:rPr>
              <a:t>MEDICAL BPE · PUBMED</a:t>
            </a:r>
            <a:endParaRPr lang="en-US" sz="1800" dirty="0"/>
          </a:p>
        </p:txBody>
      </p:sp>
      <p:sp>
        <p:nvSpPr>
          <p:cNvPr id="27" name="Shape 25"/>
          <p:cNvSpPr/>
          <p:nvPr/>
        </p:nvSpPr>
        <p:spPr>
          <a:xfrm>
            <a:off x="9486900" y="5907286"/>
            <a:ext cx="3905012" cy="674370"/>
          </a:xfrm>
          <a:prstGeom prst="roundRect">
            <a:avLst>
              <a:gd name="adj" fmla="val 5650"/>
            </a:avLst>
          </a:prstGeom>
          <a:solidFill>
            <a:srgbClr val="F3DFD7"/>
          </a:solidFill>
          <a:ln w="7620">
            <a:solidFill>
              <a:srgbClr val="B6351D">
                <a:alpha val="30000"/>
              </a:srgbClr>
            </a:solidFill>
            <a:prstDash val="solid"/>
          </a:ln>
        </p:spPr>
      </p:sp>
      <p:sp>
        <p:nvSpPr>
          <p:cNvPr id="28" name="Text 26"/>
          <p:cNvSpPr/>
          <p:nvPr/>
        </p:nvSpPr>
        <p:spPr>
          <a:xfrm>
            <a:off x="9608820" y="5972056"/>
            <a:ext cx="3778322" cy="582930"/>
          </a:xfrm>
          <a:prstGeom prst="rect">
            <a:avLst/>
          </a:prstGeom>
          <a:noFill/>
          <a:ln/>
        </p:spPr>
        <p:txBody>
          <a:bodyPr wrap="square" lIns="25400" tIns="25400" rIns="25400" bIns="25400" rtlCol="0" anchor="t">
            <a:normAutofit/>
          </a:bodyPr>
          <a:lstStyle/>
          <a:p>
            <a:pPr algn="l" indent="0" marL="0">
              <a:lnSpc>
                <a:spcPct val="110000"/>
              </a:lnSpc>
              <a:buNone/>
            </a:pPr>
            <a:r>
              <a:rPr lang="en-US" sz="3900" dirty="0">
                <a:solidFill>
                  <a:srgbClr val="7A2212"/>
                </a:solidFill>
                <a:latin typeface="Arial" pitchFamily="34" charset="0"/>
                <a:ea typeface="Arial" pitchFamily="34" charset="-122"/>
                <a:cs typeface="Arial" pitchFamily="34" charset="-120"/>
              </a:rPr>
              <a:t>cholecystectomy</a:t>
            </a:r>
            <a:endParaRPr lang="en-US" sz="3900" dirty="0"/>
          </a:p>
        </p:txBody>
      </p:sp>
      <p:sp>
        <p:nvSpPr>
          <p:cNvPr id="29" name="Text 27"/>
          <p:cNvSpPr/>
          <p:nvPr/>
        </p:nvSpPr>
        <p:spPr>
          <a:xfrm>
            <a:off x="9486900" y="6844546"/>
            <a:ext cx="7887843" cy="416719"/>
          </a:xfrm>
          <a:prstGeom prst="rect">
            <a:avLst/>
          </a:prstGeom>
          <a:noFill/>
          <a:ln/>
        </p:spPr>
        <p:txBody>
          <a:bodyPr wrap="square" lIns="25400" tIns="25400" rIns="25400" bIns="25400" rtlCol="0" anchor="t">
            <a:normAutofit/>
          </a:bodyPr>
          <a:lstStyle/>
          <a:p>
            <a:pPr algn="l" indent="0" marL="0">
              <a:lnSpc>
                <a:spcPct val="142000"/>
              </a:lnSpc>
              <a:buNone/>
            </a:pPr>
            <a:r>
              <a:rPr lang="en-US" sz="2100" i="1" dirty="0">
                <a:solidFill>
                  <a:srgbClr val="8A8375"/>
                </a:solidFill>
                <a:latin typeface="Arial" pitchFamily="34" charset="0"/>
                <a:ea typeface="Arial" pitchFamily="34" charset="-122"/>
                <a:cs typeface="Arial" pitchFamily="34" charset="-120"/>
              </a:rPr>
              <a:t>1 token</a:t>
            </a:r>
            <a:endParaRPr lang="en-US" sz="2100" dirty="0"/>
          </a:p>
        </p:txBody>
      </p:sp>
      <p:sp>
        <p:nvSpPr>
          <p:cNvPr id="30" name="Text 28"/>
          <p:cNvSpPr/>
          <p:nvPr/>
        </p:nvSpPr>
        <p:spPr>
          <a:xfrm>
            <a:off x="16588860" y="9429036"/>
            <a:ext cx="632341"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144" kern="0" dirty="0">
                <a:solidFill>
                  <a:srgbClr val="8A8375"/>
                </a:solidFill>
                <a:latin typeface="Arial" pitchFamily="34" charset="0"/>
                <a:ea typeface="Arial" pitchFamily="34" charset="-122"/>
                <a:cs typeface="Arial" pitchFamily="34" charset="-120"/>
              </a:rPr>
              <a:t>S·02</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1143000" y="533400"/>
            <a:ext cx="2682872"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 01 · MOTIVATION</a:t>
            </a:r>
            <a:endParaRPr lang="en-US" sz="1800" dirty="0"/>
          </a:p>
        </p:txBody>
      </p:sp>
      <p:sp>
        <p:nvSpPr>
          <p:cNvPr id="3" name="Text 1"/>
          <p:cNvSpPr/>
          <p:nvPr/>
        </p:nvSpPr>
        <p:spPr>
          <a:xfrm>
            <a:off x="16102013" y="533400"/>
            <a:ext cx="1119188"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03 </a:t>
            </a:r>
            <a:pPr algn="l" indent="0" marL="0">
              <a:lnSpc>
                <a:spcPct val="142000"/>
              </a:lnSpc>
              <a:buNone/>
            </a:pPr>
            <a:r>
              <a:rPr lang="en-US" sz="1800" spc="252" kern="0" dirty="0">
                <a:solidFill>
                  <a:srgbClr val="C9BFA8"/>
                </a:solidFill>
                <a:latin typeface="Arial" pitchFamily="34" charset="0"/>
                <a:ea typeface="Arial" pitchFamily="34" charset="-122"/>
                <a:cs typeface="Arial" pitchFamily="34" charset="-120"/>
              </a:rPr>
              <a:t>/ 14</a:t>
            </a:r>
            <a:endParaRPr lang="en-US" sz="1800" dirty="0"/>
          </a:p>
        </p:txBody>
      </p:sp>
      <p:sp>
        <p:nvSpPr>
          <p:cNvPr id="4" name="Shape 2"/>
          <p:cNvSpPr/>
          <p:nvPr/>
        </p:nvSpPr>
        <p:spPr>
          <a:xfrm>
            <a:off x="1143000" y="2286000"/>
            <a:ext cx="914400" cy="9525"/>
          </a:xfrm>
          <a:prstGeom prst="rect">
            <a:avLst/>
          </a:prstGeom>
          <a:solidFill>
            <a:srgbClr val="C9BFA8"/>
          </a:solidFill>
          <a:ln/>
        </p:spPr>
      </p:sp>
      <p:sp>
        <p:nvSpPr>
          <p:cNvPr id="5" name="Text 3"/>
          <p:cNvSpPr/>
          <p:nvPr/>
        </p:nvSpPr>
        <p:spPr>
          <a:xfrm>
            <a:off x="1143000" y="2674620"/>
            <a:ext cx="14716125" cy="696397"/>
          </a:xfrm>
          <a:prstGeom prst="rect">
            <a:avLst/>
          </a:prstGeom>
          <a:noFill/>
          <a:ln/>
        </p:spPr>
        <p:txBody>
          <a:bodyPr wrap="square" lIns="25400" tIns="25400" rIns="25400" bIns="25400" rtlCol="0" anchor="t">
            <a:normAutofit/>
          </a:bodyPr>
          <a:lstStyle/>
          <a:p>
            <a:pPr algn="l" indent="0" marL="0">
              <a:lnSpc>
                <a:spcPct val="108000"/>
              </a:lnSpc>
              <a:buNone/>
            </a:pPr>
            <a:r>
              <a:rPr lang="en-US" sz="4800" spc="-72" kern="0" dirty="0">
                <a:solidFill>
                  <a:srgbClr val="1A1A1A"/>
                </a:solidFill>
                <a:latin typeface="Arial" pitchFamily="34" charset="0"/>
                <a:ea typeface="Arial" pitchFamily="34" charset="-122"/>
                <a:cs typeface="Arial" pitchFamily="34" charset="-120"/>
              </a:rPr>
              <a:t>Byte-Pair Encoding, formally.</a:t>
            </a:r>
            <a:endParaRPr lang="en-US" sz="4800" dirty="0"/>
          </a:p>
        </p:txBody>
      </p:sp>
      <p:sp>
        <p:nvSpPr>
          <p:cNvPr id="6" name="Text 4"/>
          <p:cNvSpPr/>
          <p:nvPr/>
        </p:nvSpPr>
        <p:spPr>
          <a:xfrm>
            <a:off x="1143000" y="3790117"/>
            <a:ext cx="14716125" cy="508635"/>
          </a:xfrm>
          <a:prstGeom prst="rect">
            <a:avLst/>
          </a:prstGeom>
          <a:noFill/>
          <a:ln/>
        </p:spPr>
        <p:txBody>
          <a:bodyPr wrap="square" lIns="25400" tIns="25400" rIns="25400" bIns="25400" rtlCol="0" anchor="t">
            <a:normAutofit/>
          </a:bodyPr>
          <a:lstStyle/>
          <a:p>
            <a:pPr algn="l" indent="0" marL="0">
              <a:lnSpc>
                <a:spcPct val="135000"/>
              </a:lnSpc>
              <a:buNone/>
            </a:pPr>
            <a:r>
              <a:rPr lang="en-US" sz="2700" dirty="0">
                <a:solidFill>
                  <a:srgbClr val="3E3A33"/>
                </a:solidFill>
                <a:latin typeface="Arial" pitchFamily="34" charset="0"/>
                <a:ea typeface="Arial" pitchFamily="34" charset="-122"/>
                <a:cs typeface="Arial" pitchFamily="34" charset="-120"/>
              </a:rPr>
              <a:t>Same algorithm, same vocabulary size—the </a:t>
            </a:r>
            <a:pPr algn="l" indent="0" marL="0">
              <a:lnSpc>
                <a:spcPct val="135000"/>
              </a:lnSpc>
              <a:buNone/>
            </a:pPr>
            <a:r>
              <a:rPr lang="en-US" sz="2700" i="1" dirty="0">
                <a:solidFill>
                  <a:srgbClr val="3E3A33"/>
                </a:solidFill>
                <a:latin typeface="Arial" pitchFamily="34" charset="0"/>
                <a:ea typeface="Arial" pitchFamily="34" charset="-122"/>
                <a:cs typeface="Arial" pitchFamily="34" charset="-120"/>
              </a:rPr>
              <a:t>training corpus </a:t>
            </a:r>
            <a:pPr algn="l" indent="0" marL="0">
              <a:lnSpc>
                <a:spcPct val="135000"/>
              </a:lnSpc>
              <a:buNone/>
            </a:pPr>
            <a:r>
              <a:rPr lang="en-US" sz="2700" dirty="0">
                <a:solidFill>
                  <a:srgbClr val="3E3A33"/>
                </a:solidFill>
                <a:latin typeface="Arial" pitchFamily="34" charset="0"/>
                <a:ea typeface="Arial" pitchFamily="34" charset="-122"/>
                <a:cs typeface="Arial" pitchFamily="34" charset="-120"/>
              </a:rPr>
              <a:t>decides the contents.</a:t>
            </a:r>
            <a:endParaRPr lang="en-US" sz="2700" dirty="0"/>
          </a:p>
        </p:txBody>
      </p:sp>
      <p:sp>
        <p:nvSpPr>
          <p:cNvPr id="7" name="Text 5"/>
          <p:cNvSpPr/>
          <p:nvPr/>
        </p:nvSpPr>
        <p:spPr>
          <a:xfrm>
            <a:off x="1143000" y="4908352"/>
            <a:ext cx="8241030"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spc="288" kern="0" dirty="0">
                <a:solidFill>
                  <a:srgbClr val="8A8375"/>
                </a:solidFill>
                <a:latin typeface="Arial" pitchFamily="34" charset="0"/>
                <a:ea typeface="Arial" pitchFamily="34" charset="-122"/>
                <a:cs typeface="Arial" pitchFamily="34" charset="-120"/>
              </a:rPr>
              <a:t>THE MERGE RULE</a:t>
            </a:r>
            <a:endParaRPr lang="en-US" sz="1800" dirty="0"/>
          </a:p>
        </p:txBody>
      </p:sp>
      <p:sp>
        <p:nvSpPr>
          <p:cNvPr id="8" name="Text 6"/>
          <p:cNvSpPr/>
          <p:nvPr/>
        </p:nvSpPr>
        <p:spPr>
          <a:xfrm>
            <a:off x="1143000" y="5499616"/>
            <a:ext cx="7063740" cy="1866900"/>
          </a:xfrm>
          <a:prstGeom prst="rect">
            <a:avLst/>
          </a:prstGeom>
          <a:noFill/>
          <a:ln/>
        </p:spPr>
        <p:txBody>
          <a:bodyPr wrap="square" lIns="25400" tIns="25400" rIns="25400" bIns="25400" rtlCol="0" anchor="t">
            <a:normAutofit/>
          </a:bodyPr>
          <a:lstStyle/>
          <a:p>
            <a:pPr algn="l" indent="0" marL="0">
              <a:lnSpc>
                <a:spcPct val="150000"/>
              </a:lnSpc>
              <a:buNone/>
            </a:pPr>
            <a:r>
              <a:rPr lang="en-US" sz="2400" dirty="0">
                <a:solidFill>
                  <a:srgbClr val="3E3A33"/>
                </a:solidFill>
                <a:latin typeface="Arial" pitchFamily="34" charset="0"/>
                <a:ea typeface="Arial" pitchFamily="34" charset="-122"/>
                <a:cs typeface="Arial" pitchFamily="34" charset="-120"/>
              </a:rPr>
              <a:t>At each step, find the most frequent adjacent pair of symbols in the corpus and merge them into a new symbol. Repeat until you have </a:t>
            </a:r>
            <a:pPr algn="l" indent="0" marL="0">
              <a:lnSpc>
                <a:spcPct val="150000"/>
              </a:lnSpc>
              <a:buNone/>
            </a:pPr>
            <a:r>
              <a:rPr lang="en-US" sz="2400" i="1" dirty="0">
                <a:solidFill>
                  <a:srgbClr val="3E3A33"/>
                </a:solidFill>
                <a:latin typeface="Arial" pitchFamily="34" charset="0"/>
                <a:ea typeface="Arial" pitchFamily="34" charset="-122"/>
                <a:cs typeface="Arial" pitchFamily="34" charset="-120"/>
              </a:rPr>
              <a:t>V </a:t>
            </a:r>
            <a:pPr algn="l" indent="0" marL="0">
              <a:lnSpc>
                <a:spcPct val="150000"/>
              </a:lnSpc>
              <a:buNone/>
            </a:pPr>
            <a:r>
              <a:rPr lang="en-US" sz="2400" dirty="0">
                <a:solidFill>
                  <a:srgbClr val="3E3A33"/>
                </a:solidFill>
                <a:latin typeface="Arial" pitchFamily="34" charset="0"/>
                <a:ea typeface="Arial" pitchFamily="34" charset="-122"/>
                <a:cs typeface="Arial" pitchFamily="34" charset="-120"/>
              </a:rPr>
              <a:t>= 10,000 symbols.</a:t>
            </a:r>
            <a:endParaRPr lang="en-US" sz="2400" dirty="0"/>
          </a:p>
        </p:txBody>
      </p:sp>
      <p:sp>
        <p:nvSpPr>
          <p:cNvPr id="9" name="Shape 7"/>
          <p:cNvSpPr/>
          <p:nvPr/>
        </p:nvSpPr>
        <p:spPr>
          <a:xfrm>
            <a:off x="1143000" y="9685139"/>
            <a:ext cx="8001000" cy="9525"/>
          </a:xfrm>
          <a:prstGeom prst="rect">
            <a:avLst/>
          </a:prstGeom>
          <a:solidFill>
            <a:srgbClr val="C9BFA8"/>
          </a:solidFill>
          <a:ln/>
        </p:spPr>
      </p:sp>
      <p:sp>
        <p:nvSpPr>
          <p:cNvPr id="10" name="Shape 8"/>
          <p:cNvSpPr/>
          <p:nvPr/>
        </p:nvSpPr>
        <p:spPr>
          <a:xfrm>
            <a:off x="1143000" y="7747516"/>
            <a:ext cx="8001000" cy="9525"/>
          </a:xfrm>
          <a:prstGeom prst="rect">
            <a:avLst/>
          </a:prstGeom>
          <a:solidFill>
            <a:srgbClr val="C9BFA8"/>
          </a:solidFill>
          <a:ln/>
        </p:spPr>
      </p:sp>
      <p:sp>
        <p:nvSpPr>
          <p:cNvPr id="11" name="Text 9"/>
          <p:cNvSpPr/>
          <p:nvPr/>
        </p:nvSpPr>
        <p:spPr>
          <a:xfrm>
            <a:off x="1143000" y="8021836"/>
            <a:ext cx="8241030" cy="617220"/>
          </a:xfrm>
          <a:prstGeom prst="rect">
            <a:avLst/>
          </a:prstGeom>
          <a:noFill/>
          <a:ln/>
        </p:spPr>
        <p:txBody>
          <a:bodyPr wrap="square" lIns="25400" tIns="25400" rIns="25400" bIns="25400" rtlCol="0" anchor="t">
            <a:normAutofit/>
          </a:bodyPr>
          <a:lstStyle/>
          <a:p>
            <a:pPr algn="l" indent="0" marL="0">
              <a:lnSpc>
                <a:spcPct val="140000"/>
              </a:lnSpc>
              <a:buNone/>
            </a:pPr>
            <a:r>
              <a:rPr lang="en-US" sz="3000" i="1" spc="30" kern="0" dirty="0">
                <a:solidFill>
                  <a:srgbClr val="1A1A1A"/>
                </a:solidFill>
                <a:latin typeface="Arial" pitchFamily="34" charset="0"/>
                <a:ea typeface="Arial" pitchFamily="34" charset="-122"/>
                <a:cs typeface="Arial" pitchFamily="34" charset="-120"/>
              </a:rPr>
              <a:t>(a, b) </a:t>
            </a:r>
            <a:pPr algn="l" indent="0" marL="0">
              <a:lnSpc>
                <a:spcPct val="140000"/>
              </a:lnSpc>
              <a:buNone/>
            </a:pPr>
            <a:r>
              <a:rPr lang="en-US" sz="3000" spc="30" kern="0" dirty="0">
                <a:solidFill>
                  <a:srgbClr val="1A1A1A"/>
                </a:solidFill>
                <a:latin typeface="Arial" pitchFamily="34" charset="0"/>
                <a:ea typeface="Arial" pitchFamily="34" charset="-122"/>
                <a:cs typeface="Arial" pitchFamily="34" charset="-120"/>
              </a:rPr>
              <a:t>⋆ = argmax</a:t>
            </a:r>
            <a:pPr algn="l" indent="0" marL="0">
              <a:lnSpc>
                <a:spcPct val="140000"/>
              </a:lnSpc>
              <a:buNone/>
            </a:pPr>
            <a:r>
              <a:rPr lang="en-US" sz="2100" baseline="-40000" spc="30" kern="0" dirty="0">
                <a:solidFill>
                  <a:srgbClr val="1A1A1A"/>
                </a:solidFill>
                <a:latin typeface="Arial" pitchFamily="34" charset="0"/>
                <a:ea typeface="Arial" pitchFamily="34" charset="-122"/>
                <a:cs typeface="Arial" pitchFamily="34" charset="-120"/>
              </a:rPr>
              <a:t>(</a:t>
            </a:r>
            <a:pPr algn="l" indent="0" marL="0">
              <a:lnSpc>
                <a:spcPct val="140000"/>
              </a:lnSpc>
              <a:buNone/>
            </a:pPr>
            <a:r>
              <a:rPr lang="en-US" sz="2100" i="1" baseline="-40000" spc="30" kern="0" dirty="0">
                <a:solidFill>
                  <a:srgbClr val="1A1A1A"/>
                </a:solidFill>
                <a:latin typeface="Arial" pitchFamily="34" charset="0"/>
                <a:ea typeface="Arial" pitchFamily="34" charset="-122"/>
                <a:cs typeface="Arial" pitchFamily="34" charset="-120"/>
              </a:rPr>
              <a:t>a,b</a:t>
            </a:r>
            <a:pPr algn="l" indent="0" marL="0">
              <a:lnSpc>
                <a:spcPct val="140000"/>
              </a:lnSpc>
              <a:buNone/>
            </a:pPr>
            <a:r>
              <a:rPr lang="en-US" sz="2100" baseline="-40000" spc="30" kern="0" dirty="0">
                <a:solidFill>
                  <a:srgbClr val="1A1A1A"/>
                </a:solidFill>
                <a:latin typeface="Arial" pitchFamily="34" charset="0"/>
                <a:ea typeface="Arial" pitchFamily="34" charset="-122"/>
                <a:cs typeface="Arial" pitchFamily="34" charset="-120"/>
              </a:rPr>
              <a:t>) ∈ Σ×Σ </a:t>
            </a:r>
            <a:pPr algn="l" indent="0" marL="0">
              <a:lnSpc>
                <a:spcPct val="140000"/>
              </a:lnSpc>
              <a:buNone/>
            </a:pPr>
            <a:r>
              <a:rPr lang="en-US" sz="3000" i="1" spc="30" kern="0" dirty="0">
                <a:solidFill>
                  <a:srgbClr val="1A1A1A"/>
                </a:solidFill>
                <a:latin typeface="Arial" pitchFamily="34" charset="0"/>
                <a:ea typeface="Arial" pitchFamily="34" charset="-122"/>
                <a:cs typeface="Arial" pitchFamily="34" charset="-120"/>
              </a:rPr>
              <a:t>count(ab; 𝒞)</a:t>
            </a:r>
            <a:endParaRPr lang="en-US" sz="3000" dirty="0"/>
          </a:p>
        </p:txBody>
      </p:sp>
      <p:sp>
        <p:nvSpPr>
          <p:cNvPr id="12" name="Text 10"/>
          <p:cNvSpPr/>
          <p:nvPr/>
        </p:nvSpPr>
        <p:spPr>
          <a:xfrm>
            <a:off x="1143000" y="8715256"/>
            <a:ext cx="8241030" cy="741283"/>
          </a:xfrm>
          <a:prstGeom prst="rect">
            <a:avLst/>
          </a:prstGeom>
          <a:noFill/>
          <a:ln/>
        </p:spPr>
        <p:txBody>
          <a:bodyPr wrap="square" lIns="25400" tIns="25400" rIns="25400" bIns="25400" rtlCol="0" anchor="t">
            <a:normAutofit/>
          </a:bodyPr>
          <a:lstStyle/>
          <a:p>
            <a:pPr algn="l" indent="0" marL="0">
              <a:lnSpc>
                <a:spcPct val="142000"/>
              </a:lnSpc>
              <a:buNone/>
            </a:pPr>
            <a:r>
              <a:rPr lang="en-US" sz="1950" i="1" dirty="0">
                <a:solidFill>
                  <a:srgbClr val="8A8375"/>
                </a:solidFill>
                <a:latin typeface="Arial" pitchFamily="34" charset="0"/>
                <a:ea typeface="Arial" pitchFamily="34" charset="-122"/>
                <a:cs typeface="Arial" pitchFamily="34" charset="-120"/>
              </a:rPr>
              <a:t>Σ = current symbol set · 𝒞 = training corpus · new symbol s = a⋅b added to Σ</a:t>
            </a:r>
            <a:endParaRPr lang="en-US" sz="1950" dirty="0"/>
          </a:p>
        </p:txBody>
      </p:sp>
      <p:sp>
        <p:nvSpPr>
          <p:cNvPr id="13" name="Text 11"/>
          <p:cNvSpPr/>
          <p:nvPr/>
        </p:nvSpPr>
        <p:spPr>
          <a:xfrm>
            <a:off x="9906000" y="4908352"/>
            <a:ext cx="7456170"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spc="288" kern="0" dirty="0">
                <a:solidFill>
                  <a:srgbClr val="8A8375"/>
                </a:solidFill>
                <a:latin typeface="Arial" pitchFamily="34" charset="0"/>
                <a:ea typeface="Arial" pitchFamily="34" charset="-122"/>
                <a:cs typeface="Arial" pitchFamily="34" charset="-120"/>
              </a:rPr>
              <a:t>SAME RECIPE · DIFFERENT PANTRY</a:t>
            </a:r>
            <a:endParaRPr lang="en-US" sz="1800" dirty="0"/>
          </a:p>
        </p:txBody>
      </p:sp>
      <p:sp>
        <p:nvSpPr>
          <p:cNvPr id="14" name="Shape 12"/>
          <p:cNvSpPr/>
          <p:nvPr/>
        </p:nvSpPr>
        <p:spPr>
          <a:xfrm>
            <a:off x="9906000" y="5633800"/>
            <a:ext cx="133350" cy="133350"/>
          </a:xfrm>
          <a:prstGeom prst="roundRect">
            <a:avLst>
              <a:gd name="adj" fmla="val 21429"/>
            </a:avLst>
          </a:prstGeom>
          <a:solidFill>
            <a:srgbClr val="2457A8"/>
          </a:solidFill>
          <a:ln/>
        </p:spPr>
      </p:sp>
      <p:sp>
        <p:nvSpPr>
          <p:cNvPr id="15" name="Text 13"/>
          <p:cNvSpPr/>
          <p:nvPr/>
        </p:nvSpPr>
        <p:spPr>
          <a:xfrm>
            <a:off x="10134600" y="5562838"/>
            <a:ext cx="1443276" cy="312420"/>
          </a:xfrm>
          <a:prstGeom prst="rect">
            <a:avLst/>
          </a:prstGeom>
          <a:noFill/>
          <a:ln/>
        </p:spPr>
        <p:txBody>
          <a:bodyPr wrap="square" lIns="0" tIns="0" rIns="0" bIns="0" rtlCol="0" anchor="t">
            <a:normAutofit/>
          </a:bodyPr>
          <a:lstStyle/>
          <a:p>
            <a:pPr algn="l" indent="0" marL="0">
              <a:lnSpc>
                <a:spcPct val="142000"/>
              </a:lnSpc>
              <a:buNone/>
            </a:pPr>
            <a:r>
              <a:rPr lang="en-US" sz="1950" spc="39" kern="0" dirty="0">
                <a:solidFill>
                  <a:srgbClr val="3E3A33"/>
                </a:solidFill>
                <a:latin typeface="Arial" pitchFamily="34" charset="0"/>
                <a:ea typeface="Arial" pitchFamily="34" charset="-122"/>
                <a:cs typeface="Arial" pitchFamily="34" charset="-120"/>
              </a:rPr>
              <a:t>wikitext‑103</a:t>
            </a:r>
            <a:endParaRPr lang="en-US" sz="1950" dirty="0"/>
          </a:p>
        </p:txBody>
      </p:sp>
      <p:sp>
        <p:nvSpPr>
          <p:cNvPr id="16" name="Shape 14"/>
          <p:cNvSpPr/>
          <p:nvPr/>
        </p:nvSpPr>
        <p:spPr>
          <a:xfrm>
            <a:off x="11772900" y="5499616"/>
            <a:ext cx="588169" cy="401955"/>
          </a:xfrm>
          <a:prstGeom prst="roundRect">
            <a:avLst>
              <a:gd name="adj" fmla="val 9479"/>
            </a:avLst>
          </a:prstGeom>
          <a:solidFill>
            <a:srgbClr val="E3EAF5"/>
          </a:solidFill>
          <a:ln w="7620">
            <a:solidFill>
              <a:srgbClr val="2457A8">
                <a:alpha val="30000"/>
              </a:srgbClr>
            </a:solidFill>
            <a:prstDash val="solid"/>
          </a:ln>
        </p:spPr>
      </p:sp>
      <p:sp>
        <p:nvSpPr>
          <p:cNvPr id="17" name="Text 15"/>
          <p:cNvSpPr/>
          <p:nvPr/>
        </p:nvSpPr>
        <p:spPr>
          <a:xfrm>
            <a:off x="11894820" y="5564386"/>
            <a:ext cx="420529" cy="310515"/>
          </a:xfrm>
          <a:prstGeom prst="rect">
            <a:avLst/>
          </a:prstGeom>
          <a:noFill/>
          <a:ln/>
        </p:spPr>
        <p:txBody>
          <a:bodyPr wrap="square" lIns="25400" tIns="25400" rIns="25400" bIns="25400" rtlCol="0" anchor="t">
            <a:normAutofit/>
          </a:bodyPr>
          <a:lstStyle/>
          <a:p>
            <a:pPr algn="l" indent="0" marL="0">
              <a:lnSpc>
                <a:spcPct val="110000"/>
              </a:lnSpc>
              <a:buNone/>
            </a:pPr>
            <a:r>
              <a:rPr lang="en-US" sz="1950" dirty="0">
                <a:solidFill>
                  <a:srgbClr val="173876"/>
                </a:solidFill>
                <a:latin typeface="Arial" pitchFamily="34" charset="0"/>
                <a:ea typeface="Arial" pitchFamily="34" charset="-122"/>
                <a:cs typeface="Arial" pitchFamily="34" charset="-120"/>
              </a:rPr>
              <a:t>the</a:t>
            </a:r>
            <a:endParaRPr lang="en-US" sz="1950" dirty="0"/>
          </a:p>
        </p:txBody>
      </p:sp>
      <p:sp>
        <p:nvSpPr>
          <p:cNvPr id="18" name="Shape 16"/>
          <p:cNvSpPr/>
          <p:nvPr/>
        </p:nvSpPr>
        <p:spPr>
          <a:xfrm>
            <a:off x="12429887" y="5499616"/>
            <a:ext cx="657106" cy="401955"/>
          </a:xfrm>
          <a:prstGeom prst="roundRect">
            <a:avLst>
              <a:gd name="adj" fmla="val 9479"/>
            </a:avLst>
          </a:prstGeom>
          <a:solidFill>
            <a:srgbClr val="E3EAF5"/>
          </a:solidFill>
          <a:ln w="7620">
            <a:solidFill>
              <a:srgbClr val="2457A8">
                <a:alpha val="30000"/>
              </a:srgbClr>
            </a:solidFill>
            <a:prstDash val="solid"/>
          </a:ln>
        </p:spPr>
      </p:sp>
      <p:sp>
        <p:nvSpPr>
          <p:cNvPr id="19" name="Text 17"/>
          <p:cNvSpPr/>
          <p:nvPr/>
        </p:nvSpPr>
        <p:spPr>
          <a:xfrm>
            <a:off x="12551807" y="5564386"/>
            <a:ext cx="489466" cy="310515"/>
          </a:xfrm>
          <a:prstGeom prst="rect">
            <a:avLst/>
          </a:prstGeom>
          <a:noFill/>
          <a:ln/>
        </p:spPr>
        <p:txBody>
          <a:bodyPr wrap="square" lIns="25400" tIns="25400" rIns="25400" bIns="25400" rtlCol="0" anchor="t">
            <a:normAutofit/>
          </a:bodyPr>
          <a:lstStyle/>
          <a:p>
            <a:pPr algn="l" indent="0" marL="0">
              <a:lnSpc>
                <a:spcPct val="110000"/>
              </a:lnSpc>
              <a:buNone/>
            </a:pPr>
            <a:r>
              <a:rPr lang="en-US" sz="1950" dirty="0">
                <a:solidFill>
                  <a:srgbClr val="173876"/>
                </a:solidFill>
                <a:latin typeface="Arial" pitchFamily="34" charset="0"/>
                <a:ea typeface="Arial" pitchFamily="34" charset="-122"/>
                <a:cs typeface="Arial" pitchFamily="34" charset="-120"/>
              </a:rPr>
              <a:t>and</a:t>
            </a:r>
            <a:endParaRPr lang="en-US" sz="1950" dirty="0"/>
          </a:p>
        </p:txBody>
      </p:sp>
      <p:sp>
        <p:nvSpPr>
          <p:cNvPr id="20" name="Shape 18"/>
          <p:cNvSpPr/>
          <p:nvPr/>
        </p:nvSpPr>
        <p:spPr>
          <a:xfrm>
            <a:off x="13155811" y="5499616"/>
            <a:ext cx="643176" cy="401955"/>
          </a:xfrm>
          <a:prstGeom prst="roundRect">
            <a:avLst>
              <a:gd name="adj" fmla="val 9479"/>
            </a:avLst>
          </a:prstGeom>
          <a:solidFill>
            <a:srgbClr val="E3EAF5"/>
          </a:solidFill>
          <a:ln w="7620">
            <a:solidFill>
              <a:srgbClr val="2457A8">
                <a:alpha val="30000"/>
              </a:srgbClr>
            </a:solidFill>
            <a:prstDash val="solid"/>
          </a:ln>
        </p:spPr>
      </p:sp>
      <p:sp>
        <p:nvSpPr>
          <p:cNvPr id="21" name="Text 19"/>
          <p:cNvSpPr/>
          <p:nvPr/>
        </p:nvSpPr>
        <p:spPr>
          <a:xfrm>
            <a:off x="13277731" y="5564386"/>
            <a:ext cx="475536" cy="310515"/>
          </a:xfrm>
          <a:prstGeom prst="rect">
            <a:avLst/>
          </a:prstGeom>
          <a:noFill/>
          <a:ln/>
        </p:spPr>
        <p:txBody>
          <a:bodyPr wrap="square" lIns="25400" tIns="25400" rIns="25400" bIns="25400" rtlCol="0" anchor="t">
            <a:normAutofit/>
          </a:bodyPr>
          <a:lstStyle/>
          <a:p>
            <a:pPr algn="l" indent="0" marL="0">
              <a:lnSpc>
                <a:spcPct val="110000"/>
              </a:lnSpc>
              <a:buNone/>
            </a:pPr>
            <a:r>
              <a:rPr lang="en-US" sz="1950" dirty="0">
                <a:solidFill>
                  <a:srgbClr val="173876"/>
                </a:solidFill>
                <a:latin typeface="Arial" pitchFamily="34" charset="0"/>
                <a:ea typeface="Arial" pitchFamily="34" charset="-122"/>
                <a:cs typeface="Arial" pitchFamily="34" charset="-120"/>
              </a:rPr>
              <a:t>tion</a:t>
            </a:r>
            <a:endParaRPr lang="en-US" sz="1950" dirty="0"/>
          </a:p>
        </p:txBody>
      </p:sp>
      <p:sp>
        <p:nvSpPr>
          <p:cNvPr id="22" name="Shape 20"/>
          <p:cNvSpPr/>
          <p:nvPr/>
        </p:nvSpPr>
        <p:spPr>
          <a:xfrm>
            <a:off x="13867805" y="5499616"/>
            <a:ext cx="657106" cy="401955"/>
          </a:xfrm>
          <a:prstGeom prst="roundRect">
            <a:avLst>
              <a:gd name="adj" fmla="val 9479"/>
            </a:avLst>
          </a:prstGeom>
          <a:solidFill>
            <a:srgbClr val="E3EAF5"/>
          </a:solidFill>
          <a:ln w="7620">
            <a:solidFill>
              <a:srgbClr val="2457A8">
                <a:alpha val="30000"/>
              </a:srgbClr>
            </a:solidFill>
            <a:prstDash val="solid"/>
          </a:ln>
        </p:spPr>
      </p:sp>
      <p:sp>
        <p:nvSpPr>
          <p:cNvPr id="23" name="Text 21"/>
          <p:cNvSpPr/>
          <p:nvPr/>
        </p:nvSpPr>
        <p:spPr>
          <a:xfrm>
            <a:off x="13989725" y="5564386"/>
            <a:ext cx="489466" cy="310515"/>
          </a:xfrm>
          <a:prstGeom prst="rect">
            <a:avLst/>
          </a:prstGeom>
          <a:noFill/>
          <a:ln/>
        </p:spPr>
        <p:txBody>
          <a:bodyPr wrap="square" lIns="25400" tIns="25400" rIns="25400" bIns="25400" rtlCol="0" anchor="t">
            <a:normAutofit/>
          </a:bodyPr>
          <a:lstStyle/>
          <a:p>
            <a:pPr algn="l" indent="0" marL="0">
              <a:lnSpc>
                <a:spcPct val="110000"/>
              </a:lnSpc>
              <a:buNone/>
            </a:pPr>
            <a:r>
              <a:rPr lang="en-US" sz="1950" dirty="0">
                <a:solidFill>
                  <a:srgbClr val="173876"/>
                </a:solidFill>
                <a:latin typeface="Arial" pitchFamily="34" charset="0"/>
                <a:ea typeface="Arial" pitchFamily="34" charset="-122"/>
                <a:cs typeface="Arial" pitchFamily="34" charset="-120"/>
              </a:rPr>
              <a:t>ed_</a:t>
            </a:r>
            <a:endParaRPr lang="en-US" sz="1950" dirty="0"/>
          </a:p>
        </p:txBody>
      </p:sp>
      <p:sp>
        <p:nvSpPr>
          <p:cNvPr id="24" name="Shape 22"/>
          <p:cNvSpPr/>
          <p:nvPr/>
        </p:nvSpPr>
        <p:spPr>
          <a:xfrm>
            <a:off x="14593729" y="5499616"/>
            <a:ext cx="712113" cy="401955"/>
          </a:xfrm>
          <a:prstGeom prst="roundRect">
            <a:avLst>
              <a:gd name="adj" fmla="val 9479"/>
            </a:avLst>
          </a:prstGeom>
          <a:solidFill>
            <a:srgbClr val="E3EAF5"/>
          </a:solidFill>
          <a:ln w="7620">
            <a:solidFill>
              <a:srgbClr val="2457A8">
                <a:alpha val="30000"/>
              </a:srgbClr>
            </a:solidFill>
            <a:prstDash val="solid"/>
          </a:ln>
        </p:spPr>
      </p:sp>
      <p:sp>
        <p:nvSpPr>
          <p:cNvPr id="25" name="Text 23"/>
          <p:cNvSpPr/>
          <p:nvPr/>
        </p:nvSpPr>
        <p:spPr>
          <a:xfrm>
            <a:off x="14715649" y="5564386"/>
            <a:ext cx="544473" cy="310515"/>
          </a:xfrm>
          <a:prstGeom prst="rect">
            <a:avLst/>
          </a:prstGeom>
          <a:noFill/>
          <a:ln/>
        </p:spPr>
        <p:txBody>
          <a:bodyPr wrap="square" lIns="25400" tIns="25400" rIns="25400" bIns="25400" rtlCol="0" anchor="t">
            <a:normAutofit/>
          </a:bodyPr>
          <a:lstStyle/>
          <a:p>
            <a:pPr algn="l" indent="0" marL="0">
              <a:lnSpc>
                <a:spcPct val="110000"/>
              </a:lnSpc>
              <a:buNone/>
            </a:pPr>
            <a:r>
              <a:rPr lang="en-US" sz="1950" dirty="0">
                <a:solidFill>
                  <a:srgbClr val="173876"/>
                </a:solidFill>
                <a:latin typeface="Arial" pitchFamily="34" charset="0"/>
                <a:ea typeface="Arial" pitchFamily="34" charset="-122"/>
                <a:cs typeface="Arial" pitchFamily="34" charset="-120"/>
              </a:rPr>
              <a:t>ing_</a:t>
            </a:r>
            <a:endParaRPr lang="en-US" sz="1950" dirty="0"/>
          </a:p>
        </p:txBody>
      </p:sp>
      <p:sp>
        <p:nvSpPr>
          <p:cNvPr id="26" name="Shape 24"/>
          <p:cNvSpPr/>
          <p:nvPr/>
        </p:nvSpPr>
        <p:spPr>
          <a:xfrm>
            <a:off x="9906000" y="6245304"/>
            <a:ext cx="133350" cy="133350"/>
          </a:xfrm>
          <a:prstGeom prst="roundRect">
            <a:avLst>
              <a:gd name="adj" fmla="val 21429"/>
            </a:avLst>
          </a:prstGeom>
          <a:solidFill>
            <a:srgbClr val="B6351D"/>
          </a:solidFill>
          <a:ln/>
        </p:spPr>
      </p:sp>
      <p:sp>
        <p:nvSpPr>
          <p:cNvPr id="27" name="Text 25"/>
          <p:cNvSpPr/>
          <p:nvPr/>
        </p:nvSpPr>
        <p:spPr>
          <a:xfrm>
            <a:off x="10134600" y="6174343"/>
            <a:ext cx="1028343" cy="312420"/>
          </a:xfrm>
          <a:prstGeom prst="rect">
            <a:avLst/>
          </a:prstGeom>
          <a:noFill/>
          <a:ln/>
        </p:spPr>
        <p:txBody>
          <a:bodyPr wrap="square" lIns="0" tIns="0" rIns="0" bIns="0" rtlCol="0" anchor="t">
            <a:normAutofit/>
          </a:bodyPr>
          <a:lstStyle/>
          <a:p>
            <a:pPr algn="l" indent="0" marL="0">
              <a:lnSpc>
                <a:spcPct val="142000"/>
              </a:lnSpc>
              <a:buNone/>
            </a:pPr>
            <a:r>
              <a:rPr lang="en-US" sz="1950" spc="39" kern="0" dirty="0">
                <a:solidFill>
                  <a:srgbClr val="3E3A33"/>
                </a:solidFill>
                <a:latin typeface="Arial" pitchFamily="34" charset="0"/>
                <a:ea typeface="Arial" pitchFamily="34" charset="-122"/>
                <a:cs typeface="Arial" pitchFamily="34" charset="-120"/>
              </a:rPr>
              <a:t>PubMed</a:t>
            </a:r>
            <a:endParaRPr lang="en-US" sz="1950" dirty="0"/>
          </a:p>
        </p:txBody>
      </p:sp>
      <p:sp>
        <p:nvSpPr>
          <p:cNvPr id="28" name="Shape 26"/>
          <p:cNvSpPr/>
          <p:nvPr/>
        </p:nvSpPr>
        <p:spPr>
          <a:xfrm>
            <a:off x="11772900" y="6111121"/>
            <a:ext cx="1028462" cy="401955"/>
          </a:xfrm>
          <a:prstGeom prst="roundRect">
            <a:avLst>
              <a:gd name="adj" fmla="val 9479"/>
            </a:avLst>
          </a:prstGeom>
          <a:solidFill>
            <a:srgbClr val="F3DFD7"/>
          </a:solidFill>
          <a:ln w="7620">
            <a:solidFill>
              <a:srgbClr val="B6351D">
                <a:alpha val="30000"/>
              </a:srgbClr>
            </a:solidFill>
            <a:prstDash val="solid"/>
          </a:ln>
        </p:spPr>
      </p:sp>
      <p:sp>
        <p:nvSpPr>
          <p:cNvPr id="29" name="Text 27"/>
          <p:cNvSpPr/>
          <p:nvPr/>
        </p:nvSpPr>
        <p:spPr>
          <a:xfrm>
            <a:off x="11894820" y="6175891"/>
            <a:ext cx="860822" cy="310515"/>
          </a:xfrm>
          <a:prstGeom prst="rect">
            <a:avLst/>
          </a:prstGeom>
          <a:noFill/>
          <a:ln/>
        </p:spPr>
        <p:txBody>
          <a:bodyPr wrap="square" lIns="25400" tIns="25400" rIns="25400" bIns="25400" rtlCol="0" anchor="t">
            <a:normAutofit/>
          </a:bodyPr>
          <a:lstStyle/>
          <a:p>
            <a:pPr algn="l" indent="0" marL="0">
              <a:lnSpc>
                <a:spcPct val="110000"/>
              </a:lnSpc>
              <a:buNone/>
            </a:pPr>
            <a:r>
              <a:rPr lang="en-US" sz="1950" dirty="0">
                <a:solidFill>
                  <a:srgbClr val="7A2212"/>
                </a:solidFill>
                <a:latin typeface="Arial" pitchFamily="34" charset="0"/>
                <a:ea typeface="Arial" pitchFamily="34" charset="-122"/>
                <a:cs typeface="Arial" pitchFamily="34" charset="-120"/>
              </a:rPr>
              <a:t>cellular</a:t>
            </a:r>
            <a:endParaRPr lang="en-US" sz="1950" dirty="0"/>
          </a:p>
        </p:txBody>
      </p:sp>
      <p:sp>
        <p:nvSpPr>
          <p:cNvPr id="30" name="Shape 28"/>
          <p:cNvSpPr/>
          <p:nvPr/>
        </p:nvSpPr>
        <p:spPr>
          <a:xfrm>
            <a:off x="12870181" y="6111121"/>
            <a:ext cx="987147" cy="401955"/>
          </a:xfrm>
          <a:prstGeom prst="roundRect">
            <a:avLst>
              <a:gd name="adj" fmla="val 9479"/>
            </a:avLst>
          </a:prstGeom>
          <a:solidFill>
            <a:srgbClr val="F3DFD7"/>
          </a:solidFill>
          <a:ln w="7620">
            <a:solidFill>
              <a:srgbClr val="B6351D">
                <a:alpha val="30000"/>
              </a:srgbClr>
            </a:solidFill>
            <a:prstDash val="solid"/>
          </a:ln>
        </p:spPr>
      </p:sp>
      <p:sp>
        <p:nvSpPr>
          <p:cNvPr id="31" name="Text 29"/>
          <p:cNvSpPr/>
          <p:nvPr/>
        </p:nvSpPr>
        <p:spPr>
          <a:xfrm>
            <a:off x="12992101" y="6175891"/>
            <a:ext cx="819507" cy="310515"/>
          </a:xfrm>
          <a:prstGeom prst="rect">
            <a:avLst/>
          </a:prstGeom>
          <a:noFill/>
          <a:ln/>
        </p:spPr>
        <p:txBody>
          <a:bodyPr wrap="square" lIns="25400" tIns="25400" rIns="25400" bIns="25400" rtlCol="0" anchor="t">
            <a:normAutofit/>
          </a:bodyPr>
          <a:lstStyle/>
          <a:p>
            <a:pPr algn="l" indent="0" marL="0">
              <a:lnSpc>
                <a:spcPct val="110000"/>
              </a:lnSpc>
              <a:buNone/>
            </a:pPr>
            <a:r>
              <a:rPr lang="en-US" sz="1950" dirty="0">
                <a:solidFill>
                  <a:srgbClr val="7A2212"/>
                </a:solidFill>
                <a:latin typeface="Arial" pitchFamily="34" charset="0"/>
                <a:ea typeface="Arial" pitchFamily="34" charset="-122"/>
                <a:cs typeface="Arial" pitchFamily="34" charset="-120"/>
              </a:rPr>
              <a:t>clinical</a:t>
            </a:r>
            <a:endParaRPr lang="en-US" sz="1950" dirty="0"/>
          </a:p>
        </p:txBody>
      </p:sp>
      <p:sp>
        <p:nvSpPr>
          <p:cNvPr id="32" name="Shape 30"/>
          <p:cNvSpPr/>
          <p:nvPr/>
        </p:nvSpPr>
        <p:spPr>
          <a:xfrm>
            <a:off x="13926145" y="6111121"/>
            <a:ext cx="987504" cy="401955"/>
          </a:xfrm>
          <a:prstGeom prst="roundRect">
            <a:avLst>
              <a:gd name="adj" fmla="val 9479"/>
            </a:avLst>
          </a:prstGeom>
          <a:solidFill>
            <a:srgbClr val="F3DFD7"/>
          </a:solidFill>
          <a:ln w="7620">
            <a:solidFill>
              <a:srgbClr val="B6351D">
                <a:alpha val="30000"/>
              </a:srgbClr>
            </a:solidFill>
            <a:prstDash val="solid"/>
          </a:ln>
        </p:spPr>
      </p:sp>
      <p:sp>
        <p:nvSpPr>
          <p:cNvPr id="33" name="Text 31"/>
          <p:cNvSpPr/>
          <p:nvPr/>
        </p:nvSpPr>
        <p:spPr>
          <a:xfrm>
            <a:off x="14048065" y="6175891"/>
            <a:ext cx="819864" cy="310515"/>
          </a:xfrm>
          <a:prstGeom prst="rect">
            <a:avLst/>
          </a:prstGeom>
          <a:noFill/>
          <a:ln/>
        </p:spPr>
        <p:txBody>
          <a:bodyPr wrap="square" lIns="25400" tIns="25400" rIns="25400" bIns="25400" rtlCol="0" anchor="t">
            <a:normAutofit/>
          </a:bodyPr>
          <a:lstStyle/>
          <a:p>
            <a:pPr algn="l" indent="0" marL="0">
              <a:lnSpc>
                <a:spcPct val="110000"/>
              </a:lnSpc>
              <a:buNone/>
            </a:pPr>
            <a:r>
              <a:rPr lang="en-US" sz="1950" dirty="0">
                <a:solidFill>
                  <a:srgbClr val="7A2212"/>
                </a:solidFill>
                <a:latin typeface="Arial" pitchFamily="34" charset="0"/>
                <a:ea typeface="Arial" pitchFamily="34" charset="-122"/>
                <a:cs typeface="Arial" pitchFamily="34" charset="-120"/>
              </a:rPr>
              <a:t>patient</a:t>
            </a:r>
            <a:endParaRPr lang="en-US" sz="1950" dirty="0"/>
          </a:p>
        </p:txBody>
      </p:sp>
      <p:sp>
        <p:nvSpPr>
          <p:cNvPr id="34" name="Text 32"/>
          <p:cNvSpPr/>
          <p:nvPr/>
        </p:nvSpPr>
        <p:spPr>
          <a:xfrm>
            <a:off x="11772900" y="6798826"/>
            <a:ext cx="3805835"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i="1" dirty="0">
                <a:solidFill>
                  <a:srgbClr val="8A8375"/>
                </a:solidFill>
                <a:latin typeface="Arial" pitchFamily="34" charset="0"/>
                <a:ea typeface="Arial" pitchFamily="34" charset="-122"/>
                <a:cs typeface="Arial" pitchFamily="34" charset="-120"/>
              </a:rPr>
              <a:t>both reach ~9,743 merges at V = 10,000</a:t>
            </a:r>
            <a:endParaRPr lang="en-US" sz="1800" dirty="0"/>
          </a:p>
        </p:txBody>
      </p:sp>
      <p:sp>
        <p:nvSpPr>
          <p:cNvPr id="35" name="Shape 33"/>
          <p:cNvSpPr/>
          <p:nvPr/>
        </p:nvSpPr>
        <p:spPr>
          <a:xfrm>
            <a:off x="9906000" y="7542490"/>
            <a:ext cx="7239000" cy="1733550"/>
          </a:xfrm>
          <a:prstGeom prst="rect">
            <a:avLst/>
          </a:prstGeom>
          <a:solidFill>
            <a:srgbClr val="F2ECDE"/>
          </a:solidFill>
          <a:ln/>
        </p:spPr>
      </p:sp>
      <p:sp>
        <p:nvSpPr>
          <p:cNvPr id="36" name="Shape 34"/>
          <p:cNvSpPr/>
          <p:nvPr/>
        </p:nvSpPr>
        <p:spPr>
          <a:xfrm>
            <a:off x="9906000" y="7542490"/>
            <a:ext cx="38100" cy="1733550"/>
          </a:xfrm>
          <a:prstGeom prst="rect">
            <a:avLst/>
          </a:prstGeom>
          <a:solidFill>
            <a:srgbClr val="1A1A1A"/>
          </a:solidFill>
          <a:ln/>
        </p:spPr>
      </p:sp>
      <p:sp>
        <p:nvSpPr>
          <p:cNvPr id="37" name="Text 35"/>
          <p:cNvSpPr/>
          <p:nvPr/>
        </p:nvSpPr>
        <p:spPr>
          <a:xfrm>
            <a:off x="10287000" y="7809190"/>
            <a:ext cx="6710553" cy="1238250"/>
          </a:xfrm>
          <a:prstGeom prst="rect">
            <a:avLst/>
          </a:prstGeom>
          <a:noFill/>
          <a:ln/>
        </p:spPr>
        <p:txBody>
          <a:bodyPr wrap="square" lIns="25400" tIns="25400" rIns="25400" bIns="25400" rtlCol="0" anchor="t">
            <a:normAutofit/>
          </a:bodyPr>
          <a:lstStyle/>
          <a:p>
            <a:pPr algn="l" indent="0" marL="0">
              <a:lnSpc>
                <a:spcPct val="140000"/>
              </a:lnSpc>
              <a:buNone/>
            </a:pPr>
            <a:r>
              <a:rPr lang="en-US" sz="2250" i="1" dirty="0">
                <a:solidFill>
                  <a:srgbClr val="1A1A1A"/>
                </a:solidFill>
                <a:latin typeface="Arial" pitchFamily="34" charset="0"/>
                <a:ea typeface="Arial" pitchFamily="34" charset="-122"/>
                <a:cs typeface="Arial" pitchFamily="34" charset="-120"/>
              </a:rPr>
              <a:t>“A BPE trained on wikitext sees </a:t>
            </a:r>
            <a:pPr algn="l" indent="0" marL="0">
              <a:lnSpc>
                <a:spcPct val="140000"/>
              </a:lnSpc>
              <a:buNone/>
            </a:pPr>
            <a:r>
              <a:rPr lang="en-US" sz="2250" i="1" dirty="0">
                <a:solidFill>
                  <a:srgbClr val="2457A8"/>
                </a:solidFill>
                <a:latin typeface="Arial" pitchFamily="34" charset="0"/>
                <a:ea typeface="Arial" pitchFamily="34" charset="-122"/>
                <a:cs typeface="Arial" pitchFamily="34" charset="-120"/>
              </a:rPr>
              <a:t>the, and, tion </a:t>
            </a:r>
            <a:pPr algn="l" indent="0" marL="0">
              <a:lnSpc>
                <a:spcPct val="140000"/>
              </a:lnSpc>
              <a:buNone/>
            </a:pPr>
            <a:r>
              <a:rPr lang="en-US" sz="2250" i="1" dirty="0">
                <a:solidFill>
                  <a:srgbClr val="1A1A1A"/>
                </a:solidFill>
                <a:latin typeface="Arial" pitchFamily="34" charset="0"/>
                <a:ea typeface="Arial" pitchFamily="34" charset="-122"/>
                <a:cs typeface="Arial" pitchFamily="34" charset="-120"/>
              </a:rPr>
              <a:t>as high-utility merges; a BPE trained on PubMed sees </a:t>
            </a:r>
            <a:pPr algn="l" indent="0" marL="0">
              <a:lnSpc>
                <a:spcPct val="140000"/>
              </a:lnSpc>
              <a:buNone/>
            </a:pPr>
            <a:r>
              <a:rPr lang="en-US" sz="2250" i="1" dirty="0">
                <a:solidFill>
                  <a:srgbClr val="B6351D"/>
                </a:solidFill>
                <a:latin typeface="Arial" pitchFamily="34" charset="0"/>
                <a:ea typeface="Arial" pitchFamily="34" charset="-122"/>
                <a:cs typeface="Arial" pitchFamily="34" charset="-120"/>
              </a:rPr>
              <a:t>cellular, clinical, cholecystectomy </a:t>
            </a:r>
            <a:pPr algn="l" indent="0" marL="0">
              <a:lnSpc>
                <a:spcPct val="140000"/>
              </a:lnSpc>
              <a:buNone/>
            </a:pPr>
            <a:r>
              <a:rPr lang="en-US" sz="2250" i="1" dirty="0">
                <a:solidFill>
                  <a:srgbClr val="1A1A1A"/>
                </a:solidFill>
                <a:latin typeface="Arial" pitchFamily="34" charset="0"/>
                <a:ea typeface="Arial" pitchFamily="34" charset="-122"/>
                <a:cs typeface="Arial" pitchFamily="34" charset="-120"/>
              </a:rPr>
              <a:t>.”</a:t>
            </a:r>
            <a:endParaRPr lang="en-US" sz="2250" dirty="0"/>
          </a:p>
        </p:txBody>
      </p:sp>
      <p:sp>
        <p:nvSpPr>
          <p:cNvPr id="38" name="Text 36"/>
          <p:cNvSpPr/>
          <p:nvPr/>
        </p:nvSpPr>
        <p:spPr>
          <a:xfrm>
            <a:off x="16588860" y="9429036"/>
            <a:ext cx="632341"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144" kern="0" dirty="0">
                <a:solidFill>
                  <a:srgbClr val="8A8375"/>
                </a:solidFill>
                <a:latin typeface="Arial" pitchFamily="34" charset="0"/>
                <a:ea typeface="Arial" pitchFamily="34" charset="-122"/>
                <a:cs typeface="Arial" pitchFamily="34" charset="-120"/>
              </a:rPr>
              <a:t>S·03</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1143000" y="533400"/>
            <a:ext cx="2168962"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 02 · METHOD</a:t>
            </a:r>
            <a:endParaRPr lang="en-US" sz="1800" dirty="0"/>
          </a:p>
        </p:txBody>
      </p:sp>
      <p:sp>
        <p:nvSpPr>
          <p:cNvPr id="3" name="Text 1"/>
          <p:cNvSpPr/>
          <p:nvPr/>
        </p:nvSpPr>
        <p:spPr>
          <a:xfrm>
            <a:off x="16102013" y="533400"/>
            <a:ext cx="1119188"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04 </a:t>
            </a:r>
            <a:pPr algn="l" indent="0" marL="0">
              <a:lnSpc>
                <a:spcPct val="142000"/>
              </a:lnSpc>
              <a:buNone/>
            </a:pPr>
            <a:r>
              <a:rPr lang="en-US" sz="1800" spc="252" kern="0" dirty="0">
                <a:solidFill>
                  <a:srgbClr val="C9BFA8"/>
                </a:solidFill>
                <a:latin typeface="Arial" pitchFamily="34" charset="0"/>
                <a:ea typeface="Arial" pitchFamily="34" charset="-122"/>
                <a:cs typeface="Arial" pitchFamily="34" charset="-120"/>
              </a:rPr>
              <a:t>/ 14</a:t>
            </a:r>
            <a:endParaRPr lang="en-US" sz="1800" dirty="0"/>
          </a:p>
        </p:txBody>
      </p:sp>
      <p:sp>
        <p:nvSpPr>
          <p:cNvPr id="4" name="Shape 2"/>
          <p:cNvSpPr/>
          <p:nvPr/>
        </p:nvSpPr>
        <p:spPr>
          <a:xfrm>
            <a:off x="1143000" y="2095500"/>
            <a:ext cx="914400" cy="9525"/>
          </a:xfrm>
          <a:prstGeom prst="rect">
            <a:avLst/>
          </a:prstGeom>
          <a:solidFill>
            <a:srgbClr val="C9BFA8"/>
          </a:solidFill>
          <a:ln/>
        </p:spPr>
      </p:sp>
      <p:sp>
        <p:nvSpPr>
          <p:cNvPr id="5" name="Text 3"/>
          <p:cNvSpPr/>
          <p:nvPr/>
        </p:nvSpPr>
        <p:spPr>
          <a:xfrm>
            <a:off x="1143000" y="2484120"/>
            <a:ext cx="14716125" cy="696397"/>
          </a:xfrm>
          <a:prstGeom prst="rect">
            <a:avLst/>
          </a:prstGeom>
          <a:noFill/>
          <a:ln/>
        </p:spPr>
        <p:txBody>
          <a:bodyPr wrap="square" lIns="25400" tIns="25400" rIns="25400" bIns="25400" rtlCol="0" anchor="t">
            <a:normAutofit/>
          </a:bodyPr>
          <a:lstStyle/>
          <a:p>
            <a:pPr algn="l" indent="0" marL="0">
              <a:lnSpc>
                <a:spcPct val="108000"/>
              </a:lnSpc>
              <a:buNone/>
            </a:pPr>
            <a:r>
              <a:rPr lang="en-US" sz="4800" spc="-72" kern="0" dirty="0">
                <a:solidFill>
                  <a:srgbClr val="1A1A1A"/>
                </a:solidFill>
                <a:latin typeface="Arial" pitchFamily="34" charset="0"/>
                <a:ea typeface="Arial" pitchFamily="34" charset="-122"/>
                <a:cs typeface="Arial" pitchFamily="34" charset="-120"/>
              </a:rPr>
              <a:t>Experimental design.</a:t>
            </a:r>
            <a:endParaRPr lang="en-US" sz="4800" dirty="0"/>
          </a:p>
        </p:txBody>
      </p:sp>
      <p:sp>
        <p:nvSpPr>
          <p:cNvPr id="6" name="Text 4"/>
          <p:cNvSpPr/>
          <p:nvPr/>
        </p:nvSpPr>
        <p:spPr>
          <a:xfrm>
            <a:off x="1143000" y="3447217"/>
            <a:ext cx="13735050" cy="501015"/>
          </a:xfrm>
          <a:prstGeom prst="rect">
            <a:avLst/>
          </a:prstGeom>
          <a:noFill/>
          <a:ln/>
        </p:spPr>
        <p:txBody>
          <a:bodyPr wrap="square" lIns="25400" tIns="25400" rIns="25400" bIns="25400" rtlCol="0" anchor="t">
            <a:normAutofit/>
          </a:bodyPr>
          <a:lstStyle/>
          <a:p>
            <a:pPr algn="l" indent="0" marL="0">
              <a:lnSpc>
                <a:spcPct val="135000"/>
              </a:lnSpc>
              <a:buNone/>
            </a:pPr>
            <a:r>
              <a:rPr lang="en-US" sz="2700" dirty="0">
                <a:solidFill>
                  <a:srgbClr val="3E3A33"/>
                </a:solidFill>
                <a:latin typeface="Arial" pitchFamily="34" charset="0"/>
                <a:ea typeface="Arial" pitchFamily="34" charset="-122"/>
                <a:cs typeface="Arial" pitchFamily="34" charset="-120"/>
              </a:rPr>
              <a:t>Only the tokenizer changes. Everything else is held fixed.</a:t>
            </a:r>
            <a:endParaRPr lang="en-US" sz="2700" dirty="0"/>
          </a:p>
        </p:txBody>
      </p:sp>
      <p:sp>
        <p:nvSpPr>
          <p:cNvPr id="7" name="Text 5"/>
          <p:cNvSpPr/>
          <p:nvPr/>
        </p:nvSpPr>
        <p:spPr>
          <a:xfrm>
            <a:off x="1143000" y="4214932"/>
            <a:ext cx="8325035"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spc="288" kern="0" dirty="0">
                <a:solidFill>
                  <a:srgbClr val="8A8375"/>
                </a:solidFill>
                <a:latin typeface="Arial" pitchFamily="34" charset="0"/>
                <a:ea typeface="Arial" pitchFamily="34" charset="-122"/>
                <a:cs typeface="Arial" pitchFamily="34" charset="-120"/>
              </a:rPr>
              <a:t>HELD FIXED</a:t>
            </a:r>
            <a:endParaRPr lang="en-US" sz="1800" dirty="0"/>
          </a:p>
        </p:txBody>
      </p:sp>
      <p:sp>
        <p:nvSpPr>
          <p:cNvPr id="8" name="Shape 6"/>
          <p:cNvSpPr/>
          <p:nvPr/>
        </p:nvSpPr>
        <p:spPr>
          <a:xfrm>
            <a:off x="1143000" y="5382577"/>
            <a:ext cx="3717965" cy="9525"/>
          </a:xfrm>
          <a:prstGeom prst="rect">
            <a:avLst/>
          </a:prstGeom>
          <a:solidFill>
            <a:srgbClr val="E4DCC6"/>
          </a:solidFill>
          <a:ln/>
        </p:spPr>
      </p:sp>
      <p:sp>
        <p:nvSpPr>
          <p:cNvPr id="9" name="Text 7"/>
          <p:cNvSpPr/>
          <p:nvPr/>
        </p:nvSpPr>
        <p:spPr>
          <a:xfrm>
            <a:off x="1143000" y="4920496"/>
            <a:ext cx="3600904" cy="385882"/>
          </a:xfrm>
          <a:prstGeom prst="rect">
            <a:avLst/>
          </a:prstGeom>
          <a:noFill/>
          <a:ln/>
        </p:spPr>
        <p:txBody>
          <a:bodyPr wrap="square" lIns="25400" tIns="25400" rIns="25400" bIns="25400" rtlCol="0" anchor="t">
            <a:normAutofit/>
          </a:bodyPr>
          <a:lstStyle/>
          <a:p>
            <a:pPr algn="l" indent="0" marL="0">
              <a:lnSpc>
                <a:spcPct val="142000"/>
              </a:lnSpc>
              <a:buNone/>
            </a:pPr>
            <a:r>
              <a:rPr lang="en-US" sz="1950" dirty="0">
                <a:solidFill>
                  <a:srgbClr val="3E3A33"/>
                </a:solidFill>
                <a:latin typeface="Arial" pitchFamily="34" charset="0"/>
                <a:ea typeface="Arial" pitchFamily="34" charset="-122"/>
                <a:cs typeface="Arial" pitchFamily="34" charset="-120"/>
              </a:rPr>
              <a:t>Architecture</a:t>
            </a:r>
            <a:endParaRPr lang="en-US" sz="1950" dirty="0"/>
          </a:p>
        </p:txBody>
      </p:sp>
      <p:sp>
        <p:nvSpPr>
          <p:cNvPr id="10" name="Shape 8"/>
          <p:cNvSpPr/>
          <p:nvPr/>
        </p:nvSpPr>
        <p:spPr>
          <a:xfrm>
            <a:off x="4860965" y="5382577"/>
            <a:ext cx="4364593" cy="9525"/>
          </a:xfrm>
          <a:prstGeom prst="rect">
            <a:avLst/>
          </a:prstGeom>
          <a:solidFill>
            <a:srgbClr val="E4DCC6"/>
          </a:solidFill>
          <a:ln/>
        </p:spPr>
      </p:sp>
      <p:sp>
        <p:nvSpPr>
          <p:cNvPr id="11" name="Text 9"/>
          <p:cNvSpPr/>
          <p:nvPr/>
        </p:nvSpPr>
        <p:spPr>
          <a:xfrm>
            <a:off x="4860965" y="4920496"/>
            <a:ext cx="4495531" cy="385882"/>
          </a:xfrm>
          <a:prstGeom prst="rect">
            <a:avLst/>
          </a:prstGeom>
          <a:noFill/>
          <a:ln/>
        </p:spPr>
        <p:txBody>
          <a:bodyPr wrap="square" lIns="25400" tIns="25400" rIns="25400" bIns="25400" rtlCol="0" anchor="t">
            <a:normAutofit/>
          </a:bodyPr>
          <a:lstStyle/>
          <a:p>
            <a:pPr algn="l" indent="0" marL="0">
              <a:lnSpc>
                <a:spcPct val="142000"/>
              </a:lnSpc>
              <a:buNone/>
            </a:pPr>
            <a:r>
              <a:rPr lang="en-US" sz="1650" b="1" dirty="0">
                <a:solidFill>
                  <a:srgbClr val="1A1A1A"/>
                </a:solidFill>
                <a:latin typeface="Arial" pitchFamily="34" charset="0"/>
                <a:ea typeface="Arial" pitchFamily="34" charset="-122"/>
                <a:cs typeface="Arial" pitchFamily="34" charset="-120"/>
              </a:rPr>
              <a:t>Pre-LN GPT · 6L · 8H · d=512</a:t>
            </a:r>
            <a:endParaRPr lang="en-US" sz="1650" dirty="0"/>
          </a:p>
        </p:txBody>
      </p:sp>
      <p:sp>
        <p:nvSpPr>
          <p:cNvPr id="12" name="Shape 10"/>
          <p:cNvSpPr/>
          <p:nvPr/>
        </p:nvSpPr>
        <p:spPr>
          <a:xfrm>
            <a:off x="1143000" y="5970389"/>
            <a:ext cx="3717965" cy="9525"/>
          </a:xfrm>
          <a:prstGeom prst="rect">
            <a:avLst/>
          </a:prstGeom>
          <a:solidFill>
            <a:srgbClr val="E4DCC6"/>
          </a:solidFill>
          <a:ln/>
        </p:spPr>
      </p:sp>
      <p:sp>
        <p:nvSpPr>
          <p:cNvPr id="13" name="Text 11"/>
          <p:cNvSpPr/>
          <p:nvPr/>
        </p:nvSpPr>
        <p:spPr>
          <a:xfrm>
            <a:off x="1143000" y="5504498"/>
            <a:ext cx="3600904" cy="389692"/>
          </a:xfrm>
          <a:prstGeom prst="rect">
            <a:avLst/>
          </a:prstGeom>
          <a:noFill/>
          <a:ln/>
        </p:spPr>
        <p:txBody>
          <a:bodyPr wrap="square" lIns="25400" tIns="25400" rIns="25400" bIns="25400" rtlCol="0" anchor="t">
            <a:normAutofit/>
          </a:bodyPr>
          <a:lstStyle/>
          <a:p>
            <a:pPr algn="l" indent="0" marL="0">
              <a:lnSpc>
                <a:spcPct val="142000"/>
              </a:lnSpc>
              <a:buNone/>
            </a:pPr>
            <a:r>
              <a:rPr lang="en-US" sz="1950" dirty="0">
                <a:solidFill>
                  <a:srgbClr val="3E3A33"/>
                </a:solidFill>
                <a:latin typeface="Arial" pitchFamily="34" charset="0"/>
                <a:ea typeface="Arial" pitchFamily="34" charset="-122"/>
                <a:cs typeface="Arial" pitchFamily="34" charset="-120"/>
              </a:rPr>
              <a:t>Parameters</a:t>
            </a:r>
            <a:endParaRPr lang="en-US" sz="1950" dirty="0"/>
          </a:p>
        </p:txBody>
      </p:sp>
      <p:sp>
        <p:nvSpPr>
          <p:cNvPr id="14" name="Shape 12"/>
          <p:cNvSpPr/>
          <p:nvPr/>
        </p:nvSpPr>
        <p:spPr>
          <a:xfrm>
            <a:off x="4860965" y="5970389"/>
            <a:ext cx="4364593" cy="9525"/>
          </a:xfrm>
          <a:prstGeom prst="rect">
            <a:avLst/>
          </a:prstGeom>
          <a:solidFill>
            <a:srgbClr val="E4DCC6"/>
          </a:solidFill>
          <a:ln/>
        </p:spPr>
      </p:sp>
      <p:sp>
        <p:nvSpPr>
          <p:cNvPr id="15" name="Text 13"/>
          <p:cNvSpPr/>
          <p:nvPr/>
        </p:nvSpPr>
        <p:spPr>
          <a:xfrm>
            <a:off x="4860965" y="5504498"/>
            <a:ext cx="4495531" cy="389692"/>
          </a:xfrm>
          <a:prstGeom prst="rect">
            <a:avLst/>
          </a:prstGeom>
          <a:noFill/>
          <a:ln/>
        </p:spPr>
        <p:txBody>
          <a:bodyPr wrap="square" lIns="25400" tIns="25400" rIns="25400" bIns="25400" rtlCol="0" anchor="t">
            <a:normAutofit/>
          </a:bodyPr>
          <a:lstStyle/>
          <a:p>
            <a:pPr algn="l" indent="0" marL="0">
              <a:lnSpc>
                <a:spcPct val="142000"/>
              </a:lnSpc>
              <a:buNone/>
            </a:pPr>
            <a:r>
              <a:rPr lang="en-US" sz="1650" b="1" dirty="0">
                <a:solidFill>
                  <a:srgbClr val="1A1A1A"/>
                </a:solidFill>
                <a:latin typeface="Arial" pitchFamily="34" charset="0"/>
                <a:ea typeface="Arial" pitchFamily="34" charset="-122"/>
                <a:cs typeface="Arial" pitchFamily="34" charset="-120"/>
              </a:rPr>
              <a:t>29,283,088</a:t>
            </a:r>
            <a:endParaRPr lang="en-US" sz="1650" dirty="0"/>
          </a:p>
        </p:txBody>
      </p:sp>
      <p:sp>
        <p:nvSpPr>
          <p:cNvPr id="16" name="Shape 14"/>
          <p:cNvSpPr/>
          <p:nvPr/>
        </p:nvSpPr>
        <p:spPr>
          <a:xfrm>
            <a:off x="1143000" y="6558201"/>
            <a:ext cx="3717965" cy="9525"/>
          </a:xfrm>
          <a:prstGeom prst="rect">
            <a:avLst/>
          </a:prstGeom>
          <a:solidFill>
            <a:srgbClr val="E4DCC6"/>
          </a:solidFill>
          <a:ln/>
        </p:spPr>
      </p:sp>
      <p:sp>
        <p:nvSpPr>
          <p:cNvPr id="17" name="Text 15"/>
          <p:cNvSpPr/>
          <p:nvPr/>
        </p:nvSpPr>
        <p:spPr>
          <a:xfrm>
            <a:off x="1143000" y="6092309"/>
            <a:ext cx="3600904" cy="389692"/>
          </a:xfrm>
          <a:prstGeom prst="rect">
            <a:avLst/>
          </a:prstGeom>
          <a:noFill/>
          <a:ln/>
        </p:spPr>
        <p:txBody>
          <a:bodyPr wrap="square" lIns="25400" tIns="25400" rIns="25400" bIns="25400" rtlCol="0" anchor="t">
            <a:normAutofit/>
          </a:bodyPr>
          <a:lstStyle/>
          <a:p>
            <a:pPr algn="l" indent="0" marL="0">
              <a:lnSpc>
                <a:spcPct val="142000"/>
              </a:lnSpc>
              <a:buNone/>
            </a:pPr>
            <a:r>
              <a:rPr lang="en-US" sz="1950" dirty="0">
                <a:solidFill>
                  <a:srgbClr val="3E3A33"/>
                </a:solidFill>
                <a:latin typeface="Arial" pitchFamily="34" charset="0"/>
                <a:ea typeface="Arial" pitchFamily="34" charset="-122"/>
                <a:cs typeface="Arial" pitchFamily="34" charset="-120"/>
              </a:rPr>
              <a:t>Vocab / context</a:t>
            </a:r>
            <a:endParaRPr lang="en-US" sz="1950" dirty="0"/>
          </a:p>
        </p:txBody>
      </p:sp>
      <p:sp>
        <p:nvSpPr>
          <p:cNvPr id="18" name="Shape 16"/>
          <p:cNvSpPr/>
          <p:nvPr/>
        </p:nvSpPr>
        <p:spPr>
          <a:xfrm>
            <a:off x="4860965" y="6558201"/>
            <a:ext cx="4364593" cy="9525"/>
          </a:xfrm>
          <a:prstGeom prst="rect">
            <a:avLst/>
          </a:prstGeom>
          <a:solidFill>
            <a:srgbClr val="E4DCC6"/>
          </a:solidFill>
          <a:ln/>
        </p:spPr>
      </p:sp>
      <p:sp>
        <p:nvSpPr>
          <p:cNvPr id="19" name="Text 17"/>
          <p:cNvSpPr/>
          <p:nvPr/>
        </p:nvSpPr>
        <p:spPr>
          <a:xfrm>
            <a:off x="4860965" y="6092309"/>
            <a:ext cx="4495531" cy="389692"/>
          </a:xfrm>
          <a:prstGeom prst="rect">
            <a:avLst/>
          </a:prstGeom>
          <a:noFill/>
          <a:ln/>
        </p:spPr>
        <p:txBody>
          <a:bodyPr wrap="square" lIns="25400" tIns="25400" rIns="25400" bIns="25400" rtlCol="0" anchor="t">
            <a:normAutofit/>
          </a:bodyPr>
          <a:lstStyle/>
          <a:p>
            <a:pPr algn="l" indent="0" marL="0">
              <a:lnSpc>
                <a:spcPct val="142000"/>
              </a:lnSpc>
              <a:buNone/>
            </a:pPr>
            <a:r>
              <a:rPr lang="en-US" sz="1650" b="1" dirty="0">
                <a:solidFill>
                  <a:srgbClr val="1A1A1A"/>
                </a:solidFill>
                <a:latin typeface="Arial" pitchFamily="34" charset="0"/>
                <a:ea typeface="Arial" pitchFamily="34" charset="-122"/>
                <a:cs typeface="Arial" pitchFamily="34" charset="-120"/>
              </a:rPr>
              <a:t>10,000 · 256 tokens</a:t>
            </a:r>
            <a:endParaRPr lang="en-US" sz="1650" dirty="0"/>
          </a:p>
        </p:txBody>
      </p:sp>
      <p:sp>
        <p:nvSpPr>
          <p:cNvPr id="20" name="Shape 18"/>
          <p:cNvSpPr/>
          <p:nvPr/>
        </p:nvSpPr>
        <p:spPr>
          <a:xfrm>
            <a:off x="1143000" y="7146012"/>
            <a:ext cx="3717965" cy="9525"/>
          </a:xfrm>
          <a:prstGeom prst="rect">
            <a:avLst/>
          </a:prstGeom>
          <a:solidFill>
            <a:srgbClr val="E4DCC6"/>
          </a:solidFill>
          <a:ln/>
        </p:spPr>
      </p:sp>
      <p:sp>
        <p:nvSpPr>
          <p:cNvPr id="21" name="Text 19"/>
          <p:cNvSpPr/>
          <p:nvPr/>
        </p:nvSpPr>
        <p:spPr>
          <a:xfrm>
            <a:off x="1143000" y="6680121"/>
            <a:ext cx="3600904" cy="389692"/>
          </a:xfrm>
          <a:prstGeom prst="rect">
            <a:avLst/>
          </a:prstGeom>
          <a:noFill/>
          <a:ln/>
        </p:spPr>
        <p:txBody>
          <a:bodyPr wrap="square" lIns="25400" tIns="25400" rIns="25400" bIns="25400" rtlCol="0" anchor="t">
            <a:normAutofit/>
          </a:bodyPr>
          <a:lstStyle/>
          <a:p>
            <a:pPr algn="l" indent="0" marL="0">
              <a:lnSpc>
                <a:spcPct val="142000"/>
              </a:lnSpc>
              <a:buNone/>
            </a:pPr>
            <a:r>
              <a:rPr lang="en-US" sz="1950" dirty="0">
                <a:solidFill>
                  <a:srgbClr val="3E3A33"/>
                </a:solidFill>
                <a:latin typeface="Arial" pitchFamily="34" charset="0"/>
                <a:ea typeface="Arial" pitchFamily="34" charset="-122"/>
                <a:cs typeface="Arial" pitchFamily="34" charset="-120"/>
              </a:rPr>
              <a:t>Optimizer</a:t>
            </a:r>
            <a:endParaRPr lang="en-US" sz="1950" dirty="0"/>
          </a:p>
        </p:txBody>
      </p:sp>
      <p:sp>
        <p:nvSpPr>
          <p:cNvPr id="22" name="Shape 20"/>
          <p:cNvSpPr/>
          <p:nvPr/>
        </p:nvSpPr>
        <p:spPr>
          <a:xfrm>
            <a:off x="4860965" y="7146012"/>
            <a:ext cx="4364593" cy="9525"/>
          </a:xfrm>
          <a:prstGeom prst="rect">
            <a:avLst/>
          </a:prstGeom>
          <a:solidFill>
            <a:srgbClr val="E4DCC6"/>
          </a:solidFill>
          <a:ln/>
        </p:spPr>
      </p:sp>
      <p:sp>
        <p:nvSpPr>
          <p:cNvPr id="23" name="Text 21"/>
          <p:cNvSpPr/>
          <p:nvPr/>
        </p:nvSpPr>
        <p:spPr>
          <a:xfrm>
            <a:off x="4860965" y="6680121"/>
            <a:ext cx="4495531" cy="389692"/>
          </a:xfrm>
          <a:prstGeom prst="rect">
            <a:avLst/>
          </a:prstGeom>
          <a:noFill/>
          <a:ln/>
        </p:spPr>
        <p:txBody>
          <a:bodyPr wrap="square" lIns="25400" tIns="25400" rIns="25400" bIns="25400" rtlCol="0" anchor="t">
            <a:normAutofit/>
          </a:bodyPr>
          <a:lstStyle/>
          <a:p>
            <a:pPr algn="l" indent="0" marL="0">
              <a:lnSpc>
                <a:spcPct val="142000"/>
              </a:lnSpc>
              <a:buNone/>
            </a:pPr>
            <a:r>
              <a:rPr lang="en-US" sz="1650" b="1" dirty="0">
                <a:solidFill>
                  <a:srgbClr val="1A1A1A"/>
                </a:solidFill>
                <a:latin typeface="Arial" pitchFamily="34" charset="0"/>
                <a:ea typeface="Arial" pitchFamily="34" charset="-122"/>
                <a:cs typeface="Arial" pitchFamily="34" charset="-120"/>
              </a:rPr>
              <a:t>AdamW · lr = 3·10⁻⁴</a:t>
            </a:r>
            <a:endParaRPr lang="en-US" sz="1650" dirty="0"/>
          </a:p>
        </p:txBody>
      </p:sp>
      <p:sp>
        <p:nvSpPr>
          <p:cNvPr id="24" name="Shape 22"/>
          <p:cNvSpPr/>
          <p:nvPr/>
        </p:nvSpPr>
        <p:spPr>
          <a:xfrm>
            <a:off x="1143000" y="7733824"/>
            <a:ext cx="3717965" cy="9525"/>
          </a:xfrm>
          <a:prstGeom prst="rect">
            <a:avLst/>
          </a:prstGeom>
          <a:solidFill>
            <a:srgbClr val="E4DCC6"/>
          </a:solidFill>
          <a:ln/>
        </p:spPr>
      </p:sp>
      <p:sp>
        <p:nvSpPr>
          <p:cNvPr id="25" name="Text 23"/>
          <p:cNvSpPr/>
          <p:nvPr/>
        </p:nvSpPr>
        <p:spPr>
          <a:xfrm>
            <a:off x="1143000" y="7267933"/>
            <a:ext cx="3600904" cy="389692"/>
          </a:xfrm>
          <a:prstGeom prst="rect">
            <a:avLst/>
          </a:prstGeom>
          <a:noFill/>
          <a:ln/>
        </p:spPr>
        <p:txBody>
          <a:bodyPr wrap="square" lIns="25400" tIns="25400" rIns="25400" bIns="25400" rtlCol="0" anchor="t">
            <a:normAutofit/>
          </a:bodyPr>
          <a:lstStyle/>
          <a:p>
            <a:pPr algn="l" indent="0" marL="0">
              <a:lnSpc>
                <a:spcPct val="142000"/>
              </a:lnSpc>
              <a:buNone/>
            </a:pPr>
            <a:r>
              <a:rPr lang="en-US" sz="1950" dirty="0">
                <a:solidFill>
                  <a:srgbClr val="3E3A33"/>
                </a:solidFill>
                <a:latin typeface="Arial" pitchFamily="34" charset="0"/>
                <a:ea typeface="Arial" pitchFamily="34" charset="-122"/>
                <a:cs typeface="Arial" pitchFamily="34" charset="-120"/>
              </a:rPr>
              <a:t>Schedule</a:t>
            </a:r>
            <a:endParaRPr lang="en-US" sz="1950" dirty="0"/>
          </a:p>
        </p:txBody>
      </p:sp>
      <p:sp>
        <p:nvSpPr>
          <p:cNvPr id="26" name="Shape 24"/>
          <p:cNvSpPr/>
          <p:nvPr/>
        </p:nvSpPr>
        <p:spPr>
          <a:xfrm>
            <a:off x="4860965" y="7733824"/>
            <a:ext cx="4364593" cy="9525"/>
          </a:xfrm>
          <a:prstGeom prst="rect">
            <a:avLst/>
          </a:prstGeom>
          <a:solidFill>
            <a:srgbClr val="E4DCC6"/>
          </a:solidFill>
          <a:ln/>
        </p:spPr>
      </p:sp>
      <p:sp>
        <p:nvSpPr>
          <p:cNvPr id="27" name="Text 25"/>
          <p:cNvSpPr/>
          <p:nvPr/>
        </p:nvSpPr>
        <p:spPr>
          <a:xfrm>
            <a:off x="4860965" y="7267933"/>
            <a:ext cx="4495531" cy="389692"/>
          </a:xfrm>
          <a:prstGeom prst="rect">
            <a:avLst/>
          </a:prstGeom>
          <a:noFill/>
          <a:ln/>
        </p:spPr>
        <p:txBody>
          <a:bodyPr wrap="square" lIns="25400" tIns="25400" rIns="25400" bIns="25400" rtlCol="0" anchor="t">
            <a:normAutofit/>
          </a:bodyPr>
          <a:lstStyle/>
          <a:p>
            <a:pPr algn="l" indent="0" marL="0">
              <a:lnSpc>
                <a:spcPct val="142000"/>
              </a:lnSpc>
              <a:buNone/>
            </a:pPr>
            <a:r>
              <a:rPr lang="en-US" sz="1650" b="1" dirty="0">
                <a:solidFill>
                  <a:srgbClr val="1A1A1A"/>
                </a:solidFill>
                <a:latin typeface="Arial" pitchFamily="34" charset="0"/>
                <a:ea typeface="Arial" pitchFamily="34" charset="-122"/>
                <a:cs typeface="Arial" pitchFamily="34" charset="-120"/>
              </a:rPr>
              <a:t>warmup 500 · cosine → 10%</a:t>
            </a:r>
            <a:endParaRPr lang="en-US" sz="1650" dirty="0"/>
          </a:p>
        </p:txBody>
      </p:sp>
      <p:sp>
        <p:nvSpPr>
          <p:cNvPr id="28" name="Shape 26"/>
          <p:cNvSpPr/>
          <p:nvPr/>
        </p:nvSpPr>
        <p:spPr>
          <a:xfrm>
            <a:off x="1143000" y="8321635"/>
            <a:ext cx="3717965" cy="9525"/>
          </a:xfrm>
          <a:prstGeom prst="rect">
            <a:avLst/>
          </a:prstGeom>
          <a:solidFill>
            <a:srgbClr val="E4DCC6"/>
          </a:solidFill>
          <a:ln/>
        </p:spPr>
      </p:sp>
      <p:sp>
        <p:nvSpPr>
          <p:cNvPr id="29" name="Text 27"/>
          <p:cNvSpPr/>
          <p:nvPr/>
        </p:nvSpPr>
        <p:spPr>
          <a:xfrm>
            <a:off x="1143000" y="7855744"/>
            <a:ext cx="3600904" cy="389692"/>
          </a:xfrm>
          <a:prstGeom prst="rect">
            <a:avLst/>
          </a:prstGeom>
          <a:noFill/>
          <a:ln/>
        </p:spPr>
        <p:txBody>
          <a:bodyPr wrap="square" lIns="25400" tIns="25400" rIns="25400" bIns="25400" rtlCol="0" anchor="t">
            <a:normAutofit/>
          </a:bodyPr>
          <a:lstStyle/>
          <a:p>
            <a:pPr algn="l" indent="0" marL="0">
              <a:lnSpc>
                <a:spcPct val="142000"/>
              </a:lnSpc>
              <a:buNone/>
            </a:pPr>
            <a:r>
              <a:rPr lang="en-US" sz="1950" dirty="0">
                <a:solidFill>
                  <a:srgbClr val="3E3A33"/>
                </a:solidFill>
                <a:latin typeface="Arial" pitchFamily="34" charset="0"/>
                <a:ea typeface="Arial" pitchFamily="34" charset="-122"/>
                <a:cs typeface="Arial" pitchFamily="34" charset="-120"/>
              </a:rPr>
              <a:t>Batch / clip</a:t>
            </a:r>
            <a:endParaRPr lang="en-US" sz="1950" dirty="0"/>
          </a:p>
        </p:txBody>
      </p:sp>
      <p:sp>
        <p:nvSpPr>
          <p:cNvPr id="30" name="Shape 28"/>
          <p:cNvSpPr/>
          <p:nvPr/>
        </p:nvSpPr>
        <p:spPr>
          <a:xfrm>
            <a:off x="4860965" y="8321635"/>
            <a:ext cx="4364593" cy="9525"/>
          </a:xfrm>
          <a:prstGeom prst="rect">
            <a:avLst/>
          </a:prstGeom>
          <a:solidFill>
            <a:srgbClr val="E4DCC6"/>
          </a:solidFill>
          <a:ln/>
        </p:spPr>
      </p:sp>
      <p:sp>
        <p:nvSpPr>
          <p:cNvPr id="31" name="Text 29"/>
          <p:cNvSpPr/>
          <p:nvPr/>
        </p:nvSpPr>
        <p:spPr>
          <a:xfrm>
            <a:off x="4860965" y="7855744"/>
            <a:ext cx="4495531" cy="389692"/>
          </a:xfrm>
          <a:prstGeom prst="rect">
            <a:avLst/>
          </a:prstGeom>
          <a:noFill/>
          <a:ln/>
        </p:spPr>
        <p:txBody>
          <a:bodyPr wrap="square" lIns="25400" tIns="25400" rIns="25400" bIns="25400" rtlCol="0" anchor="t">
            <a:normAutofit/>
          </a:bodyPr>
          <a:lstStyle/>
          <a:p>
            <a:pPr algn="l" indent="0" marL="0">
              <a:lnSpc>
                <a:spcPct val="142000"/>
              </a:lnSpc>
              <a:buNone/>
            </a:pPr>
            <a:r>
              <a:rPr lang="en-US" sz="1650" b="1" dirty="0">
                <a:solidFill>
                  <a:srgbClr val="1A1A1A"/>
                </a:solidFill>
                <a:latin typeface="Arial" pitchFamily="34" charset="0"/>
                <a:ea typeface="Arial" pitchFamily="34" charset="-122"/>
                <a:cs typeface="Arial" pitchFamily="34" charset="-120"/>
              </a:rPr>
              <a:t>32 · 1.0</a:t>
            </a:r>
            <a:endParaRPr lang="en-US" sz="1650" dirty="0"/>
          </a:p>
        </p:txBody>
      </p:sp>
      <p:sp>
        <p:nvSpPr>
          <p:cNvPr id="32" name="Shape 30"/>
          <p:cNvSpPr/>
          <p:nvPr/>
        </p:nvSpPr>
        <p:spPr>
          <a:xfrm>
            <a:off x="1143000" y="8909447"/>
            <a:ext cx="3717965" cy="9525"/>
          </a:xfrm>
          <a:prstGeom prst="rect">
            <a:avLst/>
          </a:prstGeom>
          <a:solidFill>
            <a:srgbClr val="E4DCC6"/>
          </a:solidFill>
          <a:ln/>
        </p:spPr>
      </p:sp>
      <p:sp>
        <p:nvSpPr>
          <p:cNvPr id="33" name="Text 31"/>
          <p:cNvSpPr/>
          <p:nvPr/>
        </p:nvSpPr>
        <p:spPr>
          <a:xfrm>
            <a:off x="1143000" y="8443556"/>
            <a:ext cx="3600904" cy="389692"/>
          </a:xfrm>
          <a:prstGeom prst="rect">
            <a:avLst/>
          </a:prstGeom>
          <a:noFill/>
          <a:ln/>
        </p:spPr>
        <p:txBody>
          <a:bodyPr wrap="square" lIns="25400" tIns="25400" rIns="25400" bIns="25400" rtlCol="0" anchor="t">
            <a:normAutofit/>
          </a:bodyPr>
          <a:lstStyle/>
          <a:p>
            <a:pPr algn="l" indent="0" marL="0">
              <a:lnSpc>
                <a:spcPct val="142000"/>
              </a:lnSpc>
              <a:buNone/>
            </a:pPr>
            <a:r>
              <a:rPr lang="en-US" sz="1950" dirty="0">
                <a:solidFill>
                  <a:srgbClr val="3E3A33"/>
                </a:solidFill>
                <a:latin typeface="Arial" pitchFamily="34" charset="0"/>
                <a:ea typeface="Arial" pitchFamily="34" charset="-122"/>
                <a:cs typeface="Arial" pitchFamily="34" charset="-120"/>
              </a:rPr>
              <a:t>Training corpus</a:t>
            </a:r>
            <a:endParaRPr lang="en-US" sz="1950" dirty="0"/>
          </a:p>
        </p:txBody>
      </p:sp>
      <p:sp>
        <p:nvSpPr>
          <p:cNvPr id="34" name="Shape 32"/>
          <p:cNvSpPr/>
          <p:nvPr/>
        </p:nvSpPr>
        <p:spPr>
          <a:xfrm>
            <a:off x="4860965" y="8909447"/>
            <a:ext cx="4364593" cy="9525"/>
          </a:xfrm>
          <a:prstGeom prst="rect">
            <a:avLst/>
          </a:prstGeom>
          <a:solidFill>
            <a:srgbClr val="E4DCC6"/>
          </a:solidFill>
          <a:ln/>
        </p:spPr>
      </p:sp>
      <p:sp>
        <p:nvSpPr>
          <p:cNvPr id="35" name="Text 33"/>
          <p:cNvSpPr/>
          <p:nvPr/>
        </p:nvSpPr>
        <p:spPr>
          <a:xfrm>
            <a:off x="4860965" y="8443556"/>
            <a:ext cx="4495531" cy="389692"/>
          </a:xfrm>
          <a:prstGeom prst="rect">
            <a:avLst/>
          </a:prstGeom>
          <a:noFill/>
          <a:ln/>
        </p:spPr>
        <p:txBody>
          <a:bodyPr wrap="square" lIns="25400" tIns="25400" rIns="25400" bIns="25400" rtlCol="0" anchor="t">
            <a:normAutofit/>
          </a:bodyPr>
          <a:lstStyle/>
          <a:p>
            <a:pPr algn="l" indent="0" marL="0">
              <a:lnSpc>
                <a:spcPct val="142000"/>
              </a:lnSpc>
              <a:buNone/>
            </a:pPr>
            <a:r>
              <a:rPr lang="en-US" sz="1650" b="1" dirty="0">
                <a:solidFill>
                  <a:srgbClr val="1A1A1A"/>
                </a:solidFill>
                <a:latin typeface="Arial" pitchFamily="34" charset="0"/>
                <a:ea typeface="Arial" pitchFamily="34" charset="-122"/>
                <a:cs typeface="Arial" pitchFamily="34" charset="-120"/>
              </a:rPr>
              <a:t>100k PubMed abstracts</a:t>
            </a:r>
            <a:endParaRPr lang="en-US" sz="1650" dirty="0"/>
          </a:p>
        </p:txBody>
      </p:sp>
      <p:sp>
        <p:nvSpPr>
          <p:cNvPr id="36" name="Shape 34"/>
          <p:cNvSpPr/>
          <p:nvPr/>
        </p:nvSpPr>
        <p:spPr>
          <a:xfrm>
            <a:off x="1143000" y="9493448"/>
            <a:ext cx="3717965" cy="15240"/>
          </a:xfrm>
          <a:prstGeom prst="rect">
            <a:avLst/>
          </a:prstGeom>
          <a:solidFill>
            <a:srgbClr val="1A1A1A"/>
          </a:solidFill>
          <a:ln/>
        </p:spPr>
      </p:sp>
      <p:sp>
        <p:nvSpPr>
          <p:cNvPr id="37" name="Text 35"/>
          <p:cNvSpPr/>
          <p:nvPr/>
        </p:nvSpPr>
        <p:spPr>
          <a:xfrm>
            <a:off x="1143000" y="9031367"/>
            <a:ext cx="3600904" cy="385882"/>
          </a:xfrm>
          <a:prstGeom prst="rect">
            <a:avLst/>
          </a:prstGeom>
          <a:noFill/>
          <a:ln/>
        </p:spPr>
        <p:txBody>
          <a:bodyPr wrap="square" lIns="25400" tIns="25400" rIns="25400" bIns="25400" rtlCol="0" anchor="t">
            <a:normAutofit/>
          </a:bodyPr>
          <a:lstStyle/>
          <a:p>
            <a:pPr algn="l" indent="0" marL="0">
              <a:lnSpc>
                <a:spcPct val="142000"/>
              </a:lnSpc>
              <a:buNone/>
            </a:pPr>
            <a:r>
              <a:rPr lang="en-US" sz="1950" dirty="0">
                <a:solidFill>
                  <a:srgbClr val="3E3A33"/>
                </a:solidFill>
                <a:latin typeface="Arial" pitchFamily="34" charset="0"/>
                <a:ea typeface="Arial" pitchFamily="34" charset="-122"/>
                <a:cs typeface="Arial" pitchFamily="34" charset="-120"/>
              </a:rPr>
              <a:t>Epochs</a:t>
            </a:r>
            <a:endParaRPr lang="en-US" sz="1950" dirty="0"/>
          </a:p>
        </p:txBody>
      </p:sp>
      <p:sp>
        <p:nvSpPr>
          <p:cNvPr id="38" name="Shape 36"/>
          <p:cNvSpPr/>
          <p:nvPr/>
        </p:nvSpPr>
        <p:spPr>
          <a:xfrm>
            <a:off x="4860965" y="9493448"/>
            <a:ext cx="4364593" cy="15240"/>
          </a:xfrm>
          <a:prstGeom prst="rect">
            <a:avLst/>
          </a:prstGeom>
          <a:solidFill>
            <a:srgbClr val="1A1A1A"/>
          </a:solidFill>
          <a:ln/>
        </p:spPr>
      </p:sp>
      <p:sp>
        <p:nvSpPr>
          <p:cNvPr id="39" name="Text 37"/>
          <p:cNvSpPr/>
          <p:nvPr/>
        </p:nvSpPr>
        <p:spPr>
          <a:xfrm>
            <a:off x="4860965" y="9031367"/>
            <a:ext cx="4495531" cy="385882"/>
          </a:xfrm>
          <a:prstGeom prst="rect">
            <a:avLst/>
          </a:prstGeom>
          <a:noFill/>
          <a:ln/>
        </p:spPr>
        <p:txBody>
          <a:bodyPr wrap="square" lIns="25400" tIns="25400" rIns="25400" bIns="25400" rtlCol="0" anchor="t">
            <a:normAutofit/>
          </a:bodyPr>
          <a:lstStyle/>
          <a:p>
            <a:pPr algn="l" indent="0" marL="0">
              <a:lnSpc>
                <a:spcPct val="142000"/>
              </a:lnSpc>
              <a:buNone/>
            </a:pPr>
            <a:r>
              <a:rPr lang="en-US" sz="1650" b="1" dirty="0">
                <a:solidFill>
                  <a:srgbClr val="1A1A1A"/>
                </a:solidFill>
                <a:latin typeface="Arial" pitchFamily="34" charset="0"/>
                <a:ea typeface="Arial" pitchFamily="34" charset="-122"/>
                <a:cs typeface="Arial" pitchFamily="34" charset="-120"/>
              </a:rPr>
              <a:t>2</a:t>
            </a:r>
            <a:endParaRPr lang="en-US" sz="1650" dirty="0"/>
          </a:p>
        </p:txBody>
      </p:sp>
      <p:sp>
        <p:nvSpPr>
          <p:cNvPr id="40" name="Text 38"/>
          <p:cNvSpPr/>
          <p:nvPr/>
        </p:nvSpPr>
        <p:spPr>
          <a:xfrm>
            <a:off x="9797058" y="4214932"/>
            <a:ext cx="7568380"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spc="288" kern="0" dirty="0">
                <a:solidFill>
                  <a:srgbClr val="8A8375"/>
                </a:solidFill>
                <a:latin typeface="Arial" pitchFamily="34" charset="0"/>
                <a:ea typeface="Arial" pitchFamily="34" charset="-122"/>
                <a:cs typeface="Arial" pitchFamily="34" charset="-120"/>
              </a:rPr>
              <a:t>VARIED · ONE VARIABLE</a:t>
            </a:r>
            <a:endParaRPr lang="en-US" sz="1800" dirty="0"/>
          </a:p>
        </p:txBody>
      </p:sp>
      <p:sp>
        <p:nvSpPr>
          <p:cNvPr id="41" name="Shape 39"/>
          <p:cNvSpPr/>
          <p:nvPr/>
        </p:nvSpPr>
        <p:spPr>
          <a:xfrm>
            <a:off x="9797058" y="4806196"/>
            <a:ext cx="7347942" cy="1734622"/>
          </a:xfrm>
          <a:prstGeom prst="rect">
            <a:avLst/>
          </a:prstGeom>
          <a:solidFill>
            <a:srgbClr val="FFFDF7"/>
          </a:solidFill>
          <a:ln/>
        </p:spPr>
      </p:sp>
      <p:sp>
        <p:nvSpPr>
          <p:cNvPr id="42" name="Shape 40"/>
          <p:cNvSpPr/>
          <p:nvPr/>
        </p:nvSpPr>
        <p:spPr>
          <a:xfrm>
            <a:off x="9797058" y="6533197"/>
            <a:ext cx="7347942" cy="9525"/>
          </a:xfrm>
          <a:prstGeom prst="rect">
            <a:avLst/>
          </a:prstGeom>
          <a:solidFill>
            <a:srgbClr val="E4DCC6"/>
          </a:solidFill>
          <a:ln/>
        </p:spPr>
      </p:sp>
      <p:sp>
        <p:nvSpPr>
          <p:cNvPr id="43" name="Shape 41"/>
          <p:cNvSpPr/>
          <p:nvPr/>
        </p:nvSpPr>
        <p:spPr>
          <a:xfrm>
            <a:off x="9797058" y="4806196"/>
            <a:ext cx="7347942" cy="9525"/>
          </a:xfrm>
          <a:prstGeom prst="rect">
            <a:avLst/>
          </a:prstGeom>
          <a:solidFill>
            <a:srgbClr val="E4DCC6"/>
          </a:solidFill>
          <a:ln/>
        </p:spPr>
      </p:sp>
      <p:sp>
        <p:nvSpPr>
          <p:cNvPr id="44" name="Shape 42"/>
          <p:cNvSpPr/>
          <p:nvPr/>
        </p:nvSpPr>
        <p:spPr>
          <a:xfrm>
            <a:off x="9797058" y="4806196"/>
            <a:ext cx="45720" cy="1734622"/>
          </a:xfrm>
          <a:prstGeom prst="rect">
            <a:avLst/>
          </a:prstGeom>
          <a:solidFill>
            <a:srgbClr val="2457A8"/>
          </a:solidFill>
          <a:ln/>
        </p:spPr>
      </p:sp>
      <p:sp>
        <p:nvSpPr>
          <p:cNvPr id="45" name="Shape 43"/>
          <p:cNvSpPr/>
          <p:nvPr/>
        </p:nvSpPr>
        <p:spPr>
          <a:xfrm>
            <a:off x="17137380" y="4806196"/>
            <a:ext cx="9525" cy="1734622"/>
          </a:xfrm>
          <a:prstGeom prst="rect">
            <a:avLst/>
          </a:prstGeom>
          <a:solidFill>
            <a:srgbClr val="E4DCC6"/>
          </a:solidFill>
          <a:ln/>
        </p:spPr>
      </p:sp>
      <p:sp>
        <p:nvSpPr>
          <p:cNvPr id="46" name="Text 44"/>
          <p:cNvSpPr/>
          <p:nvPr/>
        </p:nvSpPr>
        <p:spPr>
          <a:xfrm>
            <a:off x="10185678" y="5099566"/>
            <a:ext cx="978575" cy="389692"/>
          </a:xfrm>
          <a:prstGeom prst="rect">
            <a:avLst/>
          </a:prstGeom>
          <a:noFill/>
          <a:ln/>
        </p:spPr>
        <p:txBody>
          <a:bodyPr wrap="square" lIns="25400" tIns="25400" rIns="25400" bIns="25400" rtlCol="0" anchor="t">
            <a:normAutofit/>
          </a:bodyPr>
          <a:lstStyle/>
          <a:p>
            <a:pPr algn="l" indent="0" marL="0">
              <a:lnSpc>
                <a:spcPct val="142000"/>
              </a:lnSpc>
              <a:buNone/>
            </a:pPr>
            <a:r>
              <a:rPr lang="en-US" sz="1950" b="1" dirty="0">
                <a:solidFill>
                  <a:srgbClr val="2457A8"/>
                </a:solidFill>
                <a:latin typeface="Arial" pitchFamily="34" charset="0"/>
                <a:ea typeface="Arial" pitchFamily="34" charset="-122"/>
                <a:cs typeface="Arial" pitchFamily="34" charset="-120"/>
              </a:rPr>
              <a:t>general</a:t>
            </a:r>
            <a:endParaRPr lang="en-US" sz="1950" dirty="0"/>
          </a:p>
        </p:txBody>
      </p:sp>
      <p:sp>
        <p:nvSpPr>
          <p:cNvPr id="47" name="Text 45"/>
          <p:cNvSpPr/>
          <p:nvPr/>
        </p:nvSpPr>
        <p:spPr>
          <a:xfrm>
            <a:off x="15545038" y="5160526"/>
            <a:ext cx="1325642" cy="308610"/>
          </a:xfrm>
          <a:prstGeom prst="rect">
            <a:avLst/>
          </a:prstGeom>
          <a:noFill/>
          <a:ln/>
        </p:spPr>
        <p:txBody>
          <a:bodyPr wrap="square" lIns="25400" tIns="25400" rIns="25400" bIns="25400" rtlCol="0" anchor="t">
            <a:normAutofit/>
          </a:bodyPr>
          <a:lstStyle/>
          <a:p>
            <a:pPr algn="l" indent="0" marL="0">
              <a:lnSpc>
                <a:spcPct val="142000"/>
              </a:lnSpc>
              <a:buNone/>
            </a:pPr>
            <a:r>
              <a:rPr lang="en-US" sz="1500" dirty="0">
                <a:solidFill>
                  <a:srgbClr val="8A8375"/>
                </a:solidFill>
                <a:latin typeface="Arial" pitchFamily="34" charset="0"/>
                <a:ea typeface="Arial" pitchFamily="34" charset="-122"/>
                <a:cs typeface="Arial" pitchFamily="34" charset="-120"/>
              </a:rPr>
              <a:t>byte-level BPE</a:t>
            </a:r>
            <a:endParaRPr lang="en-US" sz="1500" dirty="0"/>
          </a:p>
        </p:txBody>
      </p:sp>
      <p:sp>
        <p:nvSpPr>
          <p:cNvPr id="48" name="Text 46"/>
          <p:cNvSpPr/>
          <p:nvPr/>
        </p:nvSpPr>
        <p:spPr>
          <a:xfrm>
            <a:off x="10185678" y="5546407"/>
            <a:ext cx="6807066" cy="73914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1A1A1A"/>
                </a:solidFill>
                <a:latin typeface="Arial" pitchFamily="34" charset="0"/>
                <a:ea typeface="Arial" pitchFamily="34" charset="-122"/>
                <a:cs typeface="Arial" pitchFamily="34" charset="-120"/>
              </a:rPr>
              <a:t>Trained on </a:t>
            </a:r>
            <a:pPr algn="l" indent="0" marL="0">
              <a:lnSpc>
                <a:spcPct val="140000"/>
              </a:lnSpc>
              <a:buNone/>
            </a:pPr>
            <a:r>
              <a:rPr lang="en-US" sz="1950" b="1" dirty="0">
                <a:solidFill>
                  <a:srgbClr val="1A1A1A"/>
                </a:solidFill>
                <a:latin typeface="Arial" pitchFamily="34" charset="0"/>
                <a:ea typeface="Arial" pitchFamily="34" charset="-122"/>
                <a:cs typeface="Arial" pitchFamily="34" charset="-120"/>
              </a:rPr>
              <a:t>wikitext-103 </a:t>
            </a:r>
            <a:pPr algn="l" indent="0" marL="0">
              <a:lnSpc>
                <a:spcPct val="140000"/>
              </a:lnSpc>
              <a:buNone/>
            </a:pPr>
            <a:r>
              <a:rPr lang="en-US" sz="1950" dirty="0">
                <a:solidFill>
                  <a:srgbClr val="1A1A1A"/>
                </a:solidFill>
                <a:latin typeface="Arial" pitchFamily="34" charset="0"/>
                <a:ea typeface="Arial" pitchFamily="34" charset="-122"/>
                <a:cs typeface="Arial" pitchFamily="34" charset="-120"/>
              </a:rPr>
              <a:t>(129k lines). General-purpose web-text vocabulary.</a:t>
            </a:r>
            <a:endParaRPr lang="en-US" sz="1950" dirty="0"/>
          </a:p>
        </p:txBody>
      </p:sp>
      <p:sp>
        <p:nvSpPr>
          <p:cNvPr id="49" name="Shape 47"/>
          <p:cNvSpPr/>
          <p:nvPr/>
        </p:nvSpPr>
        <p:spPr>
          <a:xfrm>
            <a:off x="9797058" y="6750368"/>
            <a:ext cx="7347942" cy="1734622"/>
          </a:xfrm>
          <a:prstGeom prst="rect">
            <a:avLst/>
          </a:prstGeom>
          <a:solidFill>
            <a:srgbClr val="FFFDF7"/>
          </a:solidFill>
          <a:ln/>
        </p:spPr>
      </p:sp>
      <p:sp>
        <p:nvSpPr>
          <p:cNvPr id="50" name="Shape 48"/>
          <p:cNvSpPr/>
          <p:nvPr/>
        </p:nvSpPr>
        <p:spPr>
          <a:xfrm>
            <a:off x="9797058" y="8477369"/>
            <a:ext cx="7347942" cy="9525"/>
          </a:xfrm>
          <a:prstGeom prst="rect">
            <a:avLst/>
          </a:prstGeom>
          <a:solidFill>
            <a:srgbClr val="E4DCC6"/>
          </a:solidFill>
          <a:ln/>
        </p:spPr>
      </p:sp>
      <p:sp>
        <p:nvSpPr>
          <p:cNvPr id="51" name="Shape 49"/>
          <p:cNvSpPr/>
          <p:nvPr/>
        </p:nvSpPr>
        <p:spPr>
          <a:xfrm>
            <a:off x="9797058" y="6750368"/>
            <a:ext cx="7347942" cy="9525"/>
          </a:xfrm>
          <a:prstGeom prst="rect">
            <a:avLst/>
          </a:prstGeom>
          <a:solidFill>
            <a:srgbClr val="E4DCC6"/>
          </a:solidFill>
          <a:ln/>
        </p:spPr>
      </p:sp>
      <p:sp>
        <p:nvSpPr>
          <p:cNvPr id="52" name="Shape 50"/>
          <p:cNvSpPr/>
          <p:nvPr/>
        </p:nvSpPr>
        <p:spPr>
          <a:xfrm>
            <a:off x="9797058" y="6750368"/>
            <a:ext cx="45720" cy="1734622"/>
          </a:xfrm>
          <a:prstGeom prst="rect">
            <a:avLst/>
          </a:prstGeom>
          <a:solidFill>
            <a:srgbClr val="B6351D"/>
          </a:solidFill>
          <a:ln/>
        </p:spPr>
      </p:sp>
      <p:sp>
        <p:nvSpPr>
          <p:cNvPr id="53" name="Shape 51"/>
          <p:cNvSpPr/>
          <p:nvPr/>
        </p:nvSpPr>
        <p:spPr>
          <a:xfrm>
            <a:off x="17137380" y="6750368"/>
            <a:ext cx="9525" cy="1734622"/>
          </a:xfrm>
          <a:prstGeom prst="rect">
            <a:avLst/>
          </a:prstGeom>
          <a:solidFill>
            <a:srgbClr val="E4DCC6"/>
          </a:solidFill>
          <a:ln/>
        </p:spPr>
      </p:sp>
      <p:sp>
        <p:nvSpPr>
          <p:cNvPr id="54" name="Text 52"/>
          <p:cNvSpPr/>
          <p:nvPr/>
        </p:nvSpPr>
        <p:spPr>
          <a:xfrm>
            <a:off x="10185678" y="7043738"/>
            <a:ext cx="1018699" cy="389692"/>
          </a:xfrm>
          <a:prstGeom prst="rect">
            <a:avLst/>
          </a:prstGeom>
          <a:noFill/>
          <a:ln/>
        </p:spPr>
        <p:txBody>
          <a:bodyPr wrap="square" lIns="25400" tIns="25400" rIns="25400" bIns="25400" rtlCol="0" anchor="t">
            <a:normAutofit/>
          </a:bodyPr>
          <a:lstStyle/>
          <a:p>
            <a:pPr algn="l" indent="0" marL="0">
              <a:lnSpc>
                <a:spcPct val="142000"/>
              </a:lnSpc>
              <a:buNone/>
            </a:pPr>
            <a:r>
              <a:rPr lang="en-US" sz="1950" b="1" dirty="0">
                <a:solidFill>
                  <a:srgbClr val="B6351D"/>
                </a:solidFill>
                <a:latin typeface="Arial" pitchFamily="34" charset="0"/>
                <a:ea typeface="Arial" pitchFamily="34" charset="-122"/>
                <a:cs typeface="Arial" pitchFamily="34" charset="-120"/>
              </a:rPr>
              <a:t>medical</a:t>
            </a:r>
            <a:endParaRPr lang="en-US" sz="1950" dirty="0"/>
          </a:p>
        </p:txBody>
      </p:sp>
      <p:sp>
        <p:nvSpPr>
          <p:cNvPr id="55" name="Text 53"/>
          <p:cNvSpPr/>
          <p:nvPr/>
        </p:nvSpPr>
        <p:spPr>
          <a:xfrm>
            <a:off x="15545038" y="7104698"/>
            <a:ext cx="1325642" cy="308610"/>
          </a:xfrm>
          <a:prstGeom prst="rect">
            <a:avLst/>
          </a:prstGeom>
          <a:noFill/>
          <a:ln/>
        </p:spPr>
        <p:txBody>
          <a:bodyPr wrap="square" lIns="25400" tIns="25400" rIns="25400" bIns="25400" rtlCol="0" anchor="t">
            <a:normAutofit/>
          </a:bodyPr>
          <a:lstStyle/>
          <a:p>
            <a:pPr algn="l" indent="0" marL="0">
              <a:lnSpc>
                <a:spcPct val="142000"/>
              </a:lnSpc>
              <a:buNone/>
            </a:pPr>
            <a:r>
              <a:rPr lang="en-US" sz="1500" dirty="0">
                <a:solidFill>
                  <a:srgbClr val="8A8375"/>
                </a:solidFill>
                <a:latin typeface="Arial" pitchFamily="34" charset="0"/>
                <a:ea typeface="Arial" pitchFamily="34" charset="-122"/>
                <a:cs typeface="Arial" pitchFamily="34" charset="-120"/>
              </a:rPr>
              <a:t>byte-level BPE</a:t>
            </a:r>
            <a:endParaRPr lang="en-US" sz="1500" dirty="0"/>
          </a:p>
        </p:txBody>
      </p:sp>
      <p:sp>
        <p:nvSpPr>
          <p:cNvPr id="56" name="Text 54"/>
          <p:cNvSpPr/>
          <p:nvPr/>
        </p:nvSpPr>
        <p:spPr>
          <a:xfrm>
            <a:off x="10185678" y="7490579"/>
            <a:ext cx="6807066" cy="73914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1A1A1A"/>
                </a:solidFill>
                <a:latin typeface="Arial" pitchFamily="34" charset="0"/>
                <a:ea typeface="Arial" pitchFamily="34" charset="-122"/>
                <a:cs typeface="Arial" pitchFamily="34" charset="-120"/>
              </a:rPr>
              <a:t>Trained on </a:t>
            </a:r>
            <a:pPr algn="l" indent="0" marL="0">
              <a:lnSpc>
                <a:spcPct val="140000"/>
              </a:lnSpc>
              <a:buNone/>
            </a:pPr>
            <a:r>
              <a:rPr lang="en-US" sz="1950" b="1" dirty="0">
                <a:solidFill>
                  <a:srgbClr val="1A1A1A"/>
                </a:solidFill>
                <a:latin typeface="Arial" pitchFamily="34" charset="0"/>
                <a:ea typeface="Arial" pitchFamily="34" charset="-122"/>
                <a:cs typeface="Arial" pitchFamily="34" charset="-120"/>
              </a:rPr>
              <a:t>100k PubMed abstracts </a:t>
            </a:r>
            <a:pPr algn="l" indent="0" marL="0">
              <a:lnSpc>
                <a:spcPct val="140000"/>
              </a:lnSpc>
              <a:buNone/>
            </a:pPr>
            <a:r>
              <a:rPr lang="en-US" sz="1950" dirty="0">
                <a:solidFill>
                  <a:srgbClr val="1A1A1A"/>
                </a:solidFill>
                <a:latin typeface="Arial" pitchFamily="34" charset="0"/>
                <a:ea typeface="Arial" pitchFamily="34" charset="-122"/>
                <a:cs typeface="Arial" pitchFamily="34" charset="-120"/>
              </a:rPr>
              <a:t>. Same algorithm, medical corpus.</a:t>
            </a:r>
            <a:endParaRPr lang="en-US" sz="1950" dirty="0"/>
          </a:p>
        </p:txBody>
      </p:sp>
      <p:sp>
        <p:nvSpPr>
          <p:cNvPr id="57" name="Text 55"/>
          <p:cNvSpPr/>
          <p:nvPr/>
        </p:nvSpPr>
        <p:spPr>
          <a:xfrm>
            <a:off x="9797058" y="8675489"/>
            <a:ext cx="7568380"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spc="288" kern="0" dirty="0">
                <a:solidFill>
                  <a:srgbClr val="8A8375"/>
                </a:solidFill>
                <a:latin typeface="Arial" pitchFamily="34" charset="0"/>
                <a:ea typeface="Arial" pitchFamily="34" charset="-122"/>
                <a:cs typeface="Arial" pitchFamily="34" charset="-120"/>
              </a:rPr>
              <a:t>EVALUATED ON</a:t>
            </a:r>
            <a:endParaRPr lang="en-US" sz="1800" dirty="0"/>
          </a:p>
        </p:txBody>
      </p:sp>
      <p:sp>
        <p:nvSpPr>
          <p:cNvPr id="58" name="Text 56"/>
          <p:cNvSpPr/>
          <p:nvPr/>
        </p:nvSpPr>
        <p:spPr>
          <a:xfrm>
            <a:off x="9797058" y="9076254"/>
            <a:ext cx="6425380" cy="666750"/>
          </a:xfrm>
          <a:prstGeom prst="rect">
            <a:avLst/>
          </a:prstGeom>
          <a:noFill/>
          <a:ln/>
        </p:spPr>
        <p:txBody>
          <a:bodyPr wrap="square" lIns="25400" tIns="25400" rIns="25400" bIns="25400" rtlCol="0" anchor="t">
            <a:normAutofit/>
          </a:bodyPr>
          <a:lstStyle/>
          <a:p>
            <a:pPr algn="l" indent="0" marL="0">
              <a:lnSpc>
                <a:spcPct val="150000"/>
              </a:lnSpc>
              <a:buNone/>
            </a:pPr>
            <a:r>
              <a:rPr lang="en-US" sz="1650" b="1" dirty="0">
                <a:solidFill>
                  <a:srgbClr val="3E3A33"/>
                </a:solidFill>
                <a:latin typeface="Arial" pitchFamily="34" charset="0"/>
                <a:ea typeface="Arial" pitchFamily="34" charset="-122"/>
                <a:cs typeface="Arial" pitchFamily="34" charset="-120"/>
              </a:rPr>
              <a:t>PubMed </a:t>
            </a:r>
            <a:pPr algn="l" indent="0" marL="0">
              <a:lnSpc>
                <a:spcPct val="150000"/>
              </a:lnSpc>
              <a:buNone/>
            </a:pPr>
            <a:r>
              <a:rPr lang="en-US" sz="1650" dirty="0">
                <a:solidFill>
                  <a:srgbClr val="3E3A33"/>
                </a:solidFill>
                <a:latin typeface="Arial" pitchFamily="34" charset="0"/>
                <a:ea typeface="Arial" pitchFamily="34" charset="-122"/>
                <a:cs typeface="Arial" pitchFamily="34" charset="-120"/>
              </a:rPr>
              <a:t>(in-domain) · </a:t>
            </a:r>
            <a:pPr algn="l" indent="0" marL="0">
              <a:lnSpc>
                <a:spcPct val="150000"/>
              </a:lnSpc>
              <a:buNone/>
            </a:pPr>
            <a:r>
              <a:rPr lang="en-US" sz="1650" b="1" dirty="0">
                <a:solidFill>
                  <a:srgbClr val="3E3A33"/>
                </a:solidFill>
                <a:latin typeface="Arial" pitchFamily="34" charset="0"/>
                <a:ea typeface="Arial" pitchFamily="34" charset="-122"/>
                <a:cs typeface="Arial" pitchFamily="34" charset="-120"/>
              </a:rPr>
              <a:t>Wikitext </a:t>
            </a:r>
            <a:pPr algn="l" indent="0" marL="0">
              <a:lnSpc>
                <a:spcPct val="150000"/>
              </a:lnSpc>
              <a:buNone/>
            </a:pPr>
            <a:r>
              <a:rPr lang="en-US" sz="1650" dirty="0">
                <a:solidFill>
                  <a:srgbClr val="3E3A33"/>
                </a:solidFill>
                <a:latin typeface="Arial" pitchFamily="34" charset="0"/>
                <a:ea typeface="Arial" pitchFamily="34" charset="-122"/>
                <a:cs typeface="Arial" pitchFamily="34" charset="-120"/>
              </a:rPr>
              <a:t>(out-of-domain) · </a:t>
            </a:r>
            <a:pPr algn="l" indent="0" marL="0">
              <a:lnSpc>
                <a:spcPct val="150000"/>
              </a:lnSpc>
              <a:buNone/>
            </a:pPr>
            <a:r>
              <a:rPr lang="en-US" sz="1650" b="1" dirty="0">
                <a:solidFill>
                  <a:srgbClr val="3E3A33"/>
                </a:solidFill>
                <a:latin typeface="Arial" pitchFamily="34" charset="0"/>
                <a:ea typeface="Arial" pitchFamily="34" charset="-122"/>
                <a:cs typeface="Arial" pitchFamily="34" charset="-120"/>
              </a:rPr>
              <a:t>MTSamples </a:t>
            </a:r>
            <a:pPr algn="l" indent="0" marL="0">
              <a:lnSpc>
                <a:spcPct val="150000"/>
              </a:lnSpc>
              <a:buNone/>
            </a:pPr>
            <a:r>
              <a:rPr lang="en-US" sz="1650" dirty="0">
                <a:solidFill>
                  <a:srgbClr val="3E3A33"/>
                </a:solidFill>
                <a:latin typeface="Arial" pitchFamily="34" charset="0"/>
                <a:ea typeface="Arial" pitchFamily="34" charset="-122"/>
                <a:cs typeface="Arial" pitchFamily="34" charset="-120"/>
              </a:rPr>
              <a:t>(cross-domain medical)</a:t>
            </a:r>
            <a:endParaRPr lang="en-US" sz="1650" dirty="0"/>
          </a:p>
        </p:txBody>
      </p:sp>
      <p:sp>
        <p:nvSpPr>
          <p:cNvPr id="59" name="Text 57"/>
          <p:cNvSpPr/>
          <p:nvPr/>
        </p:nvSpPr>
        <p:spPr>
          <a:xfrm>
            <a:off x="16588860" y="9429036"/>
            <a:ext cx="632341"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144" kern="0" dirty="0">
                <a:solidFill>
                  <a:srgbClr val="8A8375"/>
                </a:solidFill>
                <a:latin typeface="Arial" pitchFamily="34" charset="0"/>
                <a:ea typeface="Arial" pitchFamily="34" charset="-122"/>
                <a:cs typeface="Arial" pitchFamily="34" charset="-120"/>
              </a:rPr>
              <a:t>S·04</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1143000" y="533400"/>
            <a:ext cx="2168962"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 02 · METHOD</a:t>
            </a:r>
            <a:endParaRPr lang="en-US" sz="1800" dirty="0"/>
          </a:p>
        </p:txBody>
      </p:sp>
      <p:sp>
        <p:nvSpPr>
          <p:cNvPr id="3" name="Text 1"/>
          <p:cNvSpPr/>
          <p:nvPr/>
        </p:nvSpPr>
        <p:spPr>
          <a:xfrm>
            <a:off x="16102013" y="533400"/>
            <a:ext cx="1119188"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05 </a:t>
            </a:r>
            <a:pPr algn="l" indent="0" marL="0">
              <a:lnSpc>
                <a:spcPct val="142000"/>
              </a:lnSpc>
              <a:buNone/>
            </a:pPr>
            <a:r>
              <a:rPr lang="en-US" sz="1800" spc="252" kern="0" dirty="0">
                <a:solidFill>
                  <a:srgbClr val="C9BFA8"/>
                </a:solidFill>
                <a:latin typeface="Arial" pitchFamily="34" charset="0"/>
                <a:ea typeface="Arial" pitchFamily="34" charset="-122"/>
                <a:cs typeface="Arial" pitchFamily="34" charset="-120"/>
              </a:rPr>
              <a:t>/ 14</a:t>
            </a:r>
            <a:endParaRPr lang="en-US" sz="1800" dirty="0"/>
          </a:p>
        </p:txBody>
      </p:sp>
      <p:sp>
        <p:nvSpPr>
          <p:cNvPr id="4" name="Shape 2"/>
          <p:cNvSpPr/>
          <p:nvPr/>
        </p:nvSpPr>
        <p:spPr>
          <a:xfrm>
            <a:off x="1143000" y="2286000"/>
            <a:ext cx="914400" cy="9525"/>
          </a:xfrm>
          <a:prstGeom prst="rect">
            <a:avLst/>
          </a:prstGeom>
          <a:solidFill>
            <a:srgbClr val="C9BFA8"/>
          </a:solidFill>
          <a:ln/>
        </p:spPr>
      </p:sp>
      <p:sp>
        <p:nvSpPr>
          <p:cNvPr id="5" name="Text 3"/>
          <p:cNvSpPr/>
          <p:nvPr/>
        </p:nvSpPr>
        <p:spPr>
          <a:xfrm>
            <a:off x="1143000" y="2674620"/>
            <a:ext cx="14716125" cy="696397"/>
          </a:xfrm>
          <a:prstGeom prst="rect">
            <a:avLst/>
          </a:prstGeom>
          <a:noFill/>
          <a:ln/>
        </p:spPr>
        <p:txBody>
          <a:bodyPr wrap="square" lIns="25400" tIns="25400" rIns="25400" bIns="25400" rtlCol="0" anchor="t">
            <a:normAutofit/>
          </a:bodyPr>
          <a:lstStyle/>
          <a:p>
            <a:pPr algn="l" indent="0" marL="0">
              <a:lnSpc>
                <a:spcPct val="108000"/>
              </a:lnSpc>
              <a:buNone/>
            </a:pPr>
            <a:r>
              <a:rPr lang="en-US" sz="4800" spc="-72" kern="0" dirty="0">
                <a:solidFill>
                  <a:srgbClr val="1A1A1A"/>
                </a:solidFill>
                <a:latin typeface="Arial" pitchFamily="34" charset="0"/>
                <a:ea typeface="Arial" pitchFamily="34" charset="-122"/>
                <a:cs typeface="Arial" pitchFamily="34" charset="-120"/>
              </a:rPr>
              <a:t>Bits per character: the only fair metric.</a:t>
            </a:r>
            <a:endParaRPr lang="en-US" sz="4800" dirty="0"/>
          </a:p>
        </p:txBody>
      </p:sp>
      <p:sp>
        <p:nvSpPr>
          <p:cNvPr id="6" name="Text 4"/>
          <p:cNvSpPr/>
          <p:nvPr/>
        </p:nvSpPr>
        <p:spPr>
          <a:xfrm>
            <a:off x="1143000" y="3790117"/>
            <a:ext cx="13735050" cy="501015"/>
          </a:xfrm>
          <a:prstGeom prst="rect">
            <a:avLst/>
          </a:prstGeom>
          <a:noFill/>
          <a:ln/>
        </p:spPr>
        <p:txBody>
          <a:bodyPr wrap="square" lIns="25400" tIns="25400" rIns="25400" bIns="25400" rtlCol="0" anchor="t">
            <a:normAutofit/>
          </a:bodyPr>
          <a:lstStyle/>
          <a:p>
            <a:pPr algn="l" indent="0" marL="0">
              <a:lnSpc>
                <a:spcPct val="135000"/>
              </a:lnSpc>
              <a:buNone/>
            </a:pPr>
            <a:r>
              <a:rPr lang="en-US" sz="2700" dirty="0">
                <a:solidFill>
                  <a:srgbClr val="3E3A33"/>
                </a:solidFill>
                <a:latin typeface="Arial" pitchFamily="34" charset="0"/>
                <a:ea typeface="Arial" pitchFamily="34" charset="-122"/>
                <a:cs typeface="Arial" pitchFamily="34" charset="-120"/>
              </a:rPr>
              <a:t>Per-token perplexity cannot compare tokenizers—the token itself is different.</a:t>
            </a:r>
            <a:endParaRPr lang="en-US" sz="2700" dirty="0"/>
          </a:p>
        </p:txBody>
      </p:sp>
      <p:sp>
        <p:nvSpPr>
          <p:cNvPr id="7" name="Text 5"/>
          <p:cNvSpPr/>
          <p:nvPr/>
        </p:nvSpPr>
        <p:spPr>
          <a:xfrm>
            <a:off x="1143000" y="4900732"/>
            <a:ext cx="7848600"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spc="288" kern="0" dirty="0">
                <a:solidFill>
                  <a:srgbClr val="8A8375"/>
                </a:solidFill>
                <a:latin typeface="Arial" pitchFamily="34" charset="0"/>
                <a:ea typeface="Arial" pitchFamily="34" charset="-122"/>
                <a:cs typeface="Arial" pitchFamily="34" charset="-120"/>
              </a:rPr>
              <a:t>THE PROBLEM</a:t>
            </a:r>
            <a:endParaRPr lang="en-US" sz="1800" dirty="0"/>
          </a:p>
        </p:txBody>
      </p:sp>
      <p:sp>
        <p:nvSpPr>
          <p:cNvPr id="8" name="Text 6"/>
          <p:cNvSpPr/>
          <p:nvPr/>
        </p:nvSpPr>
        <p:spPr>
          <a:xfrm>
            <a:off x="1143000" y="5491996"/>
            <a:ext cx="6278880" cy="1584960"/>
          </a:xfrm>
          <a:prstGeom prst="rect">
            <a:avLst/>
          </a:prstGeom>
          <a:noFill/>
          <a:ln/>
        </p:spPr>
        <p:txBody>
          <a:bodyPr wrap="square" lIns="25400" tIns="25400" rIns="25400" bIns="25400" rtlCol="0" anchor="t">
            <a:normAutofit/>
          </a:bodyPr>
          <a:lstStyle/>
          <a:p>
            <a:pPr algn="l" indent="0" marL="0">
              <a:lnSpc>
                <a:spcPct val="145000"/>
              </a:lnSpc>
              <a:buNone/>
            </a:pPr>
            <a:r>
              <a:rPr lang="en-US" sz="2100" dirty="0">
                <a:solidFill>
                  <a:srgbClr val="3E3A33"/>
                </a:solidFill>
                <a:latin typeface="Arial" pitchFamily="34" charset="0"/>
                <a:ea typeface="Arial" pitchFamily="34" charset="-122"/>
                <a:cs typeface="Arial" pitchFamily="34" charset="-120"/>
              </a:rPr>
              <a:t>If tokenizer A represents a doc in 100 tokens and tokenizer B in 200, a per-token loss of </a:t>
            </a:r>
            <a:pPr algn="l" indent="0" marL="0">
              <a:lnSpc>
                <a:spcPct val="145000"/>
              </a:lnSpc>
              <a:buNone/>
            </a:pPr>
            <a:r>
              <a:rPr lang="en-US" sz="2100" i="1" dirty="0">
                <a:solidFill>
                  <a:srgbClr val="3E3A33"/>
                </a:solidFill>
                <a:latin typeface="Arial" pitchFamily="34" charset="0"/>
                <a:ea typeface="Arial" pitchFamily="34" charset="-122"/>
                <a:cs typeface="Arial" pitchFamily="34" charset="-120"/>
              </a:rPr>
              <a:t>ℓ </a:t>
            </a:r>
            <a:pPr algn="l" indent="0" marL="0">
              <a:lnSpc>
                <a:spcPct val="145000"/>
              </a:lnSpc>
              <a:buNone/>
            </a:pPr>
            <a:r>
              <a:rPr lang="en-US" sz="2100" dirty="0">
                <a:solidFill>
                  <a:srgbClr val="3E3A33"/>
                </a:solidFill>
                <a:latin typeface="Arial" pitchFamily="34" charset="0"/>
                <a:ea typeface="Arial" pitchFamily="34" charset="-122"/>
                <a:cs typeface="Arial" pitchFamily="34" charset="-120"/>
              </a:rPr>
              <a:t>means very different things in each case. B's tokens are </a:t>
            </a:r>
            <a:pPr algn="l" indent="0" marL="0">
              <a:lnSpc>
                <a:spcPct val="145000"/>
              </a:lnSpc>
              <a:buNone/>
            </a:pPr>
            <a:r>
              <a:rPr lang="en-US" sz="2100" i="1" dirty="0">
                <a:solidFill>
                  <a:srgbClr val="3E3A33"/>
                </a:solidFill>
                <a:latin typeface="Arial" pitchFamily="34" charset="0"/>
                <a:ea typeface="Arial" pitchFamily="34" charset="-122"/>
                <a:cs typeface="Arial" pitchFamily="34" charset="-120"/>
              </a:rPr>
              <a:t>easier to predict </a:t>
            </a:r>
            <a:pPr algn="l" indent="0" marL="0">
              <a:lnSpc>
                <a:spcPct val="145000"/>
              </a:lnSpc>
              <a:buNone/>
            </a:pPr>
            <a:r>
              <a:rPr lang="en-US" sz="2100" dirty="0">
                <a:solidFill>
                  <a:srgbClr val="3E3A33"/>
                </a:solidFill>
                <a:latin typeface="Arial" pitchFamily="34" charset="0"/>
                <a:ea typeface="Arial" pitchFamily="34" charset="-122"/>
                <a:cs typeface="Arial" pitchFamily="34" charset="-120"/>
              </a:rPr>
              <a:t>—each one carries less information.</a:t>
            </a:r>
            <a:endParaRPr lang="en-US" sz="2100" dirty="0"/>
          </a:p>
        </p:txBody>
      </p:sp>
      <p:sp>
        <p:nvSpPr>
          <p:cNvPr id="9" name="Text 7"/>
          <p:cNvSpPr/>
          <p:nvPr/>
        </p:nvSpPr>
        <p:spPr>
          <a:xfrm>
            <a:off x="1143000" y="7305556"/>
            <a:ext cx="6278880" cy="424815"/>
          </a:xfrm>
          <a:prstGeom prst="rect">
            <a:avLst/>
          </a:prstGeom>
          <a:noFill/>
          <a:ln/>
        </p:spPr>
        <p:txBody>
          <a:bodyPr wrap="square" lIns="25400" tIns="25400" rIns="25400" bIns="25400" rtlCol="0" anchor="t">
            <a:normAutofit/>
          </a:bodyPr>
          <a:lstStyle/>
          <a:p>
            <a:pPr algn="l" indent="0" marL="0">
              <a:lnSpc>
                <a:spcPct val="145000"/>
              </a:lnSpc>
              <a:buNone/>
            </a:pPr>
            <a:r>
              <a:rPr lang="en-US" sz="2100" i="1" dirty="0">
                <a:solidFill>
                  <a:srgbClr val="1A1A1A"/>
                </a:solidFill>
                <a:latin typeface="Arial" pitchFamily="34" charset="0"/>
                <a:ea typeface="Arial" pitchFamily="34" charset="-122"/>
                <a:cs typeface="Arial" pitchFamily="34" charset="-120"/>
              </a:rPr>
              <a:t>We need a unit that doesn't depend on the tokenizer.</a:t>
            </a:r>
            <a:endParaRPr lang="en-US" sz="2100" dirty="0"/>
          </a:p>
        </p:txBody>
      </p:sp>
      <p:sp>
        <p:nvSpPr>
          <p:cNvPr id="10" name="Text 8"/>
          <p:cNvSpPr/>
          <p:nvPr/>
        </p:nvSpPr>
        <p:spPr>
          <a:xfrm>
            <a:off x="9525000" y="4900732"/>
            <a:ext cx="7848600"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spc="288" kern="0" dirty="0">
                <a:solidFill>
                  <a:srgbClr val="8A8375"/>
                </a:solidFill>
                <a:latin typeface="Arial" pitchFamily="34" charset="0"/>
                <a:ea typeface="Arial" pitchFamily="34" charset="-122"/>
                <a:cs typeface="Arial" pitchFamily="34" charset="-120"/>
              </a:rPr>
              <a:t>THE FIX — NORMALIZE TO CHARACTERS</a:t>
            </a:r>
            <a:endParaRPr lang="en-US" sz="1800" dirty="0"/>
          </a:p>
        </p:txBody>
      </p:sp>
      <p:sp>
        <p:nvSpPr>
          <p:cNvPr id="11" name="Shape 9"/>
          <p:cNvSpPr/>
          <p:nvPr/>
        </p:nvSpPr>
        <p:spPr>
          <a:xfrm>
            <a:off x="9525000" y="5491996"/>
            <a:ext cx="7620000" cy="2152650"/>
          </a:xfrm>
          <a:prstGeom prst="rect">
            <a:avLst/>
          </a:prstGeom>
          <a:solidFill>
            <a:srgbClr val="F2ECDE"/>
          </a:solidFill>
          <a:ln/>
        </p:spPr>
      </p:sp>
      <p:sp>
        <p:nvSpPr>
          <p:cNvPr id="12" name="Shape 10"/>
          <p:cNvSpPr/>
          <p:nvPr/>
        </p:nvSpPr>
        <p:spPr>
          <a:xfrm>
            <a:off x="9525000" y="7629406"/>
            <a:ext cx="7620000" cy="15240"/>
          </a:xfrm>
          <a:prstGeom prst="rect">
            <a:avLst/>
          </a:prstGeom>
          <a:solidFill>
            <a:srgbClr val="1A1A1A"/>
          </a:solidFill>
          <a:ln/>
        </p:spPr>
      </p:sp>
      <p:sp>
        <p:nvSpPr>
          <p:cNvPr id="13" name="Shape 11"/>
          <p:cNvSpPr/>
          <p:nvPr/>
        </p:nvSpPr>
        <p:spPr>
          <a:xfrm>
            <a:off x="9525000" y="5491996"/>
            <a:ext cx="7620000" cy="15240"/>
          </a:xfrm>
          <a:prstGeom prst="rect">
            <a:avLst/>
          </a:prstGeom>
          <a:solidFill>
            <a:srgbClr val="1A1A1A"/>
          </a:solidFill>
          <a:ln/>
        </p:spPr>
      </p:sp>
      <p:sp>
        <p:nvSpPr>
          <p:cNvPr id="14" name="Text 12"/>
          <p:cNvSpPr/>
          <p:nvPr/>
        </p:nvSpPr>
        <p:spPr>
          <a:xfrm>
            <a:off x="10990184" y="5888236"/>
            <a:ext cx="727234" cy="563880"/>
          </a:xfrm>
          <a:prstGeom prst="rect">
            <a:avLst/>
          </a:prstGeom>
          <a:noFill/>
          <a:ln/>
        </p:spPr>
        <p:txBody>
          <a:bodyPr wrap="square" lIns="25400" tIns="25400" rIns="25400" bIns="25400" rtlCol="0" anchor="t">
            <a:normAutofit/>
          </a:bodyPr>
          <a:lstStyle/>
          <a:p>
            <a:pPr algn="ctr" indent="0" marL="0">
              <a:lnSpc>
                <a:spcPct val="140000"/>
              </a:lnSpc>
              <a:buNone/>
            </a:pPr>
            <a:r>
              <a:rPr lang="en-US" sz="3000" i="1" spc="30" kern="0" dirty="0">
                <a:solidFill>
                  <a:srgbClr val="1A1A1A"/>
                </a:solidFill>
                <a:latin typeface="Arial" pitchFamily="34" charset="0"/>
                <a:ea typeface="Arial" pitchFamily="34" charset="-122"/>
                <a:cs typeface="Arial" pitchFamily="34" charset="-120"/>
              </a:rPr>
              <a:t>BPC</a:t>
            </a:r>
            <a:endParaRPr lang="en-US" sz="3000" dirty="0"/>
          </a:p>
        </p:txBody>
      </p:sp>
      <p:sp>
        <p:nvSpPr>
          <p:cNvPr id="15" name="Text 13"/>
          <p:cNvSpPr/>
          <p:nvPr/>
        </p:nvSpPr>
        <p:spPr>
          <a:xfrm>
            <a:off x="11804690" y="5941576"/>
            <a:ext cx="302538" cy="464820"/>
          </a:xfrm>
          <a:prstGeom prst="rect">
            <a:avLst/>
          </a:prstGeom>
          <a:noFill/>
          <a:ln/>
        </p:spPr>
        <p:txBody>
          <a:bodyPr wrap="square" lIns="25400" tIns="25400" rIns="25400" bIns="25400" rtlCol="0" anchor="t">
            <a:normAutofit/>
          </a:bodyPr>
          <a:lstStyle/>
          <a:p>
            <a:pPr algn="ctr" indent="0" marL="0">
              <a:lnSpc>
                <a:spcPct val="140000"/>
              </a:lnSpc>
              <a:buNone/>
            </a:pPr>
            <a:r>
              <a:rPr lang="en-US" sz="3000" spc="30" kern="0" dirty="0">
                <a:solidFill>
                  <a:srgbClr val="1A1A1A"/>
                </a:solidFill>
                <a:latin typeface="Arial" pitchFamily="34" charset="0"/>
                <a:ea typeface="Arial" pitchFamily="34" charset="-122"/>
                <a:cs typeface="Arial" pitchFamily="34" charset="-120"/>
              </a:rPr>
              <a:t>=</a:t>
            </a:r>
            <a:endParaRPr lang="en-US" sz="3000" dirty="0"/>
          </a:p>
        </p:txBody>
      </p:sp>
      <p:sp>
        <p:nvSpPr>
          <p:cNvPr id="16" name="Shape 14"/>
          <p:cNvSpPr/>
          <p:nvPr/>
        </p:nvSpPr>
        <p:spPr>
          <a:xfrm>
            <a:off x="12289751" y="6650236"/>
            <a:ext cx="3294817" cy="9525"/>
          </a:xfrm>
          <a:prstGeom prst="rect">
            <a:avLst/>
          </a:prstGeom>
          <a:solidFill>
            <a:srgbClr val="1A1A1A"/>
          </a:solidFill>
          <a:ln/>
        </p:spPr>
      </p:sp>
      <p:sp>
        <p:nvSpPr>
          <p:cNvPr id="17" name="Text 15"/>
          <p:cNvSpPr/>
          <p:nvPr/>
        </p:nvSpPr>
        <p:spPr>
          <a:xfrm>
            <a:off x="12373679" y="6059686"/>
            <a:ext cx="3126961" cy="609600"/>
          </a:xfrm>
          <a:prstGeom prst="rect">
            <a:avLst/>
          </a:prstGeom>
          <a:noFill/>
          <a:ln/>
        </p:spPr>
        <p:txBody>
          <a:bodyPr wrap="square" lIns="25400" tIns="25400" rIns="25400" bIns="25400" rtlCol="0" anchor="t">
            <a:normAutofit/>
          </a:bodyPr>
          <a:lstStyle/>
          <a:p>
            <a:pPr algn="ctr" indent="0" marL="0">
              <a:lnSpc>
                <a:spcPct val="140000"/>
              </a:lnSpc>
              <a:buNone/>
            </a:pPr>
            <a:r>
              <a:rPr lang="en-US" sz="3000" i="1" spc="30" kern="0" dirty="0">
                <a:solidFill>
                  <a:srgbClr val="1A1A1A"/>
                </a:solidFill>
                <a:latin typeface="Arial" pitchFamily="34" charset="0"/>
                <a:ea typeface="Arial" pitchFamily="34" charset="-122"/>
                <a:cs typeface="Arial" pitchFamily="34" charset="-120"/>
              </a:rPr>
              <a:t>log</a:t>
            </a:r>
            <a:pPr algn="ctr" indent="0" marL="0">
              <a:lnSpc>
                <a:spcPct val="140000"/>
              </a:lnSpc>
              <a:buNone/>
            </a:pPr>
            <a:r>
              <a:rPr lang="en-US" sz="2100" baseline="-40000" spc="30" kern="0" dirty="0">
                <a:solidFill>
                  <a:srgbClr val="1A1A1A"/>
                </a:solidFill>
                <a:latin typeface="Arial" pitchFamily="34" charset="0"/>
                <a:ea typeface="Arial" pitchFamily="34" charset="-122"/>
                <a:cs typeface="Arial" pitchFamily="34" charset="-120"/>
              </a:rPr>
              <a:t>2 </a:t>
            </a:r>
            <a:pPr algn="ctr" indent="0" marL="0">
              <a:lnSpc>
                <a:spcPct val="140000"/>
              </a:lnSpc>
              <a:buNone/>
            </a:pPr>
            <a:r>
              <a:rPr lang="en-US" sz="3000" i="1" spc="30" kern="0" dirty="0">
                <a:solidFill>
                  <a:srgbClr val="1A1A1A"/>
                </a:solidFill>
                <a:latin typeface="Arial" pitchFamily="34" charset="0"/>
                <a:ea typeface="Arial" pitchFamily="34" charset="-122"/>
                <a:cs typeface="Arial" pitchFamily="34" charset="-120"/>
              </a:rPr>
              <a:t>(e) </a:t>
            </a:r>
            <a:pPr algn="ctr" indent="0" marL="0">
              <a:lnSpc>
                <a:spcPct val="140000"/>
              </a:lnSpc>
              <a:buNone/>
            </a:pPr>
            <a:r>
              <a:rPr lang="en-US" sz="3000" spc="30" kern="0" dirty="0">
                <a:solidFill>
                  <a:srgbClr val="1A1A1A"/>
                </a:solidFill>
                <a:latin typeface="Arial" pitchFamily="34" charset="0"/>
                <a:ea typeface="Arial" pitchFamily="34" charset="-122"/>
                <a:cs typeface="Arial" pitchFamily="34" charset="-120"/>
              </a:rPr>
              <a:t>· </a:t>
            </a:r>
            <a:pPr algn="ctr" indent="0" marL="0">
              <a:lnSpc>
                <a:spcPct val="140000"/>
              </a:lnSpc>
              <a:buNone/>
            </a:pPr>
            <a:r>
              <a:rPr lang="en-US" sz="3000" i="1" spc="30" kern="0" dirty="0">
                <a:solidFill>
                  <a:srgbClr val="1A1A1A"/>
                </a:solidFill>
                <a:latin typeface="Arial" pitchFamily="34" charset="0"/>
                <a:ea typeface="Arial" pitchFamily="34" charset="-122"/>
                <a:cs typeface="Arial" pitchFamily="34" charset="-120"/>
              </a:rPr>
              <a:t>CE </a:t>
            </a:r>
            <a:pPr algn="ctr" indent="0" marL="0">
              <a:lnSpc>
                <a:spcPct val="140000"/>
              </a:lnSpc>
              <a:buNone/>
            </a:pPr>
            <a:r>
              <a:rPr lang="en-US" sz="3000" spc="30" kern="0" dirty="0">
                <a:solidFill>
                  <a:srgbClr val="1A1A1A"/>
                </a:solidFill>
                <a:latin typeface="Arial" pitchFamily="34" charset="0"/>
                <a:ea typeface="Arial" pitchFamily="34" charset="-122"/>
                <a:cs typeface="Arial" pitchFamily="34" charset="-120"/>
              </a:rPr>
              <a:t>· </a:t>
            </a:r>
            <a:pPr algn="ctr" indent="0" marL="0">
              <a:lnSpc>
                <a:spcPct val="140000"/>
              </a:lnSpc>
              <a:buNone/>
            </a:pPr>
            <a:r>
              <a:rPr lang="en-US" sz="3000" i="1" spc="30" kern="0" dirty="0">
                <a:solidFill>
                  <a:srgbClr val="1A1A1A"/>
                </a:solidFill>
                <a:latin typeface="Arial" pitchFamily="34" charset="0"/>
                <a:ea typeface="Arial" pitchFamily="34" charset="-122"/>
                <a:cs typeface="Arial" pitchFamily="34" charset="-120"/>
              </a:rPr>
              <a:t>N</a:t>
            </a:r>
            <a:pPr algn="ctr" indent="0" marL="0">
              <a:lnSpc>
                <a:spcPct val="140000"/>
              </a:lnSpc>
              <a:buNone/>
            </a:pPr>
            <a:r>
              <a:rPr lang="en-US" sz="2100" baseline="-40000" spc="30" kern="0" dirty="0">
                <a:solidFill>
                  <a:srgbClr val="1A1A1A"/>
                </a:solidFill>
                <a:latin typeface="Arial" pitchFamily="34" charset="0"/>
                <a:ea typeface="Arial" pitchFamily="34" charset="-122"/>
                <a:cs typeface="Arial" pitchFamily="34" charset="-120"/>
              </a:rPr>
              <a:t>tok</a:t>
            </a:r>
            <a:endParaRPr lang="en-US" sz="3000" dirty="0"/>
          </a:p>
        </p:txBody>
      </p:sp>
      <p:sp>
        <p:nvSpPr>
          <p:cNvPr id="18" name="Text 16"/>
          <p:cNvSpPr/>
          <p:nvPr/>
        </p:nvSpPr>
        <p:spPr>
          <a:xfrm>
            <a:off x="12373679" y="6676906"/>
            <a:ext cx="3126961" cy="609600"/>
          </a:xfrm>
          <a:prstGeom prst="rect">
            <a:avLst/>
          </a:prstGeom>
          <a:noFill/>
          <a:ln/>
        </p:spPr>
        <p:txBody>
          <a:bodyPr wrap="square" lIns="25400" tIns="25400" rIns="25400" bIns="25400" rtlCol="0" anchor="t">
            <a:normAutofit/>
          </a:bodyPr>
          <a:lstStyle/>
          <a:p>
            <a:pPr algn="ctr" indent="0" marL="0">
              <a:lnSpc>
                <a:spcPct val="140000"/>
              </a:lnSpc>
              <a:buNone/>
            </a:pPr>
            <a:r>
              <a:rPr lang="en-US" sz="3000" i="1" spc="30" kern="0" dirty="0">
                <a:solidFill>
                  <a:srgbClr val="1A1A1A"/>
                </a:solidFill>
                <a:latin typeface="Arial" pitchFamily="34" charset="0"/>
                <a:ea typeface="Arial" pitchFamily="34" charset="-122"/>
                <a:cs typeface="Arial" pitchFamily="34" charset="-120"/>
              </a:rPr>
              <a:t>N</a:t>
            </a:r>
            <a:pPr algn="ctr" indent="0" marL="0">
              <a:lnSpc>
                <a:spcPct val="140000"/>
              </a:lnSpc>
              <a:buNone/>
            </a:pPr>
            <a:r>
              <a:rPr lang="en-US" sz="2100" baseline="-40000" spc="30" kern="0" dirty="0">
                <a:solidFill>
                  <a:srgbClr val="1A1A1A"/>
                </a:solidFill>
                <a:latin typeface="Arial" pitchFamily="34" charset="0"/>
                <a:ea typeface="Arial" pitchFamily="34" charset="-122"/>
                <a:cs typeface="Arial" pitchFamily="34" charset="-120"/>
              </a:rPr>
              <a:t>chars</a:t>
            </a:r>
            <a:endParaRPr lang="en-US" sz="3000" dirty="0"/>
          </a:p>
        </p:txBody>
      </p:sp>
      <p:sp>
        <p:nvSpPr>
          <p:cNvPr id="19" name="Text 17"/>
          <p:cNvSpPr/>
          <p:nvPr/>
        </p:nvSpPr>
        <p:spPr>
          <a:xfrm>
            <a:off x="9525000" y="7873246"/>
            <a:ext cx="668060" cy="308610"/>
          </a:xfrm>
          <a:prstGeom prst="rect">
            <a:avLst/>
          </a:prstGeom>
          <a:noFill/>
          <a:ln/>
        </p:spPr>
        <p:txBody>
          <a:bodyPr wrap="square" lIns="25400" tIns="25400" rIns="25400" bIns="25400" rtlCol="0" anchor="t">
            <a:normAutofit/>
          </a:bodyPr>
          <a:lstStyle/>
          <a:p>
            <a:pPr algn="l" indent="0" marL="0">
              <a:lnSpc>
                <a:spcPct val="142000"/>
              </a:lnSpc>
              <a:buNone/>
            </a:pPr>
            <a:r>
              <a:rPr lang="en-US" sz="1500" dirty="0">
                <a:solidFill>
                  <a:srgbClr val="1A1A1A"/>
                </a:solidFill>
                <a:latin typeface="Arial" pitchFamily="34" charset="0"/>
                <a:ea typeface="Arial" pitchFamily="34" charset="-122"/>
                <a:cs typeface="Arial" pitchFamily="34" charset="-120"/>
              </a:rPr>
              <a:t>CE</a:t>
            </a:r>
            <a:endParaRPr lang="en-US" sz="1500" dirty="0"/>
          </a:p>
        </p:txBody>
      </p:sp>
      <p:sp>
        <p:nvSpPr>
          <p:cNvPr id="20" name="Text 18"/>
          <p:cNvSpPr/>
          <p:nvPr/>
        </p:nvSpPr>
        <p:spPr>
          <a:xfrm>
            <a:off x="10345460" y="7873246"/>
            <a:ext cx="5237591" cy="308610"/>
          </a:xfrm>
          <a:prstGeom prst="rect">
            <a:avLst/>
          </a:prstGeom>
          <a:noFill/>
          <a:ln/>
        </p:spPr>
        <p:txBody>
          <a:bodyPr wrap="square" lIns="25400" tIns="25400" rIns="25400" bIns="25400" rtlCol="0" anchor="t">
            <a:normAutofit/>
          </a:bodyPr>
          <a:lstStyle/>
          <a:p>
            <a:pPr algn="l" indent="0" marL="0">
              <a:lnSpc>
                <a:spcPct val="142000"/>
              </a:lnSpc>
              <a:buNone/>
            </a:pPr>
            <a:r>
              <a:rPr lang="en-US" sz="1500" dirty="0">
                <a:solidFill>
                  <a:srgbClr val="3E3A33"/>
                </a:solidFill>
                <a:latin typeface="Arial" pitchFamily="34" charset="0"/>
                <a:ea typeface="Arial" pitchFamily="34" charset="-122"/>
                <a:cs typeface="Arial" pitchFamily="34" charset="-120"/>
              </a:rPr>
              <a:t>average cross-entropy in nats (per token)</a:t>
            </a:r>
            <a:endParaRPr lang="en-US" sz="1500" dirty="0"/>
          </a:p>
        </p:txBody>
      </p:sp>
      <p:sp>
        <p:nvSpPr>
          <p:cNvPr id="21" name="Text 19"/>
          <p:cNvSpPr/>
          <p:nvPr/>
        </p:nvSpPr>
        <p:spPr>
          <a:xfrm>
            <a:off x="9525000" y="8258056"/>
            <a:ext cx="668060" cy="339566"/>
          </a:xfrm>
          <a:prstGeom prst="rect">
            <a:avLst/>
          </a:prstGeom>
          <a:noFill/>
          <a:ln/>
        </p:spPr>
        <p:txBody>
          <a:bodyPr wrap="square" lIns="25400" tIns="25400" rIns="25400" bIns="25400" rtlCol="0" anchor="t">
            <a:normAutofit/>
          </a:bodyPr>
          <a:lstStyle/>
          <a:p>
            <a:pPr algn="l" indent="0" marL="0">
              <a:lnSpc>
                <a:spcPct val="142000"/>
              </a:lnSpc>
              <a:buNone/>
            </a:pPr>
            <a:r>
              <a:rPr lang="en-US" sz="1500" dirty="0">
                <a:solidFill>
                  <a:srgbClr val="1A1A1A"/>
                </a:solidFill>
                <a:latin typeface="Arial" pitchFamily="34" charset="0"/>
                <a:ea typeface="Arial" pitchFamily="34" charset="-122"/>
                <a:cs typeface="Arial" pitchFamily="34" charset="-120"/>
              </a:rPr>
              <a:t>N</a:t>
            </a:r>
            <a:pPr algn="l" indent="0" marL="0">
              <a:lnSpc>
                <a:spcPct val="142000"/>
              </a:lnSpc>
              <a:buNone/>
            </a:pPr>
            <a:r>
              <a:rPr lang="en-US" sz="1250" baseline="-40000" dirty="0">
                <a:solidFill>
                  <a:srgbClr val="1A1A1A"/>
                </a:solidFill>
                <a:latin typeface="Arial" pitchFamily="34" charset="0"/>
                <a:ea typeface="Arial" pitchFamily="34" charset="-122"/>
                <a:cs typeface="Arial" pitchFamily="34" charset="-120"/>
              </a:rPr>
              <a:t>tok</a:t>
            </a:r>
            <a:endParaRPr lang="en-US" sz="1500" dirty="0"/>
          </a:p>
        </p:txBody>
      </p:sp>
      <p:sp>
        <p:nvSpPr>
          <p:cNvPr id="22" name="Text 20"/>
          <p:cNvSpPr/>
          <p:nvPr/>
        </p:nvSpPr>
        <p:spPr>
          <a:xfrm>
            <a:off x="10345460" y="8258056"/>
            <a:ext cx="5237591" cy="339566"/>
          </a:xfrm>
          <a:prstGeom prst="rect">
            <a:avLst/>
          </a:prstGeom>
          <a:noFill/>
          <a:ln/>
        </p:spPr>
        <p:txBody>
          <a:bodyPr wrap="square" lIns="25400" tIns="25400" rIns="25400" bIns="25400" rtlCol="0" anchor="t">
            <a:normAutofit/>
          </a:bodyPr>
          <a:lstStyle/>
          <a:p>
            <a:pPr algn="l" indent="0" marL="0">
              <a:lnSpc>
                <a:spcPct val="142000"/>
              </a:lnSpc>
              <a:buNone/>
            </a:pPr>
            <a:r>
              <a:rPr lang="en-US" sz="1500" dirty="0">
                <a:solidFill>
                  <a:srgbClr val="3E3A33"/>
                </a:solidFill>
                <a:latin typeface="Arial" pitchFamily="34" charset="0"/>
                <a:ea typeface="Arial" pitchFamily="34" charset="-122"/>
                <a:cs typeface="Arial" pitchFamily="34" charset="-120"/>
              </a:rPr>
              <a:t>tokens in the evaluation corpus</a:t>
            </a:r>
            <a:endParaRPr lang="en-US" sz="1500" dirty="0"/>
          </a:p>
        </p:txBody>
      </p:sp>
      <p:sp>
        <p:nvSpPr>
          <p:cNvPr id="23" name="Text 21"/>
          <p:cNvSpPr/>
          <p:nvPr/>
        </p:nvSpPr>
        <p:spPr>
          <a:xfrm>
            <a:off x="9525000" y="8673822"/>
            <a:ext cx="668060" cy="339566"/>
          </a:xfrm>
          <a:prstGeom prst="rect">
            <a:avLst/>
          </a:prstGeom>
          <a:noFill/>
          <a:ln/>
        </p:spPr>
        <p:txBody>
          <a:bodyPr wrap="square" lIns="25400" tIns="25400" rIns="25400" bIns="25400" rtlCol="0" anchor="t">
            <a:normAutofit/>
          </a:bodyPr>
          <a:lstStyle/>
          <a:p>
            <a:pPr algn="l" indent="0" marL="0">
              <a:lnSpc>
                <a:spcPct val="142000"/>
              </a:lnSpc>
              <a:buNone/>
            </a:pPr>
            <a:r>
              <a:rPr lang="en-US" sz="1500" dirty="0">
                <a:solidFill>
                  <a:srgbClr val="1A1A1A"/>
                </a:solidFill>
                <a:latin typeface="Arial" pitchFamily="34" charset="0"/>
                <a:ea typeface="Arial" pitchFamily="34" charset="-122"/>
                <a:cs typeface="Arial" pitchFamily="34" charset="-120"/>
              </a:rPr>
              <a:t>N</a:t>
            </a:r>
            <a:pPr algn="l" indent="0" marL="0">
              <a:lnSpc>
                <a:spcPct val="142000"/>
              </a:lnSpc>
              <a:buNone/>
            </a:pPr>
            <a:r>
              <a:rPr lang="en-US" sz="1250" baseline="-40000" dirty="0">
                <a:solidFill>
                  <a:srgbClr val="1A1A1A"/>
                </a:solidFill>
                <a:latin typeface="Arial" pitchFamily="34" charset="0"/>
                <a:ea typeface="Arial" pitchFamily="34" charset="-122"/>
                <a:cs typeface="Arial" pitchFamily="34" charset="-120"/>
              </a:rPr>
              <a:t>chars</a:t>
            </a:r>
            <a:endParaRPr lang="en-US" sz="1500" dirty="0"/>
          </a:p>
        </p:txBody>
      </p:sp>
      <p:sp>
        <p:nvSpPr>
          <p:cNvPr id="24" name="Text 22"/>
          <p:cNvSpPr/>
          <p:nvPr/>
        </p:nvSpPr>
        <p:spPr>
          <a:xfrm>
            <a:off x="10345460" y="8673822"/>
            <a:ext cx="5237591" cy="339566"/>
          </a:xfrm>
          <a:prstGeom prst="rect">
            <a:avLst/>
          </a:prstGeom>
          <a:noFill/>
          <a:ln/>
        </p:spPr>
        <p:txBody>
          <a:bodyPr wrap="square" lIns="25400" tIns="25400" rIns="25400" bIns="25400" rtlCol="0" anchor="t">
            <a:normAutofit/>
          </a:bodyPr>
          <a:lstStyle/>
          <a:p>
            <a:pPr algn="l" indent="0" marL="0">
              <a:lnSpc>
                <a:spcPct val="142000"/>
              </a:lnSpc>
              <a:buNone/>
            </a:pPr>
            <a:r>
              <a:rPr lang="en-US" sz="1500" dirty="0">
                <a:solidFill>
                  <a:srgbClr val="3E3A33"/>
                </a:solidFill>
                <a:latin typeface="Arial" pitchFamily="34" charset="0"/>
                <a:ea typeface="Arial" pitchFamily="34" charset="-122"/>
                <a:cs typeface="Arial" pitchFamily="34" charset="-120"/>
              </a:rPr>
              <a:t>raw characters in the same text</a:t>
            </a:r>
            <a:endParaRPr lang="en-US" sz="1500" dirty="0"/>
          </a:p>
        </p:txBody>
      </p:sp>
      <p:sp>
        <p:nvSpPr>
          <p:cNvPr id="25" name="Text 23"/>
          <p:cNvSpPr/>
          <p:nvPr/>
        </p:nvSpPr>
        <p:spPr>
          <a:xfrm>
            <a:off x="9525000" y="9089589"/>
            <a:ext cx="668060" cy="308610"/>
          </a:xfrm>
          <a:prstGeom prst="rect">
            <a:avLst/>
          </a:prstGeom>
          <a:noFill/>
          <a:ln/>
        </p:spPr>
        <p:txBody>
          <a:bodyPr wrap="square" lIns="25400" tIns="25400" rIns="25400" bIns="25400" rtlCol="0" anchor="t">
            <a:normAutofit/>
          </a:bodyPr>
          <a:lstStyle/>
          <a:p>
            <a:pPr algn="l" indent="0" marL="0">
              <a:lnSpc>
                <a:spcPct val="142000"/>
              </a:lnSpc>
              <a:buNone/>
            </a:pPr>
            <a:r>
              <a:rPr lang="en-US" sz="1500" dirty="0">
                <a:solidFill>
                  <a:srgbClr val="1A1A1A"/>
                </a:solidFill>
                <a:latin typeface="Arial" pitchFamily="34" charset="0"/>
                <a:ea typeface="Arial" pitchFamily="34" charset="-122"/>
                <a:cs typeface="Arial" pitchFamily="34" charset="-120"/>
              </a:rPr>
              <a:t>log₂(e)</a:t>
            </a:r>
            <a:endParaRPr lang="en-US" sz="1500" dirty="0"/>
          </a:p>
        </p:txBody>
      </p:sp>
      <p:sp>
        <p:nvSpPr>
          <p:cNvPr id="26" name="Text 24"/>
          <p:cNvSpPr/>
          <p:nvPr/>
        </p:nvSpPr>
        <p:spPr>
          <a:xfrm>
            <a:off x="10345460" y="9089589"/>
            <a:ext cx="5237591" cy="308610"/>
          </a:xfrm>
          <a:prstGeom prst="rect">
            <a:avLst/>
          </a:prstGeom>
          <a:noFill/>
          <a:ln/>
        </p:spPr>
        <p:txBody>
          <a:bodyPr wrap="square" lIns="25400" tIns="25400" rIns="25400" bIns="25400" rtlCol="0" anchor="t">
            <a:normAutofit/>
          </a:bodyPr>
          <a:lstStyle/>
          <a:p>
            <a:pPr algn="l" indent="0" marL="0">
              <a:lnSpc>
                <a:spcPct val="142000"/>
              </a:lnSpc>
              <a:buNone/>
            </a:pPr>
            <a:r>
              <a:rPr lang="en-US" sz="1500" dirty="0">
                <a:solidFill>
                  <a:srgbClr val="3E3A33"/>
                </a:solidFill>
                <a:latin typeface="Arial" pitchFamily="34" charset="0"/>
                <a:ea typeface="Arial" pitchFamily="34" charset="-122"/>
                <a:cs typeface="Arial" pitchFamily="34" charset="-120"/>
              </a:rPr>
              <a:t>convert nats → bits ( ≈ 1.4427 )</a:t>
            </a:r>
            <a:endParaRPr lang="en-US" sz="1500" dirty="0"/>
          </a:p>
        </p:txBody>
      </p:sp>
      <p:sp>
        <p:nvSpPr>
          <p:cNvPr id="27" name="Text 25"/>
          <p:cNvSpPr/>
          <p:nvPr/>
        </p:nvSpPr>
        <p:spPr>
          <a:xfrm>
            <a:off x="16588860" y="9429036"/>
            <a:ext cx="632341"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144" kern="0" dirty="0">
                <a:solidFill>
                  <a:srgbClr val="8A8375"/>
                </a:solidFill>
                <a:latin typeface="Arial" pitchFamily="34" charset="0"/>
                <a:ea typeface="Arial" pitchFamily="34" charset="-122"/>
                <a:cs typeface="Arial" pitchFamily="34" charset="-120"/>
              </a:rPr>
              <a:t>S·05</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1143000" y="533400"/>
            <a:ext cx="2168962"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 02 · METHOD</a:t>
            </a:r>
            <a:endParaRPr lang="en-US" sz="1800" dirty="0"/>
          </a:p>
        </p:txBody>
      </p:sp>
      <p:sp>
        <p:nvSpPr>
          <p:cNvPr id="3" name="Text 1"/>
          <p:cNvSpPr/>
          <p:nvPr/>
        </p:nvSpPr>
        <p:spPr>
          <a:xfrm>
            <a:off x="16102013" y="533400"/>
            <a:ext cx="1119188"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06 </a:t>
            </a:r>
            <a:pPr algn="l" indent="0" marL="0">
              <a:lnSpc>
                <a:spcPct val="142000"/>
              </a:lnSpc>
              <a:buNone/>
            </a:pPr>
            <a:r>
              <a:rPr lang="en-US" sz="1800" spc="252" kern="0" dirty="0">
                <a:solidFill>
                  <a:srgbClr val="C9BFA8"/>
                </a:solidFill>
                <a:latin typeface="Arial" pitchFamily="34" charset="0"/>
                <a:ea typeface="Arial" pitchFamily="34" charset="-122"/>
                <a:cs typeface="Arial" pitchFamily="34" charset="-120"/>
              </a:rPr>
              <a:t>/ 14</a:t>
            </a:r>
            <a:endParaRPr lang="en-US" sz="1800" dirty="0"/>
          </a:p>
        </p:txBody>
      </p:sp>
      <p:sp>
        <p:nvSpPr>
          <p:cNvPr id="4" name="Shape 2"/>
          <p:cNvSpPr/>
          <p:nvPr/>
        </p:nvSpPr>
        <p:spPr>
          <a:xfrm>
            <a:off x="1143000" y="2286000"/>
            <a:ext cx="914400" cy="9525"/>
          </a:xfrm>
          <a:prstGeom prst="rect">
            <a:avLst/>
          </a:prstGeom>
          <a:solidFill>
            <a:srgbClr val="C9BFA8"/>
          </a:solidFill>
          <a:ln/>
        </p:spPr>
      </p:sp>
      <p:sp>
        <p:nvSpPr>
          <p:cNvPr id="5" name="Text 3"/>
          <p:cNvSpPr/>
          <p:nvPr/>
        </p:nvSpPr>
        <p:spPr>
          <a:xfrm>
            <a:off x="1143000" y="2674620"/>
            <a:ext cx="14716125" cy="696397"/>
          </a:xfrm>
          <a:prstGeom prst="rect">
            <a:avLst/>
          </a:prstGeom>
          <a:noFill/>
          <a:ln/>
        </p:spPr>
        <p:txBody>
          <a:bodyPr wrap="square" lIns="25400" tIns="25400" rIns="25400" bIns="25400" rtlCol="0" anchor="t">
            <a:normAutofit/>
          </a:bodyPr>
          <a:lstStyle/>
          <a:p>
            <a:pPr algn="l" indent="0" marL="0">
              <a:lnSpc>
                <a:spcPct val="108000"/>
              </a:lnSpc>
              <a:buNone/>
            </a:pPr>
            <a:r>
              <a:rPr lang="en-US" sz="4800" spc="-72" kern="0" dirty="0">
                <a:solidFill>
                  <a:srgbClr val="1A1A1A"/>
                </a:solidFill>
                <a:latin typeface="Arial" pitchFamily="34" charset="0"/>
                <a:ea typeface="Arial" pitchFamily="34" charset="-122"/>
                <a:cs typeface="Arial" pitchFamily="34" charset="-120"/>
              </a:rPr>
              <a:t>The fairness problem.</a:t>
            </a:r>
            <a:endParaRPr lang="en-US" sz="4800" dirty="0"/>
          </a:p>
        </p:txBody>
      </p:sp>
      <p:sp>
        <p:nvSpPr>
          <p:cNvPr id="6" name="Text 4"/>
          <p:cNvSpPr/>
          <p:nvPr/>
        </p:nvSpPr>
        <p:spPr>
          <a:xfrm>
            <a:off x="1143000" y="3790117"/>
            <a:ext cx="15697200" cy="963930"/>
          </a:xfrm>
          <a:prstGeom prst="rect">
            <a:avLst/>
          </a:prstGeom>
          <a:noFill/>
          <a:ln/>
        </p:spPr>
        <p:txBody>
          <a:bodyPr wrap="square" lIns="25400" tIns="25400" rIns="25400" bIns="25400" rtlCol="0" anchor="t">
            <a:normAutofit/>
          </a:bodyPr>
          <a:lstStyle/>
          <a:p>
            <a:pPr algn="l" indent="0" marL="0">
              <a:lnSpc>
                <a:spcPct val="135000"/>
              </a:lnSpc>
              <a:buNone/>
            </a:pPr>
            <a:r>
              <a:rPr lang="en-US" sz="2700" dirty="0">
                <a:solidFill>
                  <a:srgbClr val="3E3A33"/>
                </a:solidFill>
                <a:latin typeface="Arial" pitchFamily="34" charset="0"/>
                <a:ea typeface="Arial" pitchFamily="34" charset="-122"/>
                <a:cs typeface="Arial" pitchFamily="34" charset="-120"/>
              </a:rPr>
              <a:t>Medical packs 27% more chars per token. Hold compute and text and tokens all constant? Can't be done. You get to pick two.</a:t>
            </a:r>
            <a:endParaRPr lang="en-US" sz="2700" dirty="0"/>
          </a:p>
        </p:txBody>
      </p:sp>
      <p:sp>
        <p:nvSpPr>
          <p:cNvPr id="7" name="Shape 5"/>
          <p:cNvSpPr/>
          <p:nvPr/>
        </p:nvSpPr>
        <p:spPr>
          <a:xfrm>
            <a:off x="1143000" y="5363646"/>
            <a:ext cx="7658100" cy="3234690"/>
          </a:xfrm>
          <a:prstGeom prst="rect">
            <a:avLst/>
          </a:prstGeom>
          <a:solidFill>
            <a:srgbClr val="FFFDF7"/>
          </a:solidFill>
          <a:ln w="7620">
            <a:solidFill>
              <a:srgbClr val="C9BFA8"/>
            </a:solidFill>
            <a:prstDash val="solid"/>
          </a:ln>
        </p:spPr>
      </p:sp>
      <p:sp>
        <p:nvSpPr>
          <p:cNvPr id="8" name="Shape 6"/>
          <p:cNvSpPr/>
          <p:nvPr/>
        </p:nvSpPr>
        <p:spPr>
          <a:xfrm>
            <a:off x="1607820" y="5889427"/>
            <a:ext cx="1278969" cy="346710"/>
          </a:xfrm>
          <a:prstGeom prst="rect">
            <a:avLst/>
          </a:prstGeom>
          <a:solidFill>
            <a:srgbClr val="1A1A1A"/>
          </a:solidFill>
          <a:ln/>
        </p:spPr>
      </p:sp>
      <p:sp>
        <p:nvSpPr>
          <p:cNvPr id="9" name="Text 7"/>
          <p:cNvSpPr/>
          <p:nvPr/>
        </p:nvSpPr>
        <p:spPr>
          <a:xfrm>
            <a:off x="1722120" y="5927527"/>
            <a:ext cx="1126569" cy="308610"/>
          </a:xfrm>
          <a:prstGeom prst="rect">
            <a:avLst/>
          </a:prstGeom>
          <a:noFill/>
          <a:ln/>
        </p:spPr>
        <p:txBody>
          <a:bodyPr wrap="square" lIns="25400" tIns="25400" rIns="25400" bIns="25400" rtlCol="0" anchor="t">
            <a:normAutofit/>
          </a:bodyPr>
          <a:lstStyle/>
          <a:p>
            <a:pPr algn="l" indent="0" marL="0">
              <a:lnSpc>
                <a:spcPct val="142000"/>
              </a:lnSpc>
              <a:buNone/>
            </a:pPr>
            <a:r>
              <a:rPr lang="en-US" sz="1500" b="1" spc="180" kern="0" dirty="0">
                <a:solidFill>
                  <a:srgbClr val="F5EFDF"/>
                </a:solidFill>
                <a:latin typeface="Arial" pitchFamily="34" charset="0"/>
                <a:ea typeface="Arial" pitchFamily="34" charset="-122"/>
                <a:cs typeface="Arial" pitchFamily="34" charset="-120"/>
              </a:rPr>
              <a:t>OPTION 1</a:t>
            </a:r>
            <a:endParaRPr lang="en-US" sz="1500" dirty="0"/>
          </a:p>
        </p:txBody>
      </p:sp>
      <p:sp>
        <p:nvSpPr>
          <p:cNvPr id="10" name="Text 8"/>
          <p:cNvSpPr/>
          <p:nvPr/>
        </p:nvSpPr>
        <p:spPr>
          <a:xfrm>
            <a:off x="3172539" y="5828467"/>
            <a:ext cx="1719977" cy="443865"/>
          </a:xfrm>
          <a:prstGeom prst="rect">
            <a:avLst/>
          </a:prstGeom>
          <a:noFill/>
          <a:ln/>
        </p:spPr>
        <p:txBody>
          <a:bodyPr wrap="square" lIns="25400" tIns="25400" rIns="25400" bIns="25400" rtlCol="0" anchor="t">
            <a:normAutofit/>
          </a:bodyPr>
          <a:lstStyle/>
          <a:p>
            <a:pPr algn="l" indent="0" marL="0">
              <a:lnSpc>
                <a:spcPct val="142000"/>
              </a:lnSpc>
              <a:buNone/>
            </a:pPr>
            <a:r>
              <a:rPr lang="en-US" sz="2250" i="1" dirty="0">
                <a:solidFill>
                  <a:srgbClr val="1A1A1A"/>
                </a:solidFill>
                <a:latin typeface="Arial" pitchFamily="34" charset="0"/>
                <a:ea typeface="Arial" pitchFamily="34" charset="-122"/>
                <a:cs typeface="Arial" pitchFamily="34" charset="-120"/>
              </a:rPr>
              <a:t>same compute</a:t>
            </a:r>
            <a:endParaRPr lang="en-US" sz="2250" dirty="0"/>
          </a:p>
        </p:txBody>
      </p:sp>
      <p:sp>
        <p:nvSpPr>
          <p:cNvPr id="11" name="Text 9"/>
          <p:cNvSpPr/>
          <p:nvPr/>
        </p:nvSpPr>
        <p:spPr>
          <a:xfrm>
            <a:off x="1607820" y="6464737"/>
            <a:ext cx="6930314" cy="8382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1A1A1A"/>
                </a:solidFill>
                <a:latin typeface="Arial" pitchFamily="34" charset="0"/>
                <a:ea typeface="Arial" pitchFamily="34" charset="-122"/>
                <a:cs typeface="Arial" pitchFamily="34" charset="-120"/>
              </a:rPr>
              <a:t>Match total gradient updates. Both models stop at step 6,141.</a:t>
            </a:r>
            <a:endParaRPr lang="en-US" sz="2250" dirty="0"/>
          </a:p>
        </p:txBody>
      </p:sp>
      <p:sp>
        <p:nvSpPr>
          <p:cNvPr id="12" name="Text 10"/>
          <p:cNvSpPr/>
          <p:nvPr/>
        </p:nvSpPr>
        <p:spPr>
          <a:xfrm>
            <a:off x="1607820" y="7493437"/>
            <a:ext cx="6930314" cy="678180"/>
          </a:xfrm>
          <a:prstGeom prst="rect">
            <a:avLst/>
          </a:prstGeom>
          <a:noFill/>
          <a:ln/>
        </p:spPr>
        <p:txBody>
          <a:bodyPr wrap="square" lIns="25400" tIns="25400" rIns="25400" bIns="25400" rtlCol="0" anchor="t">
            <a:normAutofit/>
          </a:bodyPr>
          <a:lstStyle/>
          <a:p>
            <a:pPr algn="l" indent="0" marL="0">
              <a:lnSpc>
                <a:spcPct val="140000"/>
              </a:lnSpc>
              <a:buNone/>
            </a:pPr>
            <a:r>
              <a:rPr lang="en-US" sz="1800" i="1" dirty="0">
                <a:solidFill>
                  <a:srgbClr val="8A8375"/>
                </a:solidFill>
                <a:latin typeface="Arial" pitchFamily="34" charset="0"/>
                <a:ea typeface="Arial" pitchFamily="34" charset="-122"/>
                <a:cs typeface="Arial" pitchFamily="34" charset="-120"/>
              </a:rPr>
              <a:t>Medical sees more raw text per step — fair at a matched compute budget.</a:t>
            </a:r>
            <a:endParaRPr lang="en-US" sz="1800" dirty="0"/>
          </a:p>
        </p:txBody>
      </p:sp>
      <p:sp>
        <p:nvSpPr>
          <p:cNvPr id="13" name="Shape 11"/>
          <p:cNvSpPr/>
          <p:nvPr/>
        </p:nvSpPr>
        <p:spPr>
          <a:xfrm>
            <a:off x="9486900" y="5363646"/>
            <a:ext cx="7658100" cy="3234690"/>
          </a:xfrm>
          <a:prstGeom prst="rect">
            <a:avLst/>
          </a:prstGeom>
          <a:solidFill>
            <a:srgbClr val="FFFDF7"/>
          </a:solidFill>
          <a:ln w="7620">
            <a:solidFill>
              <a:srgbClr val="C9BFA8"/>
            </a:solidFill>
            <a:prstDash val="solid"/>
          </a:ln>
        </p:spPr>
      </p:sp>
      <p:sp>
        <p:nvSpPr>
          <p:cNvPr id="14" name="Shape 12"/>
          <p:cNvSpPr/>
          <p:nvPr/>
        </p:nvSpPr>
        <p:spPr>
          <a:xfrm>
            <a:off x="9951720" y="5889427"/>
            <a:ext cx="1317069" cy="346710"/>
          </a:xfrm>
          <a:prstGeom prst="rect">
            <a:avLst/>
          </a:prstGeom>
          <a:solidFill>
            <a:srgbClr val="1A1A1A"/>
          </a:solidFill>
          <a:ln/>
        </p:spPr>
      </p:sp>
      <p:sp>
        <p:nvSpPr>
          <p:cNvPr id="15" name="Text 13"/>
          <p:cNvSpPr/>
          <p:nvPr/>
        </p:nvSpPr>
        <p:spPr>
          <a:xfrm>
            <a:off x="10066020" y="5927527"/>
            <a:ext cx="1164669" cy="308610"/>
          </a:xfrm>
          <a:prstGeom prst="rect">
            <a:avLst/>
          </a:prstGeom>
          <a:noFill/>
          <a:ln/>
        </p:spPr>
        <p:txBody>
          <a:bodyPr wrap="square" lIns="25400" tIns="25400" rIns="25400" bIns="25400" rtlCol="0" anchor="t">
            <a:normAutofit/>
          </a:bodyPr>
          <a:lstStyle/>
          <a:p>
            <a:pPr algn="l" indent="0" marL="0">
              <a:lnSpc>
                <a:spcPct val="142000"/>
              </a:lnSpc>
              <a:buNone/>
            </a:pPr>
            <a:r>
              <a:rPr lang="en-US" sz="1500" b="1" spc="180" kern="0" dirty="0">
                <a:solidFill>
                  <a:srgbClr val="F5EFDF"/>
                </a:solidFill>
                <a:latin typeface="Arial" pitchFamily="34" charset="0"/>
                <a:ea typeface="Arial" pitchFamily="34" charset="-122"/>
                <a:cs typeface="Arial" pitchFamily="34" charset="-120"/>
              </a:rPr>
              <a:t>OPTION 2</a:t>
            </a:r>
            <a:endParaRPr lang="en-US" sz="1500" dirty="0"/>
          </a:p>
        </p:txBody>
      </p:sp>
      <p:sp>
        <p:nvSpPr>
          <p:cNvPr id="16" name="Text 14"/>
          <p:cNvSpPr/>
          <p:nvPr/>
        </p:nvSpPr>
        <p:spPr>
          <a:xfrm>
            <a:off x="11554540" y="5828467"/>
            <a:ext cx="2265759" cy="443865"/>
          </a:xfrm>
          <a:prstGeom prst="rect">
            <a:avLst/>
          </a:prstGeom>
          <a:noFill/>
          <a:ln/>
        </p:spPr>
        <p:txBody>
          <a:bodyPr wrap="square" lIns="25400" tIns="25400" rIns="25400" bIns="25400" rtlCol="0" anchor="t">
            <a:normAutofit/>
          </a:bodyPr>
          <a:lstStyle/>
          <a:p>
            <a:pPr algn="l" indent="0" marL="0">
              <a:lnSpc>
                <a:spcPct val="142000"/>
              </a:lnSpc>
              <a:buNone/>
            </a:pPr>
            <a:r>
              <a:rPr lang="en-US" sz="2250" i="1" dirty="0">
                <a:solidFill>
                  <a:srgbClr val="1A1A1A"/>
                </a:solidFill>
                <a:latin typeface="Arial" pitchFamily="34" charset="0"/>
                <a:ea typeface="Arial" pitchFamily="34" charset="-122"/>
                <a:cs typeface="Arial" pitchFamily="34" charset="-120"/>
              </a:rPr>
              <a:t>same text exposure</a:t>
            </a:r>
            <a:endParaRPr lang="en-US" sz="2250" dirty="0"/>
          </a:p>
        </p:txBody>
      </p:sp>
      <p:sp>
        <p:nvSpPr>
          <p:cNvPr id="17" name="Text 15"/>
          <p:cNvSpPr/>
          <p:nvPr/>
        </p:nvSpPr>
        <p:spPr>
          <a:xfrm>
            <a:off x="9951720" y="6464737"/>
            <a:ext cx="6930314" cy="8382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1A1A1A"/>
                </a:solidFill>
                <a:latin typeface="Arial" pitchFamily="34" charset="0"/>
                <a:ea typeface="Arial" pitchFamily="34" charset="-122"/>
                <a:cs typeface="Arial" pitchFamily="34" charset="-120"/>
              </a:rPr>
              <a:t>Each runs 2 full epochs. Medical at 6,141, general at 7,783.</a:t>
            </a:r>
            <a:endParaRPr lang="en-US" sz="2250" dirty="0"/>
          </a:p>
        </p:txBody>
      </p:sp>
      <p:sp>
        <p:nvSpPr>
          <p:cNvPr id="18" name="Text 16"/>
          <p:cNvSpPr/>
          <p:nvPr/>
        </p:nvSpPr>
        <p:spPr>
          <a:xfrm>
            <a:off x="9951720" y="7493437"/>
            <a:ext cx="6930314" cy="678180"/>
          </a:xfrm>
          <a:prstGeom prst="rect">
            <a:avLst/>
          </a:prstGeom>
          <a:noFill/>
          <a:ln/>
        </p:spPr>
        <p:txBody>
          <a:bodyPr wrap="square" lIns="25400" tIns="25400" rIns="25400" bIns="25400" rtlCol="0" anchor="t">
            <a:normAutofit/>
          </a:bodyPr>
          <a:lstStyle/>
          <a:p>
            <a:pPr algn="l" indent="0" marL="0">
              <a:lnSpc>
                <a:spcPct val="140000"/>
              </a:lnSpc>
              <a:buNone/>
            </a:pPr>
            <a:r>
              <a:rPr lang="en-US" sz="1800" i="1" dirty="0">
                <a:solidFill>
                  <a:srgbClr val="8A8375"/>
                </a:solidFill>
                <a:latin typeface="Arial" pitchFamily="34" charset="0"/>
                <a:ea typeface="Arial" pitchFamily="34" charset="-122"/>
                <a:cs typeface="Arial" pitchFamily="34" charset="-120"/>
              </a:rPr>
              <a:t>General does more gradient updates — fair at matched data exposure.</a:t>
            </a:r>
            <a:endParaRPr lang="en-US" sz="1800" dirty="0"/>
          </a:p>
        </p:txBody>
      </p:sp>
      <p:sp>
        <p:nvSpPr>
          <p:cNvPr id="19" name="Text 17"/>
          <p:cNvSpPr/>
          <p:nvPr/>
        </p:nvSpPr>
        <p:spPr>
          <a:xfrm>
            <a:off x="1143000" y="9055537"/>
            <a:ext cx="12753975" cy="452438"/>
          </a:xfrm>
          <a:prstGeom prst="rect">
            <a:avLst/>
          </a:prstGeom>
          <a:noFill/>
          <a:ln/>
        </p:spPr>
        <p:txBody>
          <a:bodyPr wrap="square" lIns="25400" tIns="25400" rIns="25400" bIns="25400" rtlCol="0" anchor="t">
            <a:normAutofit/>
          </a:bodyPr>
          <a:lstStyle/>
          <a:p>
            <a:pPr algn="l" indent="0" marL="0">
              <a:lnSpc>
                <a:spcPct val="145000"/>
              </a:lnSpc>
              <a:buNone/>
            </a:pPr>
            <a:r>
              <a:rPr lang="en-US" sz="2250" i="1" dirty="0">
                <a:solidFill>
                  <a:srgbClr val="1A1A1A"/>
                </a:solidFill>
                <a:latin typeface="Arial" pitchFamily="34" charset="0"/>
                <a:ea typeface="Arial" pitchFamily="34" charset="-122"/>
                <a:cs typeface="Arial" pitchFamily="34" charset="-120"/>
              </a:rPr>
              <a:t>I report both frames throughout.</a:t>
            </a:r>
            <a:endParaRPr lang="en-US" sz="2250" dirty="0"/>
          </a:p>
        </p:txBody>
      </p:sp>
      <p:sp>
        <p:nvSpPr>
          <p:cNvPr id="20" name="Text 18"/>
          <p:cNvSpPr/>
          <p:nvPr/>
        </p:nvSpPr>
        <p:spPr>
          <a:xfrm>
            <a:off x="16588860" y="9429036"/>
            <a:ext cx="632341"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144" kern="0" dirty="0">
                <a:solidFill>
                  <a:srgbClr val="8A8375"/>
                </a:solidFill>
                <a:latin typeface="Arial" pitchFamily="34" charset="0"/>
                <a:ea typeface="Arial" pitchFamily="34" charset="-122"/>
                <a:cs typeface="Arial" pitchFamily="34" charset="-120"/>
              </a:rPr>
              <a:t>S·06</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1143000" y="533400"/>
            <a:ext cx="2204323"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 03 · RESULTS</a:t>
            </a:r>
            <a:endParaRPr lang="en-US" sz="1800" dirty="0"/>
          </a:p>
        </p:txBody>
      </p:sp>
      <p:sp>
        <p:nvSpPr>
          <p:cNvPr id="3" name="Text 1"/>
          <p:cNvSpPr/>
          <p:nvPr/>
        </p:nvSpPr>
        <p:spPr>
          <a:xfrm>
            <a:off x="16102013" y="533400"/>
            <a:ext cx="1119188"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07 </a:t>
            </a:r>
            <a:pPr algn="l" indent="0" marL="0">
              <a:lnSpc>
                <a:spcPct val="142000"/>
              </a:lnSpc>
              <a:buNone/>
            </a:pPr>
            <a:r>
              <a:rPr lang="en-US" sz="1800" spc="252" kern="0" dirty="0">
                <a:solidFill>
                  <a:srgbClr val="C9BFA8"/>
                </a:solidFill>
                <a:latin typeface="Arial" pitchFamily="34" charset="0"/>
                <a:ea typeface="Arial" pitchFamily="34" charset="-122"/>
                <a:cs typeface="Arial" pitchFamily="34" charset="-120"/>
              </a:rPr>
              <a:t>/ 14</a:t>
            </a:r>
            <a:endParaRPr lang="en-US" sz="1800" dirty="0"/>
          </a:p>
        </p:txBody>
      </p:sp>
      <p:sp>
        <p:nvSpPr>
          <p:cNvPr id="4" name="Shape 2"/>
          <p:cNvSpPr/>
          <p:nvPr/>
        </p:nvSpPr>
        <p:spPr>
          <a:xfrm>
            <a:off x="1143000" y="2286000"/>
            <a:ext cx="914400" cy="9525"/>
          </a:xfrm>
          <a:prstGeom prst="rect">
            <a:avLst/>
          </a:prstGeom>
          <a:solidFill>
            <a:srgbClr val="C9BFA8"/>
          </a:solidFill>
          <a:ln/>
        </p:spPr>
      </p:sp>
      <p:sp>
        <p:nvSpPr>
          <p:cNvPr id="5" name="Text 3"/>
          <p:cNvSpPr/>
          <p:nvPr/>
        </p:nvSpPr>
        <p:spPr>
          <a:xfrm>
            <a:off x="1143000" y="2674620"/>
            <a:ext cx="14716125" cy="696397"/>
          </a:xfrm>
          <a:prstGeom prst="rect">
            <a:avLst/>
          </a:prstGeom>
          <a:noFill/>
          <a:ln/>
        </p:spPr>
        <p:txBody>
          <a:bodyPr wrap="square" lIns="25400" tIns="25400" rIns="25400" bIns="25400" rtlCol="0" anchor="t">
            <a:normAutofit/>
          </a:bodyPr>
          <a:lstStyle/>
          <a:p>
            <a:pPr algn="l" indent="0" marL="0">
              <a:lnSpc>
                <a:spcPct val="108000"/>
              </a:lnSpc>
              <a:buNone/>
            </a:pPr>
            <a:r>
              <a:rPr lang="en-US" sz="4800" spc="-72" kern="0" dirty="0">
                <a:solidFill>
                  <a:srgbClr val="1A1A1A"/>
                </a:solidFill>
                <a:latin typeface="Arial" pitchFamily="34" charset="0"/>
                <a:ea typeface="Arial" pitchFamily="34" charset="-122"/>
                <a:cs typeface="Arial" pitchFamily="34" charset="-120"/>
              </a:rPr>
              <a:t>Compression — before any training at all.</a:t>
            </a:r>
            <a:endParaRPr lang="en-US" sz="4800" dirty="0"/>
          </a:p>
        </p:txBody>
      </p:sp>
      <p:sp>
        <p:nvSpPr>
          <p:cNvPr id="6" name="Text 4"/>
          <p:cNvSpPr/>
          <p:nvPr/>
        </p:nvSpPr>
        <p:spPr>
          <a:xfrm>
            <a:off x="1143000" y="3790117"/>
            <a:ext cx="13735050" cy="508635"/>
          </a:xfrm>
          <a:prstGeom prst="rect">
            <a:avLst/>
          </a:prstGeom>
          <a:noFill/>
          <a:ln/>
        </p:spPr>
        <p:txBody>
          <a:bodyPr wrap="square" lIns="25400" tIns="25400" rIns="25400" bIns="25400" rtlCol="0" anchor="t">
            <a:normAutofit/>
          </a:bodyPr>
          <a:lstStyle/>
          <a:p>
            <a:pPr algn="l" indent="0" marL="0">
              <a:lnSpc>
                <a:spcPct val="135000"/>
              </a:lnSpc>
              <a:buNone/>
            </a:pPr>
            <a:r>
              <a:rPr lang="en-US" sz="2700" dirty="0">
                <a:solidFill>
                  <a:srgbClr val="3E3A33"/>
                </a:solidFill>
                <a:latin typeface="Arial" pitchFamily="34" charset="0"/>
                <a:ea typeface="Arial" pitchFamily="34" charset="-122"/>
                <a:cs typeface="Arial" pitchFamily="34" charset="-120"/>
              </a:rPr>
              <a:t>Medical wins big on PubMed, loses big on wikitext, and </a:t>
            </a:r>
            <a:pPr algn="l" indent="0" marL="0">
              <a:lnSpc>
                <a:spcPct val="135000"/>
              </a:lnSpc>
              <a:buNone/>
            </a:pPr>
            <a:r>
              <a:rPr lang="en-US" sz="2700" i="1" dirty="0">
                <a:solidFill>
                  <a:srgbClr val="3E3A33"/>
                </a:solidFill>
                <a:latin typeface="Arial" pitchFamily="34" charset="0"/>
                <a:ea typeface="Arial" pitchFamily="34" charset="-122"/>
                <a:cs typeface="Arial" pitchFamily="34" charset="-120"/>
              </a:rPr>
              <a:t>ties </a:t>
            </a:r>
            <a:pPr algn="l" indent="0" marL="0">
              <a:lnSpc>
                <a:spcPct val="135000"/>
              </a:lnSpc>
              <a:buNone/>
            </a:pPr>
            <a:r>
              <a:rPr lang="en-US" sz="2700" dirty="0">
                <a:solidFill>
                  <a:srgbClr val="3E3A33"/>
                </a:solidFill>
                <a:latin typeface="Arial" pitchFamily="34" charset="0"/>
                <a:ea typeface="Arial" pitchFamily="34" charset="-122"/>
                <a:cs typeface="Arial" pitchFamily="34" charset="-120"/>
              </a:rPr>
              <a:t>on MTSamples.</a:t>
            </a:r>
            <a:endParaRPr lang="en-US" sz="2700" dirty="0"/>
          </a:p>
        </p:txBody>
      </p:sp>
      <p:pic>
        <p:nvPicPr>
          <p:cNvPr id="7" name="Image 0" descr="preencoded.png">    </p:cNvPr>
          <p:cNvPicPr>
            <a:picLocks noChangeAspect="1"/>
          </p:cNvPicPr>
          <p:nvPr/>
        </p:nvPicPr>
        <p:blipFill>
          <a:blip r:embed="rId1"/>
          <a:stretch>
            <a:fillRect/>
          </a:stretch>
        </p:blipFill>
        <p:spPr>
          <a:xfrm>
            <a:off x="1143000" y="4527352"/>
            <a:ext cx="16002000" cy="3640217"/>
          </a:xfrm>
          <a:prstGeom prst="rect">
            <a:avLst/>
          </a:prstGeom>
        </p:spPr>
      </p:pic>
      <p:sp>
        <p:nvSpPr>
          <p:cNvPr id="8" name="Shape 5"/>
          <p:cNvSpPr/>
          <p:nvPr/>
        </p:nvSpPr>
        <p:spPr>
          <a:xfrm>
            <a:off x="14634092" y="8276630"/>
            <a:ext cx="133350" cy="133350"/>
          </a:xfrm>
          <a:prstGeom prst="roundRect">
            <a:avLst>
              <a:gd name="adj" fmla="val 21429"/>
            </a:avLst>
          </a:prstGeom>
          <a:solidFill>
            <a:srgbClr val="2457A8"/>
          </a:solidFill>
          <a:ln/>
        </p:spPr>
      </p:sp>
      <p:sp>
        <p:nvSpPr>
          <p:cNvPr id="9" name="Text 6"/>
          <p:cNvSpPr/>
          <p:nvPr/>
        </p:nvSpPr>
        <p:spPr>
          <a:xfrm>
            <a:off x="14862692" y="8205668"/>
            <a:ext cx="937022" cy="312420"/>
          </a:xfrm>
          <a:prstGeom prst="rect">
            <a:avLst/>
          </a:prstGeom>
          <a:noFill/>
          <a:ln/>
        </p:spPr>
        <p:txBody>
          <a:bodyPr wrap="square" lIns="0" tIns="0" rIns="0" bIns="0" rtlCol="0" anchor="t">
            <a:normAutofit/>
          </a:bodyPr>
          <a:lstStyle/>
          <a:p>
            <a:pPr algn="l" indent="0" marL="0">
              <a:lnSpc>
                <a:spcPct val="142000"/>
              </a:lnSpc>
              <a:buNone/>
            </a:pPr>
            <a:r>
              <a:rPr lang="en-US" sz="1950" spc="39" kern="0" dirty="0">
                <a:solidFill>
                  <a:srgbClr val="3E3A33"/>
                </a:solidFill>
                <a:latin typeface="Arial" pitchFamily="34" charset="0"/>
                <a:ea typeface="Arial" pitchFamily="34" charset="-122"/>
                <a:cs typeface="Arial" pitchFamily="34" charset="-120"/>
              </a:rPr>
              <a:t>general</a:t>
            </a:r>
            <a:endParaRPr lang="en-US" sz="1950" dirty="0"/>
          </a:p>
        </p:txBody>
      </p:sp>
      <p:sp>
        <p:nvSpPr>
          <p:cNvPr id="10" name="Shape 7"/>
          <p:cNvSpPr/>
          <p:nvPr/>
        </p:nvSpPr>
        <p:spPr>
          <a:xfrm>
            <a:off x="16028314" y="8276630"/>
            <a:ext cx="133350" cy="133350"/>
          </a:xfrm>
          <a:prstGeom prst="roundRect">
            <a:avLst>
              <a:gd name="adj" fmla="val 21429"/>
            </a:avLst>
          </a:prstGeom>
          <a:solidFill>
            <a:srgbClr val="B6351D"/>
          </a:solidFill>
          <a:ln/>
        </p:spPr>
      </p:sp>
      <p:sp>
        <p:nvSpPr>
          <p:cNvPr id="11" name="Text 8"/>
          <p:cNvSpPr/>
          <p:nvPr/>
        </p:nvSpPr>
        <p:spPr>
          <a:xfrm>
            <a:off x="16256914" y="8205668"/>
            <a:ext cx="964286" cy="312420"/>
          </a:xfrm>
          <a:prstGeom prst="rect">
            <a:avLst/>
          </a:prstGeom>
          <a:noFill/>
          <a:ln/>
        </p:spPr>
        <p:txBody>
          <a:bodyPr wrap="square" lIns="0" tIns="0" rIns="0" bIns="0" rtlCol="0" anchor="t">
            <a:normAutofit/>
          </a:bodyPr>
          <a:lstStyle/>
          <a:p>
            <a:pPr algn="l" indent="0" marL="0">
              <a:lnSpc>
                <a:spcPct val="142000"/>
              </a:lnSpc>
              <a:buNone/>
            </a:pPr>
            <a:r>
              <a:rPr lang="en-US" sz="1950" spc="39" kern="0" dirty="0">
                <a:solidFill>
                  <a:srgbClr val="3E3A33"/>
                </a:solidFill>
                <a:latin typeface="Arial" pitchFamily="34" charset="0"/>
                <a:ea typeface="Arial" pitchFamily="34" charset="-122"/>
                <a:cs typeface="Arial" pitchFamily="34" charset="-120"/>
              </a:rPr>
              <a:t>medical</a:t>
            </a:r>
            <a:endParaRPr lang="en-US" sz="1950" dirty="0"/>
          </a:p>
        </p:txBody>
      </p:sp>
      <p:sp>
        <p:nvSpPr>
          <p:cNvPr id="12" name="Text 9"/>
          <p:cNvSpPr/>
          <p:nvPr/>
        </p:nvSpPr>
        <p:spPr>
          <a:xfrm>
            <a:off x="1143000" y="8633460"/>
            <a:ext cx="14716125" cy="739140"/>
          </a:xfrm>
          <a:prstGeom prst="rect">
            <a:avLst/>
          </a:prstGeom>
          <a:noFill/>
          <a:ln/>
        </p:spPr>
        <p:txBody>
          <a:bodyPr wrap="square" lIns="25400" tIns="25400" rIns="25400" bIns="25400" rtlCol="0" anchor="t">
            <a:normAutofit/>
          </a:bodyPr>
          <a:lstStyle/>
          <a:p>
            <a:pPr algn="l" indent="0" marL="0">
              <a:lnSpc>
                <a:spcPct val="140000"/>
              </a:lnSpc>
              <a:buNone/>
            </a:pPr>
            <a:r>
              <a:rPr lang="en-US" sz="1950" b="1" dirty="0">
                <a:solidFill>
                  <a:srgbClr val="1A1A1A"/>
                </a:solidFill>
                <a:latin typeface="Arial" pitchFamily="34" charset="0"/>
                <a:ea typeface="Arial" pitchFamily="34" charset="-122"/>
                <a:cs typeface="Arial" pitchFamily="34" charset="-120"/>
              </a:rPr>
              <a:t>Figure 1. </a:t>
            </a:r>
            <a:pPr algn="l" indent="0" marL="0">
              <a:lnSpc>
                <a:spcPct val="140000"/>
              </a:lnSpc>
              <a:buNone/>
            </a:pPr>
            <a:r>
              <a:rPr lang="en-US" sz="1950" dirty="0">
                <a:solidFill>
                  <a:srgbClr val="8A8375"/>
                </a:solidFill>
                <a:latin typeface="Arial" pitchFamily="34" charset="0"/>
                <a:ea typeface="Arial" pitchFamily="34" charset="-122"/>
                <a:cs typeface="Arial" pitchFamily="34" charset="-120"/>
              </a:rPr>
              <a:t>Characters per token on each held-out corpus — higher is better for that tokenizer. The MTSamples tie is the first clue that tokenizer specialization is </a:t>
            </a:r>
            <a:pPr algn="l" indent="0" marL="0">
              <a:lnSpc>
                <a:spcPct val="140000"/>
              </a:lnSpc>
              <a:buNone/>
            </a:pPr>
            <a:r>
              <a:rPr lang="en-US" sz="1950" i="1" dirty="0">
                <a:solidFill>
                  <a:srgbClr val="8A8375"/>
                </a:solidFill>
                <a:latin typeface="Arial" pitchFamily="34" charset="0"/>
                <a:ea typeface="Arial" pitchFamily="34" charset="-122"/>
                <a:cs typeface="Arial" pitchFamily="34" charset="-120"/>
              </a:rPr>
              <a:t>register-specific</a:t>
            </a:r>
            <a:pPr algn="l" indent="0" marL="0">
              <a:lnSpc>
                <a:spcPct val="140000"/>
              </a:lnSpc>
              <a:buNone/>
            </a:pPr>
            <a:r>
              <a:rPr lang="en-US" sz="1950" dirty="0">
                <a:solidFill>
                  <a:srgbClr val="8A8375"/>
                </a:solidFill>
                <a:latin typeface="Arial" pitchFamily="34" charset="0"/>
                <a:ea typeface="Arial" pitchFamily="34" charset="-122"/>
                <a:cs typeface="Arial" pitchFamily="34" charset="-120"/>
              </a:rPr>
              <a:t>, not domain-specific.</a:t>
            </a:r>
            <a:endParaRPr lang="en-US" sz="1950" dirty="0"/>
          </a:p>
        </p:txBody>
      </p:sp>
      <p:sp>
        <p:nvSpPr>
          <p:cNvPr id="13" name="Text 10"/>
          <p:cNvSpPr/>
          <p:nvPr/>
        </p:nvSpPr>
        <p:spPr>
          <a:xfrm>
            <a:off x="16588860" y="9429036"/>
            <a:ext cx="632341"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144" kern="0" dirty="0">
                <a:solidFill>
                  <a:srgbClr val="8A8375"/>
                </a:solidFill>
                <a:latin typeface="Arial" pitchFamily="34" charset="0"/>
                <a:ea typeface="Arial" pitchFamily="34" charset="-122"/>
                <a:cs typeface="Arial" pitchFamily="34" charset="-120"/>
              </a:rPr>
              <a:t>S·07</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1143000" y="533400"/>
            <a:ext cx="2204323"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 03 · RESULTS</a:t>
            </a:r>
            <a:endParaRPr lang="en-US" sz="1800" dirty="0"/>
          </a:p>
        </p:txBody>
      </p:sp>
      <p:sp>
        <p:nvSpPr>
          <p:cNvPr id="3" name="Text 1"/>
          <p:cNvSpPr/>
          <p:nvPr/>
        </p:nvSpPr>
        <p:spPr>
          <a:xfrm>
            <a:off x="16102013" y="533400"/>
            <a:ext cx="1119188"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08 </a:t>
            </a:r>
            <a:pPr algn="l" indent="0" marL="0">
              <a:lnSpc>
                <a:spcPct val="142000"/>
              </a:lnSpc>
              <a:buNone/>
            </a:pPr>
            <a:r>
              <a:rPr lang="en-US" sz="1800" spc="252" kern="0" dirty="0">
                <a:solidFill>
                  <a:srgbClr val="C9BFA8"/>
                </a:solidFill>
                <a:latin typeface="Arial" pitchFamily="34" charset="0"/>
                <a:ea typeface="Arial" pitchFamily="34" charset="-122"/>
                <a:cs typeface="Arial" pitchFamily="34" charset="-120"/>
              </a:rPr>
              <a:t>/ 14</a:t>
            </a:r>
            <a:endParaRPr lang="en-US" sz="1800" dirty="0"/>
          </a:p>
        </p:txBody>
      </p:sp>
      <p:sp>
        <p:nvSpPr>
          <p:cNvPr id="4" name="Shape 2"/>
          <p:cNvSpPr/>
          <p:nvPr/>
        </p:nvSpPr>
        <p:spPr>
          <a:xfrm>
            <a:off x="1143000" y="2095500"/>
            <a:ext cx="914400" cy="9525"/>
          </a:xfrm>
          <a:prstGeom prst="rect">
            <a:avLst/>
          </a:prstGeom>
          <a:solidFill>
            <a:srgbClr val="C9BFA8"/>
          </a:solidFill>
          <a:ln/>
        </p:spPr>
      </p:sp>
      <p:sp>
        <p:nvSpPr>
          <p:cNvPr id="5" name="Text 3"/>
          <p:cNvSpPr/>
          <p:nvPr/>
        </p:nvSpPr>
        <p:spPr>
          <a:xfrm>
            <a:off x="1143000" y="2484120"/>
            <a:ext cx="14716125" cy="696397"/>
          </a:xfrm>
          <a:prstGeom prst="rect">
            <a:avLst/>
          </a:prstGeom>
          <a:noFill/>
          <a:ln/>
        </p:spPr>
        <p:txBody>
          <a:bodyPr wrap="square" lIns="25400" tIns="25400" rIns="25400" bIns="25400" rtlCol="0" anchor="t">
            <a:normAutofit/>
          </a:bodyPr>
          <a:lstStyle/>
          <a:p>
            <a:pPr algn="l" indent="0" marL="0">
              <a:lnSpc>
                <a:spcPct val="108000"/>
              </a:lnSpc>
              <a:buNone/>
            </a:pPr>
            <a:r>
              <a:rPr lang="en-US" sz="4800" spc="-72" kern="0" dirty="0">
                <a:solidFill>
                  <a:srgbClr val="1A1A1A"/>
                </a:solidFill>
                <a:latin typeface="Arial" pitchFamily="34" charset="0"/>
                <a:ea typeface="Arial" pitchFamily="34" charset="-122"/>
                <a:cs typeface="Arial" pitchFamily="34" charset="-120"/>
              </a:rPr>
              <a:t>A methodological detour—the 1-epoch trap.</a:t>
            </a:r>
            <a:endParaRPr lang="en-US" sz="4800" dirty="0"/>
          </a:p>
        </p:txBody>
      </p:sp>
      <p:sp>
        <p:nvSpPr>
          <p:cNvPr id="6" name="Text 4"/>
          <p:cNvSpPr/>
          <p:nvPr/>
        </p:nvSpPr>
        <p:spPr>
          <a:xfrm>
            <a:off x="1143000" y="3332917"/>
            <a:ext cx="16482060" cy="501015"/>
          </a:xfrm>
          <a:prstGeom prst="rect">
            <a:avLst/>
          </a:prstGeom>
          <a:noFill/>
          <a:ln/>
        </p:spPr>
        <p:txBody>
          <a:bodyPr wrap="square" lIns="25400" tIns="25400" rIns="25400" bIns="25400" rtlCol="0" anchor="t">
            <a:normAutofit/>
          </a:bodyPr>
          <a:lstStyle/>
          <a:p>
            <a:pPr algn="l" indent="0" marL="0">
              <a:lnSpc>
                <a:spcPct val="135000"/>
              </a:lnSpc>
              <a:buNone/>
            </a:pPr>
            <a:r>
              <a:rPr lang="en-US" sz="2700" dirty="0">
                <a:solidFill>
                  <a:srgbClr val="3E3A33"/>
                </a:solidFill>
                <a:latin typeface="Arial" pitchFamily="34" charset="0"/>
                <a:ea typeface="Arial" pitchFamily="34" charset="-122"/>
                <a:cs typeface="Arial" pitchFamily="34" charset="-120"/>
              </a:rPr>
              <a:t>The pilot's “plateau” was the cosine LR schedule collapsing to its floor. Not convergence.</a:t>
            </a:r>
            <a:endParaRPr lang="en-US" sz="2700" dirty="0"/>
          </a:p>
        </p:txBody>
      </p:sp>
      <p:pic>
        <p:nvPicPr>
          <p:cNvPr id="7" name="Image 0" descr="preencoded.png">    </p:cNvPr>
          <p:cNvPicPr>
            <a:picLocks noChangeAspect="1"/>
          </p:cNvPicPr>
          <p:nvPr/>
        </p:nvPicPr>
        <p:blipFill>
          <a:blip r:embed="rId1"/>
          <a:stretch>
            <a:fillRect/>
          </a:stretch>
        </p:blipFill>
        <p:spPr>
          <a:xfrm>
            <a:off x="1143000" y="3872032"/>
            <a:ext cx="16002000" cy="4287917"/>
          </a:xfrm>
          <a:prstGeom prst="rect">
            <a:avLst/>
          </a:prstGeom>
        </p:spPr>
      </p:pic>
      <p:sp>
        <p:nvSpPr>
          <p:cNvPr id="8" name="Shape 5"/>
          <p:cNvSpPr/>
          <p:nvPr/>
        </p:nvSpPr>
        <p:spPr>
          <a:xfrm>
            <a:off x="13592413" y="8269010"/>
            <a:ext cx="133350" cy="133350"/>
          </a:xfrm>
          <a:prstGeom prst="roundRect">
            <a:avLst>
              <a:gd name="adj" fmla="val 21429"/>
            </a:avLst>
          </a:prstGeom>
          <a:solidFill>
            <a:srgbClr val="1A1A1A">
              <a:alpha val="45000"/>
            </a:srgbClr>
          </a:solidFill>
          <a:ln/>
        </p:spPr>
      </p:sp>
      <p:sp>
        <p:nvSpPr>
          <p:cNvPr id="9" name="Text 6"/>
          <p:cNvSpPr/>
          <p:nvPr/>
        </p:nvSpPr>
        <p:spPr>
          <a:xfrm>
            <a:off x="13821013" y="8198048"/>
            <a:ext cx="1452444" cy="312420"/>
          </a:xfrm>
          <a:prstGeom prst="rect">
            <a:avLst/>
          </a:prstGeom>
          <a:noFill/>
          <a:ln/>
        </p:spPr>
        <p:txBody>
          <a:bodyPr wrap="square" lIns="0" tIns="0" rIns="0" bIns="0" rtlCol="0" anchor="t">
            <a:normAutofit/>
          </a:bodyPr>
          <a:lstStyle/>
          <a:p>
            <a:pPr algn="l" indent="0" marL="0">
              <a:lnSpc>
                <a:spcPct val="142000"/>
              </a:lnSpc>
              <a:buNone/>
            </a:pPr>
            <a:r>
              <a:rPr lang="en-US" sz="1950" spc="39" kern="0" dirty="0">
                <a:solidFill>
                  <a:srgbClr val="3E3A33"/>
                </a:solidFill>
                <a:latin typeface="Arial" pitchFamily="34" charset="0"/>
                <a:ea typeface="Arial" pitchFamily="34" charset="-122"/>
                <a:cs typeface="Arial" pitchFamily="34" charset="-120"/>
              </a:rPr>
              <a:t>1-epoch run</a:t>
            </a:r>
            <a:endParaRPr lang="en-US" sz="1950" dirty="0"/>
          </a:p>
        </p:txBody>
      </p:sp>
      <p:sp>
        <p:nvSpPr>
          <p:cNvPr id="10" name="Shape 7"/>
          <p:cNvSpPr/>
          <p:nvPr/>
        </p:nvSpPr>
        <p:spPr>
          <a:xfrm>
            <a:off x="15540157" y="8269010"/>
            <a:ext cx="133350" cy="133350"/>
          </a:xfrm>
          <a:prstGeom prst="roundRect">
            <a:avLst>
              <a:gd name="adj" fmla="val 21429"/>
            </a:avLst>
          </a:prstGeom>
          <a:solidFill>
            <a:srgbClr val="1A1A1A"/>
          </a:solidFill>
          <a:ln/>
        </p:spPr>
      </p:sp>
      <p:sp>
        <p:nvSpPr>
          <p:cNvPr id="11" name="Text 8"/>
          <p:cNvSpPr/>
          <p:nvPr/>
        </p:nvSpPr>
        <p:spPr>
          <a:xfrm>
            <a:off x="15768757" y="8198048"/>
            <a:ext cx="1452443" cy="312420"/>
          </a:xfrm>
          <a:prstGeom prst="rect">
            <a:avLst/>
          </a:prstGeom>
          <a:noFill/>
          <a:ln/>
        </p:spPr>
        <p:txBody>
          <a:bodyPr wrap="square" lIns="0" tIns="0" rIns="0" bIns="0" rtlCol="0" anchor="t">
            <a:normAutofit/>
          </a:bodyPr>
          <a:lstStyle/>
          <a:p>
            <a:pPr algn="l" indent="0" marL="0">
              <a:lnSpc>
                <a:spcPct val="142000"/>
              </a:lnSpc>
              <a:buNone/>
            </a:pPr>
            <a:r>
              <a:rPr lang="en-US" sz="1950" spc="39" kern="0" dirty="0">
                <a:solidFill>
                  <a:srgbClr val="3E3A33"/>
                </a:solidFill>
                <a:latin typeface="Arial" pitchFamily="34" charset="0"/>
                <a:ea typeface="Arial" pitchFamily="34" charset="-122"/>
                <a:cs typeface="Arial" pitchFamily="34" charset="-120"/>
              </a:rPr>
              <a:t>2-epoch run</a:t>
            </a:r>
            <a:endParaRPr lang="en-US" sz="1950" dirty="0"/>
          </a:p>
        </p:txBody>
      </p:sp>
      <p:sp>
        <p:nvSpPr>
          <p:cNvPr id="12" name="Text 9"/>
          <p:cNvSpPr/>
          <p:nvPr/>
        </p:nvSpPr>
        <p:spPr>
          <a:xfrm>
            <a:off x="1143000" y="8625840"/>
            <a:ext cx="14716125" cy="746760"/>
          </a:xfrm>
          <a:prstGeom prst="rect">
            <a:avLst/>
          </a:prstGeom>
          <a:noFill/>
          <a:ln/>
        </p:spPr>
        <p:txBody>
          <a:bodyPr wrap="square" lIns="25400" tIns="25400" rIns="25400" bIns="25400" rtlCol="0" anchor="t">
            <a:normAutofit/>
          </a:bodyPr>
          <a:lstStyle/>
          <a:p>
            <a:pPr algn="l" indent="0" marL="0">
              <a:lnSpc>
                <a:spcPct val="140000"/>
              </a:lnSpc>
              <a:buNone/>
            </a:pPr>
            <a:r>
              <a:rPr lang="en-US" sz="1950" b="1" dirty="0">
                <a:solidFill>
                  <a:srgbClr val="1A1A1A"/>
                </a:solidFill>
                <a:latin typeface="Arial" pitchFamily="34" charset="0"/>
                <a:ea typeface="Arial" pitchFamily="34" charset="-122"/>
                <a:cs typeface="Arial" pitchFamily="34" charset="-120"/>
              </a:rPr>
              <a:t>Figure 3. </a:t>
            </a:r>
            <a:pPr algn="l" indent="0" marL="0">
              <a:lnSpc>
                <a:spcPct val="140000"/>
              </a:lnSpc>
              <a:buNone/>
            </a:pPr>
            <a:r>
              <a:rPr lang="en-US" sz="1950" dirty="0">
                <a:solidFill>
                  <a:srgbClr val="8A8375"/>
                </a:solidFill>
                <a:latin typeface="Arial" pitchFamily="34" charset="0"/>
                <a:ea typeface="Arial" pitchFamily="34" charset="-122"/>
                <a:cs typeface="Arial" pitchFamily="34" charset="-120"/>
              </a:rPr>
              <a:t>1-epoch (dashed) vs 2-epoch (solid) training runs. When the schedule spans the full 2-epoch horizon, general keeps learning ~0.5 nats past where it appeared to plateau. </a:t>
            </a:r>
            <a:pPr algn="l" indent="0" marL="0">
              <a:lnSpc>
                <a:spcPct val="140000"/>
              </a:lnSpc>
              <a:buNone/>
            </a:pPr>
            <a:r>
              <a:rPr lang="en-US" sz="1950" b="1" dirty="0">
                <a:solidFill>
                  <a:srgbClr val="1A1A1A"/>
                </a:solidFill>
                <a:latin typeface="Arial" pitchFamily="34" charset="0"/>
                <a:ea typeface="Arial" pitchFamily="34" charset="-122"/>
                <a:cs typeface="Arial" pitchFamily="34" charset="-120"/>
              </a:rPr>
              <a:t>Under-training can mask the effect you're studying.</a:t>
            </a:r>
            <a:endParaRPr lang="en-US" sz="1950" dirty="0"/>
          </a:p>
        </p:txBody>
      </p:sp>
      <p:sp>
        <p:nvSpPr>
          <p:cNvPr id="13" name="Text 10"/>
          <p:cNvSpPr/>
          <p:nvPr/>
        </p:nvSpPr>
        <p:spPr>
          <a:xfrm>
            <a:off x="16588860" y="9429036"/>
            <a:ext cx="632341"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144" kern="0" dirty="0">
                <a:solidFill>
                  <a:srgbClr val="8A8375"/>
                </a:solidFill>
                <a:latin typeface="Arial" pitchFamily="34" charset="0"/>
                <a:ea typeface="Arial" pitchFamily="34" charset="-122"/>
                <a:cs typeface="Arial" pitchFamily="34" charset="-120"/>
              </a:rPr>
              <a:t>S·08</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1143000" y="533400"/>
            <a:ext cx="4087159"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 03 · RESULTS — HEADLINE</a:t>
            </a:r>
            <a:endParaRPr lang="en-US" sz="1800" dirty="0"/>
          </a:p>
        </p:txBody>
      </p:sp>
      <p:sp>
        <p:nvSpPr>
          <p:cNvPr id="3" name="Text 1"/>
          <p:cNvSpPr/>
          <p:nvPr/>
        </p:nvSpPr>
        <p:spPr>
          <a:xfrm>
            <a:off x="16102013" y="533400"/>
            <a:ext cx="1119188"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09 </a:t>
            </a:r>
            <a:pPr algn="l" indent="0" marL="0">
              <a:lnSpc>
                <a:spcPct val="142000"/>
              </a:lnSpc>
              <a:buNone/>
            </a:pPr>
            <a:r>
              <a:rPr lang="en-US" sz="1800" spc="252" kern="0" dirty="0">
                <a:solidFill>
                  <a:srgbClr val="C9BFA8"/>
                </a:solidFill>
                <a:latin typeface="Arial" pitchFamily="34" charset="0"/>
                <a:ea typeface="Arial" pitchFamily="34" charset="-122"/>
                <a:cs typeface="Arial" pitchFamily="34" charset="-120"/>
              </a:rPr>
              <a:t>/ 14</a:t>
            </a:r>
            <a:endParaRPr lang="en-US" sz="1800" dirty="0"/>
          </a:p>
        </p:txBody>
      </p:sp>
      <p:sp>
        <p:nvSpPr>
          <p:cNvPr id="4" name="Shape 2"/>
          <p:cNvSpPr/>
          <p:nvPr/>
        </p:nvSpPr>
        <p:spPr>
          <a:xfrm>
            <a:off x="1143000" y="2286000"/>
            <a:ext cx="914400" cy="9525"/>
          </a:xfrm>
          <a:prstGeom prst="rect">
            <a:avLst/>
          </a:prstGeom>
          <a:solidFill>
            <a:srgbClr val="C9BFA8"/>
          </a:solidFill>
          <a:ln/>
        </p:spPr>
      </p:sp>
      <p:sp>
        <p:nvSpPr>
          <p:cNvPr id="5" name="Text 3"/>
          <p:cNvSpPr/>
          <p:nvPr/>
        </p:nvSpPr>
        <p:spPr>
          <a:xfrm>
            <a:off x="1143000" y="2674620"/>
            <a:ext cx="14716125" cy="696397"/>
          </a:xfrm>
          <a:prstGeom prst="rect">
            <a:avLst/>
          </a:prstGeom>
          <a:noFill/>
          <a:ln/>
        </p:spPr>
        <p:txBody>
          <a:bodyPr wrap="square" lIns="25400" tIns="25400" rIns="25400" bIns="25400" rtlCol="0" anchor="t">
            <a:normAutofit/>
          </a:bodyPr>
          <a:lstStyle/>
          <a:p>
            <a:pPr algn="l" indent="0" marL="0">
              <a:lnSpc>
                <a:spcPct val="108000"/>
              </a:lnSpc>
              <a:buNone/>
            </a:pPr>
            <a:r>
              <a:rPr lang="en-US" sz="4800" spc="-72" kern="0" dirty="0">
                <a:solidFill>
                  <a:srgbClr val="1A1A1A"/>
                </a:solidFill>
                <a:latin typeface="Arial" pitchFamily="34" charset="0"/>
                <a:ea typeface="Arial" pitchFamily="34" charset="-122"/>
                <a:cs typeface="Arial" pitchFamily="34" charset="-120"/>
              </a:rPr>
              <a:t>Held-out BPC—medical wins, but only on PubMed.</a:t>
            </a:r>
            <a:endParaRPr lang="en-US" sz="4800" dirty="0"/>
          </a:p>
        </p:txBody>
      </p:sp>
      <p:pic>
        <p:nvPicPr>
          <p:cNvPr id="6" name="Image 0" descr="preencoded.png">    </p:cNvPr>
          <p:cNvPicPr>
            <a:picLocks noChangeAspect="1"/>
          </p:cNvPicPr>
          <p:nvPr/>
        </p:nvPicPr>
        <p:blipFill>
          <a:blip r:embed="rId1"/>
          <a:stretch>
            <a:fillRect/>
          </a:stretch>
        </p:blipFill>
        <p:spPr>
          <a:xfrm>
            <a:off x="1143000" y="3866317"/>
            <a:ext cx="16002000" cy="6646902"/>
          </a:xfrm>
          <a:prstGeom prst="rect">
            <a:avLst/>
          </a:prstGeom>
        </p:spPr>
      </p:pic>
      <p:sp>
        <p:nvSpPr>
          <p:cNvPr id="7" name="Text 4"/>
          <p:cNvSpPr/>
          <p:nvPr/>
        </p:nvSpPr>
        <p:spPr>
          <a:xfrm>
            <a:off x="1143000" y="10417969"/>
            <a:ext cx="5101590" cy="685800"/>
          </a:xfrm>
          <a:prstGeom prst="rect">
            <a:avLst/>
          </a:prstGeom>
          <a:noFill/>
          <a:ln/>
        </p:spPr>
        <p:txBody>
          <a:bodyPr wrap="square" lIns="25400" tIns="25400" rIns="25400" bIns="25400" rtlCol="0" anchor="t">
            <a:normAutofit/>
          </a:bodyPr>
          <a:lstStyle/>
          <a:p>
            <a:pPr algn="l" indent="0" marL="0">
              <a:lnSpc>
                <a:spcPct val="100000"/>
              </a:lnSpc>
              <a:buNone/>
            </a:pPr>
            <a:r>
              <a:rPr lang="en-US" sz="5100" dirty="0">
                <a:solidFill>
                  <a:srgbClr val="B6351D"/>
                </a:solidFill>
                <a:latin typeface="Arial" pitchFamily="34" charset="0"/>
                <a:ea typeface="Arial" pitchFamily="34" charset="-122"/>
                <a:cs typeface="Arial" pitchFamily="34" charset="-120"/>
              </a:rPr>
              <a:t>−0.031</a:t>
            </a:r>
            <a:endParaRPr lang="en-US" sz="5100" dirty="0"/>
          </a:p>
        </p:txBody>
      </p:sp>
      <p:sp>
        <p:nvSpPr>
          <p:cNvPr id="8" name="Text 5"/>
          <p:cNvSpPr/>
          <p:nvPr/>
        </p:nvSpPr>
        <p:spPr>
          <a:xfrm>
            <a:off x="1143000" y="11160919"/>
            <a:ext cx="5101590" cy="389692"/>
          </a:xfrm>
          <a:prstGeom prst="rect">
            <a:avLst/>
          </a:prstGeom>
          <a:noFill/>
          <a:ln/>
        </p:spPr>
        <p:txBody>
          <a:bodyPr wrap="square" lIns="25400" tIns="25400" rIns="25400" bIns="25400" rtlCol="0" anchor="t">
            <a:normAutofit/>
          </a:bodyPr>
          <a:lstStyle/>
          <a:p>
            <a:pPr algn="l" indent="0" marL="0">
              <a:lnSpc>
                <a:spcPct val="142000"/>
              </a:lnSpc>
              <a:buNone/>
            </a:pPr>
            <a:r>
              <a:rPr lang="en-US" sz="1950" dirty="0">
                <a:solidFill>
                  <a:srgbClr val="8A8375"/>
                </a:solidFill>
                <a:latin typeface="Arial" pitchFamily="34" charset="0"/>
                <a:ea typeface="Arial" pitchFamily="34" charset="-122"/>
                <a:cs typeface="Arial" pitchFamily="34" charset="-120"/>
              </a:rPr>
              <a:t>BPC · PubMed · Option 1</a:t>
            </a:r>
            <a:endParaRPr lang="en-US" sz="1950" dirty="0"/>
          </a:p>
        </p:txBody>
      </p:sp>
      <p:sp>
        <p:nvSpPr>
          <p:cNvPr id="9" name="Text 6"/>
          <p:cNvSpPr/>
          <p:nvPr/>
        </p:nvSpPr>
        <p:spPr>
          <a:xfrm>
            <a:off x="6667500" y="10417969"/>
            <a:ext cx="5101590" cy="685800"/>
          </a:xfrm>
          <a:prstGeom prst="rect">
            <a:avLst/>
          </a:prstGeom>
          <a:noFill/>
          <a:ln/>
        </p:spPr>
        <p:txBody>
          <a:bodyPr wrap="square" lIns="25400" tIns="25400" rIns="25400" bIns="25400" rtlCol="0" anchor="t">
            <a:normAutofit/>
          </a:bodyPr>
          <a:lstStyle/>
          <a:p>
            <a:pPr algn="l" indent="0" marL="0">
              <a:lnSpc>
                <a:spcPct val="100000"/>
              </a:lnSpc>
              <a:buNone/>
            </a:pPr>
            <a:r>
              <a:rPr lang="en-US" sz="5100" dirty="0">
                <a:solidFill>
                  <a:srgbClr val="B6351D"/>
                </a:solidFill>
                <a:latin typeface="Arial" pitchFamily="34" charset="0"/>
                <a:ea typeface="Arial" pitchFamily="34" charset="-122"/>
                <a:cs typeface="Arial" pitchFamily="34" charset="-120"/>
              </a:rPr>
              <a:t>−0.010</a:t>
            </a:r>
            <a:endParaRPr lang="en-US" sz="5100" dirty="0"/>
          </a:p>
        </p:txBody>
      </p:sp>
      <p:sp>
        <p:nvSpPr>
          <p:cNvPr id="10" name="Text 7"/>
          <p:cNvSpPr/>
          <p:nvPr/>
        </p:nvSpPr>
        <p:spPr>
          <a:xfrm>
            <a:off x="6667500" y="11160919"/>
            <a:ext cx="5101590" cy="389692"/>
          </a:xfrm>
          <a:prstGeom prst="rect">
            <a:avLst/>
          </a:prstGeom>
          <a:noFill/>
          <a:ln/>
        </p:spPr>
        <p:txBody>
          <a:bodyPr wrap="square" lIns="25400" tIns="25400" rIns="25400" bIns="25400" rtlCol="0" anchor="t">
            <a:normAutofit/>
          </a:bodyPr>
          <a:lstStyle/>
          <a:p>
            <a:pPr algn="l" indent="0" marL="0">
              <a:lnSpc>
                <a:spcPct val="142000"/>
              </a:lnSpc>
              <a:buNone/>
            </a:pPr>
            <a:r>
              <a:rPr lang="en-US" sz="1950" dirty="0">
                <a:solidFill>
                  <a:srgbClr val="8A8375"/>
                </a:solidFill>
                <a:latin typeface="Arial" pitchFamily="34" charset="0"/>
                <a:ea typeface="Arial" pitchFamily="34" charset="-122"/>
                <a:cs typeface="Arial" pitchFamily="34" charset="-120"/>
              </a:rPr>
              <a:t>BPC · PubMed · Option 2</a:t>
            </a:r>
            <a:endParaRPr lang="en-US" sz="1950" dirty="0"/>
          </a:p>
        </p:txBody>
      </p:sp>
      <p:sp>
        <p:nvSpPr>
          <p:cNvPr id="11" name="Text 8"/>
          <p:cNvSpPr/>
          <p:nvPr/>
        </p:nvSpPr>
        <p:spPr>
          <a:xfrm>
            <a:off x="12192000" y="10417969"/>
            <a:ext cx="5101590" cy="685800"/>
          </a:xfrm>
          <a:prstGeom prst="rect">
            <a:avLst/>
          </a:prstGeom>
          <a:noFill/>
          <a:ln/>
        </p:spPr>
        <p:txBody>
          <a:bodyPr wrap="square" lIns="25400" tIns="25400" rIns="25400" bIns="25400" rtlCol="0" anchor="t">
            <a:normAutofit/>
          </a:bodyPr>
          <a:lstStyle/>
          <a:p>
            <a:pPr algn="l" indent="0" marL="0">
              <a:lnSpc>
                <a:spcPct val="100000"/>
              </a:lnSpc>
              <a:buNone/>
            </a:pPr>
            <a:r>
              <a:rPr lang="en-US" sz="5100" dirty="0">
                <a:solidFill>
                  <a:srgbClr val="2457A8"/>
                </a:solidFill>
                <a:latin typeface="Arial" pitchFamily="34" charset="0"/>
                <a:ea typeface="Arial" pitchFamily="34" charset="-122"/>
                <a:cs typeface="Arial" pitchFamily="34" charset="-120"/>
              </a:rPr>
              <a:t>+0.95 / +0.48</a:t>
            </a:r>
            <a:endParaRPr lang="en-US" sz="5100" dirty="0"/>
          </a:p>
        </p:txBody>
      </p:sp>
      <p:sp>
        <p:nvSpPr>
          <p:cNvPr id="12" name="Text 9"/>
          <p:cNvSpPr/>
          <p:nvPr/>
        </p:nvSpPr>
        <p:spPr>
          <a:xfrm>
            <a:off x="12192000" y="11160919"/>
            <a:ext cx="5101590" cy="389692"/>
          </a:xfrm>
          <a:prstGeom prst="rect">
            <a:avLst/>
          </a:prstGeom>
          <a:noFill/>
          <a:ln/>
        </p:spPr>
        <p:txBody>
          <a:bodyPr wrap="square" lIns="25400" tIns="25400" rIns="25400" bIns="25400" rtlCol="0" anchor="t">
            <a:normAutofit/>
          </a:bodyPr>
          <a:lstStyle/>
          <a:p>
            <a:pPr algn="l" indent="0" marL="0">
              <a:lnSpc>
                <a:spcPct val="142000"/>
              </a:lnSpc>
              <a:buNone/>
            </a:pPr>
            <a:r>
              <a:rPr lang="en-US" sz="1950" dirty="0">
                <a:solidFill>
                  <a:srgbClr val="8A8375"/>
                </a:solidFill>
                <a:latin typeface="Arial" pitchFamily="34" charset="0"/>
                <a:ea typeface="Arial" pitchFamily="34" charset="-122"/>
                <a:cs typeface="Arial" pitchFamily="34" charset="-120"/>
              </a:rPr>
              <a:t>BPC cost · wikitext / MTSamples</a:t>
            </a:r>
            <a:endParaRPr lang="en-US" sz="1950" dirty="0"/>
          </a:p>
        </p:txBody>
      </p:sp>
      <p:sp>
        <p:nvSpPr>
          <p:cNvPr id="13" name="Text 10"/>
          <p:cNvSpPr/>
          <p:nvPr/>
        </p:nvSpPr>
        <p:spPr>
          <a:xfrm>
            <a:off x="1143000" y="11722060"/>
            <a:ext cx="14716125" cy="739140"/>
          </a:xfrm>
          <a:prstGeom prst="rect">
            <a:avLst/>
          </a:prstGeom>
          <a:noFill/>
          <a:ln/>
        </p:spPr>
        <p:txBody>
          <a:bodyPr wrap="square" lIns="25400" tIns="25400" rIns="25400" bIns="25400" rtlCol="0" anchor="t">
            <a:normAutofit/>
          </a:bodyPr>
          <a:lstStyle/>
          <a:p>
            <a:pPr algn="l" indent="0" marL="0">
              <a:lnSpc>
                <a:spcPct val="140000"/>
              </a:lnSpc>
              <a:buNone/>
            </a:pPr>
            <a:r>
              <a:rPr lang="en-US" sz="1950" b="1" dirty="0">
                <a:solidFill>
                  <a:srgbClr val="1A1A1A"/>
                </a:solidFill>
                <a:latin typeface="Arial" pitchFamily="34" charset="0"/>
                <a:ea typeface="Arial" pitchFamily="34" charset="-122"/>
                <a:cs typeface="Arial" pitchFamily="34" charset="-120"/>
              </a:rPr>
              <a:t>Figure 4. </a:t>
            </a:r>
            <a:pPr algn="l" indent="0" marL="0">
              <a:lnSpc>
                <a:spcPct val="140000"/>
              </a:lnSpc>
              <a:buNone/>
            </a:pPr>
            <a:r>
              <a:rPr lang="en-US" sz="1950" dirty="0">
                <a:solidFill>
                  <a:srgbClr val="8A8375"/>
                </a:solidFill>
                <a:latin typeface="Arial" pitchFamily="34" charset="0"/>
                <a:ea typeface="Arial" pitchFamily="34" charset="-122"/>
                <a:cs typeface="Arial" pitchFamily="34" charset="-120"/>
              </a:rPr>
              <a:t>Held-out BPC at 2 epochs. Medical wins on PubMed under </a:t>
            </a:r>
            <a:pPr algn="l" indent="0" marL="0">
              <a:lnSpc>
                <a:spcPct val="140000"/>
              </a:lnSpc>
              <a:buNone/>
            </a:pPr>
            <a:r>
              <a:rPr lang="en-US" sz="1950" i="1" dirty="0">
                <a:solidFill>
                  <a:srgbClr val="8A8375"/>
                </a:solidFill>
                <a:latin typeface="Arial" pitchFamily="34" charset="0"/>
                <a:ea typeface="Arial" pitchFamily="34" charset="-122"/>
                <a:cs typeface="Arial" pitchFamily="34" charset="-120"/>
              </a:rPr>
              <a:t>both </a:t>
            </a:r>
            <a:pPr algn="l" indent="0" marL="0">
              <a:lnSpc>
                <a:spcPct val="140000"/>
              </a:lnSpc>
              <a:buNone/>
            </a:pPr>
            <a:r>
              <a:rPr lang="en-US" sz="1950" dirty="0">
                <a:solidFill>
                  <a:srgbClr val="8A8375"/>
                </a:solidFill>
                <a:latin typeface="Arial" pitchFamily="34" charset="0"/>
                <a:ea typeface="Arial" pitchFamily="34" charset="-122"/>
                <a:cs typeface="Arial" pitchFamily="34" charset="-120"/>
              </a:rPr>
              <a:t>fairness frames — the gap is small (0.010 BPC) but consistent. Out-of-domain and cross-register costs are substantial.</a:t>
            </a:r>
            <a:endParaRPr lang="en-US" sz="1950" dirty="0"/>
          </a:p>
        </p:txBody>
      </p:sp>
      <p:sp>
        <p:nvSpPr>
          <p:cNvPr id="14" name="Text 11"/>
          <p:cNvSpPr/>
          <p:nvPr/>
        </p:nvSpPr>
        <p:spPr>
          <a:xfrm>
            <a:off x="16588860" y="9429036"/>
            <a:ext cx="632341"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144" kern="0" dirty="0">
                <a:solidFill>
                  <a:srgbClr val="8A8375"/>
                </a:solidFill>
                <a:latin typeface="Arial" pitchFamily="34" charset="0"/>
                <a:ea typeface="Arial" pitchFamily="34" charset="-122"/>
                <a:cs typeface="Arial" pitchFamily="34" charset="-120"/>
              </a:rPr>
              <a:t>S·09</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1143000" y="533400"/>
            <a:ext cx="2204323"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 03 · RESULTS</a:t>
            </a:r>
            <a:endParaRPr lang="en-US" sz="1800" dirty="0"/>
          </a:p>
        </p:txBody>
      </p:sp>
      <p:sp>
        <p:nvSpPr>
          <p:cNvPr id="3" name="Text 1"/>
          <p:cNvSpPr/>
          <p:nvPr/>
        </p:nvSpPr>
        <p:spPr>
          <a:xfrm>
            <a:off x="16102013" y="533400"/>
            <a:ext cx="1119188"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10 </a:t>
            </a:r>
            <a:pPr algn="l" indent="0" marL="0">
              <a:lnSpc>
                <a:spcPct val="142000"/>
              </a:lnSpc>
              <a:buNone/>
            </a:pPr>
            <a:r>
              <a:rPr lang="en-US" sz="1800" spc="252" kern="0" dirty="0">
                <a:solidFill>
                  <a:srgbClr val="C9BFA8"/>
                </a:solidFill>
                <a:latin typeface="Arial" pitchFamily="34" charset="0"/>
                <a:ea typeface="Arial" pitchFamily="34" charset="-122"/>
                <a:cs typeface="Arial" pitchFamily="34" charset="-120"/>
              </a:rPr>
              <a:t>/ 14</a:t>
            </a:r>
            <a:endParaRPr lang="en-US" sz="1800" dirty="0"/>
          </a:p>
        </p:txBody>
      </p:sp>
      <p:sp>
        <p:nvSpPr>
          <p:cNvPr id="4" name="Shape 2"/>
          <p:cNvSpPr/>
          <p:nvPr/>
        </p:nvSpPr>
        <p:spPr>
          <a:xfrm>
            <a:off x="1143000" y="2286000"/>
            <a:ext cx="914400" cy="9525"/>
          </a:xfrm>
          <a:prstGeom prst="rect">
            <a:avLst/>
          </a:prstGeom>
          <a:solidFill>
            <a:srgbClr val="C9BFA8"/>
          </a:solidFill>
          <a:ln/>
        </p:spPr>
      </p:sp>
      <p:sp>
        <p:nvSpPr>
          <p:cNvPr id="5" name="Text 3"/>
          <p:cNvSpPr/>
          <p:nvPr/>
        </p:nvSpPr>
        <p:spPr>
          <a:xfrm>
            <a:off x="1143000" y="2674620"/>
            <a:ext cx="14716125" cy="1354693"/>
          </a:xfrm>
          <a:prstGeom prst="rect">
            <a:avLst/>
          </a:prstGeom>
          <a:noFill/>
          <a:ln/>
        </p:spPr>
        <p:txBody>
          <a:bodyPr wrap="square" lIns="25400" tIns="25400" rIns="25400" bIns="25400" rtlCol="0" anchor="t">
            <a:normAutofit/>
          </a:bodyPr>
          <a:lstStyle/>
          <a:p>
            <a:pPr algn="l" indent="0" marL="0">
              <a:lnSpc>
                <a:spcPct val="108000"/>
              </a:lnSpc>
              <a:buNone/>
            </a:pPr>
            <a:r>
              <a:rPr lang="en-US" sz="4800" spc="-72" kern="0" dirty="0">
                <a:solidFill>
                  <a:srgbClr val="1A1A1A"/>
                </a:solidFill>
                <a:latin typeface="Arial" pitchFamily="34" charset="0"/>
                <a:ea typeface="Arial" pitchFamily="34" charset="-122"/>
                <a:cs typeface="Arial" pitchFamily="34" charset="-120"/>
              </a:rPr>
              <a:t>Differential convergence — what did epoch 2 buy each model?</a:t>
            </a:r>
            <a:endParaRPr lang="en-US" sz="4800" dirty="0"/>
          </a:p>
        </p:txBody>
      </p:sp>
      <p:sp>
        <p:nvSpPr>
          <p:cNvPr id="6" name="Text 4"/>
          <p:cNvSpPr/>
          <p:nvPr/>
        </p:nvSpPr>
        <p:spPr>
          <a:xfrm>
            <a:off x="1143000" y="4448413"/>
            <a:ext cx="13735050" cy="501015"/>
          </a:xfrm>
          <a:prstGeom prst="rect">
            <a:avLst/>
          </a:prstGeom>
          <a:noFill/>
          <a:ln/>
        </p:spPr>
        <p:txBody>
          <a:bodyPr wrap="square" lIns="25400" tIns="25400" rIns="25400" bIns="25400" rtlCol="0" anchor="t">
            <a:normAutofit/>
          </a:bodyPr>
          <a:lstStyle/>
          <a:p>
            <a:pPr algn="l" indent="0" marL="0">
              <a:lnSpc>
                <a:spcPct val="135000"/>
              </a:lnSpc>
              <a:buNone/>
            </a:pPr>
            <a:r>
              <a:rPr lang="en-US" sz="2700" dirty="0">
                <a:solidFill>
                  <a:srgbClr val="3E3A33"/>
                </a:solidFill>
                <a:latin typeface="Arial" pitchFamily="34" charset="0"/>
                <a:ea typeface="Arial" pitchFamily="34" charset="-122"/>
                <a:cs typeface="Arial" pitchFamily="34" charset="-120"/>
              </a:rPr>
              <a:t>Medical improved everywhere. General only improved where it could.</a:t>
            </a:r>
            <a:endParaRPr lang="en-US" sz="2700" dirty="0"/>
          </a:p>
        </p:txBody>
      </p:sp>
      <p:pic>
        <p:nvPicPr>
          <p:cNvPr id="7" name="Image 0" descr="preencoded.png">    </p:cNvPr>
          <p:cNvPicPr>
            <a:picLocks noChangeAspect="1"/>
          </p:cNvPicPr>
          <p:nvPr/>
        </p:nvPicPr>
        <p:blipFill>
          <a:blip r:embed="rId1"/>
          <a:stretch>
            <a:fillRect/>
          </a:stretch>
        </p:blipFill>
        <p:spPr>
          <a:xfrm>
            <a:off x="1143000" y="5254228"/>
            <a:ext cx="16002000" cy="5908357"/>
          </a:xfrm>
          <a:prstGeom prst="rect">
            <a:avLst/>
          </a:prstGeom>
        </p:spPr>
      </p:pic>
      <p:sp>
        <p:nvSpPr>
          <p:cNvPr id="8" name="Shape 5"/>
          <p:cNvSpPr/>
          <p:nvPr/>
        </p:nvSpPr>
        <p:spPr>
          <a:xfrm>
            <a:off x="14634092" y="11081147"/>
            <a:ext cx="133350" cy="133350"/>
          </a:xfrm>
          <a:prstGeom prst="roundRect">
            <a:avLst>
              <a:gd name="adj" fmla="val 21429"/>
            </a:avLst>
          </a:prstGeom>
          <a:solidFill>
            <a:srgbClr val="2457A8"/>
          </a:solidFill>
          <a:ln/>
        </p:spPr>
      </p:sp>
      <p:sp>
        <p:nvSpPr>
          <p:cNvPr id="9" name="Text 6"/>
          <p:cNvSpPr/>
          <p:nvPr/>
        </p:nvSpPr>
        <p:spPr>
          <a:xfrm>
            <a:off x="14862692" y="11010186"/>
            <a:ext cx="937022" cy="312419"/>
          </a:xfrm>
          <a:prstGeom prst="rect">
            <a:avLst/>
          </a:prstGeom>
          <a:noFill/>
          <a:ln/>
        </p:spPr>
        <p:txBody>
          <a:bodyPr wrap="square" lIns="0" tIns="0" rIns="0" bIns="0" rtlCol="0" anchor="t">
            <a:normAutofit/>
          </a:bodyPr>
          <a:lstStyle/>
          <a:p>
            <a:pPr algn="l" indent="0" marL="0">
              <a:lnSpc>
                <a:spcPct val="142000"/>
              </a:lnSpc>
              <a:buNone/>
            </a:pPr>
            <a:r>
              <a:rPr lang="en-US" sz="1950" spc="39" kern="0" dirty="0">
                <a:solidFill>
                  <a:srgbClr val="3E3A33"/>
                </a:solidFill>
                <a:latin typeface="Arial" pitchFamily="34" charset="0"/>
                <a:ea typeface="Arial" pitchFamily="34" charset="-122"/>
                <a:cs typeface="Arial" pitchFamily="34" charset="-120"/>
              </a:rPr>
              <a:t>general</a:t>
            </a:r>
            <a:endParaRPr lang="en-US" sz="1950" dirty="0"/>
          </a:p>
        </p:txBody>
      </p:sp>
      <p:sp>
        <p:nvSpPr>
          <p:cNvPr id="10" name="Shape 7"/>
          <p:cNvSpPr/>
          <p:nvPr/>
        </p:nvSpPr>
        <p:spPr>
          <a:xfrm>
            <a:off x="16028314" y="11081147"/>
            <a:ext cx="133350" cy="133350"/>
          </a:xfrm>
          <a:prstGeom prst="roundRect">
            <a:avLst>
              <a:gd name="adj" fmla="val 21429"/>
            </a:avLst>
          </a:prstGeom>
          <a:solidFill>
            <a:srgbClr val="B6351D"/>
          </a:solidFill>
          <a:ln/>
        </p:spPr>
      </p:sp>
      <p:sp>
        <p:nvSpPr>
          <p:cNvPr id="11" name="Text 8"/>
          <p:cNvSpPr/>
          <p:nvPr/>
        </p:nvSpPr>
        <p:spPr>
          <a:xfrm>
            <a:off x="16256914" y="11010186"/>
            <a:ext cx="964286" cy="312419"/>
          </a:xfrm>
          <a:prstGeom prst="rect">
            <a:avLst/>
          </a:prstGeom>
          <a:noFill/>
          <a:ln/>
        </p:spPr>
        <p:txBody>
          <a:bodyPr wrap="square" lIns="0" tIns="0" rIns="0" bIns="0" rtlCol="0" anchor="t">
            <a:normAutofit/>
          </a:bodyPr>
          <a:lstStyle/>
          <a:p>
            <a:pPr algn="l" indent="0" marL="0">
              <a:lnSpc>
                <a:spcPct val="142000"/>
              </a:lnSpc>
              <a:buNone/>
            </a:pPr>
            <a:r>
              <a:rPr lang="en-US" sz="1950" spc="39" kern="0" dirty="0">
                <a:solidFill>
                  <a:srgbClr val="3E3A33"/>
                </a:solidFill>
                <a:latin typeface="Arial" pitchFamily="34" charset="0"/>
                <a:ea typeface="Arial" pitchFamily="34" charset="-122"/>
                <a:cs typeface="Arial" pitchFamily="34" charset="-120"/>
              </a:rPr>
              <a:t>medical</a:t>
            </a:r>
            <a:endParaRPr lang="en-US" sz="1950" dirty="0"/>
          </a:p>
        </p:txBody>
      </p:sp>
      <p:sp>
        <p:nvSpPr>
          <p:cNvPr id="12" name="Text 9"/>
          <p:cNvSpPr/>
          <p:nvPr/>
        </p:nvSpPr>
        <p:spPr>
          <a:xfrm>
            <a:off x="1143000" y="11495127"/>
            <a:ext cx="14716125" cy="739140"/>
          </a:xfrm>
          <a:prstGeom prst="rect">
            <a:avLst/>
          </a:prstGeom>
          <a:noFill/>
          <a:ln/>
        </p:spPr>
        <p:txBody>
          <a:bodyPr wrap="square" lIns="25400" tIns="25400" rIns="25400" bIns="25400" rtlCol="0" anchor="t">
            <a:normAutofit/>
          </a:bodyPr>
          <a:lstStyle/>
          <a:p>
            <a:pPr algn="l" indent="0" marL="0">
              <a:lnSpc>
                <a:spcPct val="140000"/>
              </a:lnSpc>
              <a:buNone/>
            </a:pPr>
            <a:r>
              <a:rPr lang="en-US" sz="1950" b="1" dirty="0">
                <a:solidFill>
                  <a:srgbClr val="1A1A1A"/>
                </a:solidFill>
                <a:latin typeface="Arial" pitchFamily="34" charset="0"/>
                <a:ea typeface="Arial" pitchFamily="34" charset="-122"/>
                <a:cs typeface="Arial" pitchFamily="34" charset="-120"/>
              </a:rPr>
              <a:t>Figure 5. </a:t>
            </a:r>
            <a:pPr algn="l" indent="0" marL="0">
              <a:lnSpc>
                <a:spcPct val="140000"/>
              </a:lnSpc>
              <a:buNone/>
            </a:pPr>
            <a:r>
              <a:rPr lang="en-US" sz="1950" dirty="0">
                <a:solidFill>
                  <a:srgbClr val="8A8375"/>
                </a:solidFill>
                <a:latin typeface="Arial" pitchFamily="34" charset="0"/>
                <a:ea typeface="Arial" pitchFamily="34" charset="-122"/>
                <a:cs typeface="Arial" pitchFamily="34" charset="-120"/>
              </a:rPr>
              <a:t>Per-corpus BPC improvement going from 1 to 2 epochs (negative = improved). General is already saturated on corpora its model cannot reach—more training buys it nothing. Medical's representations were still being refined across the board.</a:t>
            </a:r>
            <a:endParaRPr lang="en-US" sz="1950" dirty="0"/>
          </a:p>
        </p:txBody>
      </p:sp>
      <p:sp>
        <p:nvSpPr>
          <p:cNvPr id="13" name="Text 10"/>
          <p:cNvSpPr/>
          <p:nvPr/>
        </p:nvSpPr>
        <p:spPr>
          <a:xfrm>
            <a:off x="16588860" y="9429036"/>
            <a:ext cx="632341"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144" kern="0" dirty="0">
                <a:solidFill>
                  <a:srgbClr val="8A8375"/>
                </a:solidFill>
                <a:latin typeface="Arial" pitchFamily="34" charset="0"/>
                <a:ea typeface="Arial" pitchFamily="34" charset="-122"/>
                <a:cs typeface="Arial" pitchFamily="34" charset="-120"/>
              </a:rPr>
              <a:t>S·10</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5140F"/>
        </a:solidFill>
      </p:bgPr>
    </p:bg>
    <p:spTree>
      <p:nvGrpSpPr>
        <p:cNvPr id="1" name=""/>
        <p:cNvGrpSpPr/>
        <p:nvPr/>
      </p:nvGrpSpPr>
      <p:grpSpPr>
        <a:xfrm>
          <a:off x="0" y="0"/>
          <a:ext cx="0" cy="0"/>
          <a:chOff x="0" y="0"/>
          <a:chExt cx="0" cy="0"/>
        </a:xfrm>
      </p:grpSpPr>
      <p:sp>
        <p:nvSpPr>
          <p:cNvPr id="2" name="Text 0"/>
          <p:cNvSpPr/>
          <p:nvPr/>
        </p:nvSpPr>
        <p:spPr>
          <a:xfrm>
            <a:off x="1143000" y="533400"/>
            <a:ext cx="2523292"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9A8F76"/>
                </a:solidFill>
                <a:latin typeface="Arial" pitchFamily="34" charset="0"/>
                <a:ea typeface="Arial" pitchFamily="34" charset="-122"/>
                <a:cs typeface="Arial" pitchFamily="34" charset="-120"/>
              </a:rPr>
              <a:t>§ 04 · SURPRISES</a:t>
            </a:r>
            <a:endParaRPr lang="en-US" sz="1800" dirty="0"/>
          </a:p>
        </p:txBody>
      </p:sp>
      <p:sp>
        <p:nvSpPr>
          <p:cNvPr id="3" name="Text 1"/>
          <p:cNvSpPr/>
          <p:nvPr/>
        </p:nvSpPr>
        <p:spPr>
          <a:xfrm>
            <a:off x="16102013" y="533400"/>
            <a:ext cx="1119188"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9A8F76"/>
                </a:solidFill>
                <a:latin typeface="Arial" pitchFamily="34" charset="0"/>
                <a:ea typeface="Arial" pitchFamily="34" charset="-122"/>
                <a:cs typeface="Arial" pitchFamily="34" charset="-120"/>
              </a:rPr>
              <a:t>11 </a:t>
            </a:r>
            <a:pPr algn="l" indent="0" marL="0">
              <a:lnSpc>
                <a:spcPct val="142000"/>
              </a:lnSpc>
              <a:buNone/>
            </a:pPr>
            <a:r>
              <a:rPr lang="en-US" sz="1800" spc="252" kern="0" dirty="0">
                <a:solidFill>
                  <a:srgbClr val="5A5341"/>
                </a:solidFill>
                <a:latin typeface="Arial" pitchFamily="34" charset="0"/>
                <a:ea typeface="Arial" pitchFamily="34" charset="-122"/>
                <a:cs typeface="Arial" pitchFamily="34" charset="-120"/>
              </a:rPr>
              <a:t>/ 14</a:t>
            </a:r>
            <a:endParaRPr lang="en-US" sz="1800" dirty="0"/>
          </a:p>
        </p:txBody>
      </p:sp>
      <p:sp>
        <p:nvSpPr>
          <p:cNvPr id="4" name="Shape 2"/>
          <p:cNvSpPr/>
          <p:nvPr/>
        </p:nvSpPr>
        <p:spPr>
          <a:xfrm>
            <a:off x="1143000" y="2286000"/>
            <a:ext cx="914400" cy="9525"/>
          </a:xfrm>
          <a:prstGeom prst="rect">
            <a:avLst/>
          </a:prstGeom>
          <a:solidFill>
            <a:srgbClr val="5A5341"/>
          </a:solidFill>
          <a:ln/>
        </p:spPr>
      </p:sp>
      <p:sp>
        <p:nvSpPr>
          <p:cNvPr id="5" name="Text 3"/>
          <p:cNvSpPr/>
          <p:nvPr/>
        </p:nvSpPr>
        <p:spPr>
          <a:xfrm>
            <a:off x="1143000" y="2674620"/>
            <a:ext cx="16482060" cy="696397"/>
          </a:xfrm>
          <a:prstGeom prst="rect">
            <a:avLst/>
          </a:prstGeom>
          <a:noFill/>
          <a:ln/>
        </p:spPr>
        <p:txBody>
          <a:bodyPr wrap="square" lIns="25400" tIns="25400" rIns="25400" bIns="25400" rtlCol="0" anchor="t">
            <a:normAutofit/>
          </a:bodyPr>
          <a:lstStyle/>
          <a:p>
            <a:pPr algn="l" indent="0" marL="0">
              <a:lnSpc>
                <a:spcPct val="108000"/>
              </a:lnSpc>
              <a:buNone/>
            </a:pPr>
            <a:r>
              <a:rPr lang="en-US" sz="4800" spc="-72" kern="0" dirty="0">
                <a:solidFill>
                  <a:srgbClr val="F5EFDF"/>
                </a:solidFill>
                <a:latin typeface="Arial" pitchFamily="34" charset="0"/>
                <a:ea typeface="Arial" pitchFamily="34" charset="-122"/>
                <a:cs typeface="Arial" pitchFamily="34" charset="-120"/>
              </a:rPr>
              <a:t>A medical tokenizer that loses on medical text.</a:t>
            </a:r>
            <a:endParaRPr lang="en-US" sz="4800" dirty="0"/>
          </a:p>
        </p:txBody>
      </p:sp>
      <p:sp>
        <p:nvSpPr>
          <p:cNvPr id="6" name="Text 4"/>
          <p:cNvSpPr/>
          <p:nvPr/>
        </p:nvSpPr>
        <p:spPr>
          <a:xfrm>
            <a:off x="1143000" y="3790117"/>
            <a:ext cx="15697200" cy="501015"/>
          </a:xfrm>
          <a:prstGeom prst="rect">
            <a:avLst/>
          </a:prstGeom>
          <a:noFill/>
          <a:ln/>
        </p:spPr>
        <p:txBody>
          <a:bodyPr wrap="square" lIns="25400" tIns="25400" rIns="25400" bIns="25400" rtlCol="0" anchor="t">
            <a:normAutofit/>
          </a:bodyPr>
          <a:lstStyle/>
          <a:p>
            <a:pPr algn="l" indent="0" marL="0">
              <a:lnSpc>
                <a:spcPct val="135000"/>
              </a:lnSpc>
              <a:buNone/>
            </a:pPr>
            <a:r>
              <a:rPr lang="en-US" sz="2700" i="1" dirty="0">
                <a:solidFill>
                  <a:srgbClr val="C4B891"/>
                </a:solidFill>
                <a:latin typeface="Arial" pitchFamily="34" charset="0"/>
                <a:ea typeface="Arial" pitchFamily="34" charset="-122"/>
                <a:cs typeface="Arial" pitchFamily="34" charset="-120"/>
              </a:rPr>
              <a:t>Because </a:t>
            </a:r>
            <a:pPr algn="l" indent="0" marL="0">
              <a:lnSpc>
                <a:spcPct val="135000"/>
              </a:lnSpc>
              <a:buNone/>
            </a:pPr>
            <a:r>
              <a:rPr lang="en-US" sz="2700" dirty="0">
                <a:solidFill>
                  <a:srgbClr val="F5EFDF"/>
                </a:solidFill>
                <a:latin typeface="Arial" pitchFamily="34" charset="0"/>
                <a:ea typeface="Arial" pitchFamily="34" charset="-122"/>
                <a:cs typeface="Arial" pitchFamily="34" charset="-120"/>
              </a:rPr>
              <a:t>register matters more than domain.</a:t>
            </a:r>
            <a:endParaRPr lang="en-US" sz="2700" dirty="0"/>
          </a:p>
        </p:txBody>
      </p:sp>
      <p:sp>
        <p:nvSpPr>
          <p:cNvPr id="7" name="Text 5"/>
          <p:cNvSpPr/>
          <p:nvPr/>
        </p:nvSpPr>
        <p:spPr>
          <a:xfrm>
            <a:off x="1143000" y="4900732"/>
            <a:ext cx="7750492"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spc="288" kern="0" dirty="0">
                <a:solidFill>
                  <a:srgbClr val="B8A988"/>
                </a:solidFill>
                <a:latin typeface="Arial" pitchFamily="34" charset="0"/>
                <a:ea typeface="Arial" pitchFamily="34" charset="-122"/>
                <a:cs typeface="Arial" pitchFamily="34" charset="-120"/>
              </a:rPr>
              <a:t>PUBMED · WHAT MEDICAL KNOWS</a:t>
            </a:r>
            <a:endParaRPr lang="en-US" sz="1800" dirty="0"/>
          </a:p>
        </p:txBody>
      </p:sp>
      <p:sp>
        <p:nvSpPr>
          <p:cNvPr id="8" name="Shape 6"/>
          <p:cNvSpPr/>
          <p:nvPr/>
        </p:nvSpPr>
        <p:spPr>
          <a:xfrm>
            <a:off x="1143000" y="5491996"/>
            <a:ext cx="7524750" cy="1482090"/>
          </a:xfrm>
          <a:prstGeom prst="rect">
            <a:avLst/>
          </a:prstGeom>
          <a:solidFill>
            <a:srgbClr val="201E17"/>
          </a:solidFill>
          <a:ln w="7620">
            <a:solidFill>
              <a:srgbClr val="5A5341"/>
            </a:solidFill>
            <a:prstDash val="solid"/>
          </a:ln>
        </p:spPr>
      </p:sp>
      <p:sp>
        <p:nvSpPr>
          <p:cNvPr id="9" name="Text 7"/>
          <p:cNvSpPr/>
          <p:nvPr/>
        </p:nvSpPr>
        <p:spPr>
          <a:xfrm>
            <a:off x="1455420" y="5804416"/>
            <a:ext cx="7125652" cy="895350"/>
          </a:xfrm>
          <a:prstGeom prst="rect">
            <a:avLst/>
          </a:prstGeom>
          <a:noFill/>
          <a:ln/>
        </p:spPr>
        <p:txBody>
          <a:bodyPr wrap="square" lIns="25400" tIns="25400" rIns="25400" bIns="25400" rtlCol="0" anchor="t">
            <a:normAutofit/>
          </a:bodyPr>
          <a:lstStyle/>
          <a:p>
            <a:pPr algn="l" indent="0" marL="0">
              <a:lnSpc>
                <a:spcPct val="150000"/>
              </a:lnSpc>
              <a:buNone/>
            </a:pPr>
            <a:r>
              <a:rPr lang="en-US" sz="2250" i="1" dirty="0">
                <a:solidFill>
                  <a:srgbClr val="F5EFDF"/>
                </a:solidFill>
                <a:latin typeface="Arial" pitchFamily="34" charset="0"/>
                <a:ea typeface="Arial" pitchFamily="34" charset="-122"/>
                <a:cs typeface="Arial" pitchFamily="34" charset="-120"/>
              </a:rPr>
              <a:t>“Patients with acute myocardial infarction were randomly assigned to...”</a:t>
            </a:r>
            <a:endParaRPr lang="en-US" sz="2250" dirty="0"/>
          </a:p>
        </p:txBody>
      </p:sp>
      <p:sp>
        <p:nvSpPr>
          <p:cNvPr id="10" name="Text 8"/>
          <p:cNvSpPr/>
          <p:nvPr/>
        </p:nvSpPr>
        <p:spPr>
          <a:xfrm>
            <a:off x="1143000" y="7164586"/>
            <a:ext cx="7750492" cy="741283"/>
          </a:xfrm>
          <a:prstGeom prst="rect">
            <a:avLst/>
          </a:prstGeom>
          <a:noFill/>
          <a:ln/>
        </p:spPr>
        <p:txBody>
          <a:bodyPr wrap="square" lIns="25400" tIns="25400" rIns="25400" bIns="25400" rtlCol="0" anchor="t">
            <a:normAutofit/>
          </a:bodyPr>
          <a:lstStyle/>
          <a:p>
            <a:pPr algn="l" indent="0" marL="0">
              <a:lnSpc>
                <a:spcPct val="142000"/>
              </a:lnSpc>
              <a:buNone/>
            </a:pPr>
            <a:r>
              <a:rPr lang="en-US" sz="1950" dirty="0">
                <a:solidFill>
                  <a:srgbClr val="9A8F76"/>
                </a:solidFill>
                <a:latin typeface="Arial" pitchFamily="34" charset="0"/>
                <a:ea typeface="Arial" pitchFamily="34" charset="-122"/>
                <a:cs typeface="Arial" pitchFamily="34" charset="-120"/>
              </a:rPr>
              <a:t>Formal academic prose. Long, latinate terms. “Myocardial infarction” survives as whole-word tokens.</a:t>
            </a:r>
            <a:endParaRPr lang="en-US" sz="1950" dirty="0"/>
          </a:p>
        </p:txBody>
      </p:sp>
      <p:sp>
        <p:nvSpPr>
          <p:cNvPr id="11" name="Text 9"/>
          <p:cNvSpPr/>
          <p:nvPr/>
        </p:nvSpPr>
        <p:spPr>
          <a:xfrm>
            <a:off x="9620250" y="4900732"/>
            <a:ext cx="7750492"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spc="288" kern="0" dirty="0">
                <a:solidFill>
                  <a:srgbClr val="B8A988"/>
                </a:solidFill>
                <a:latin typeface="Arial" pitchFamily="34" charset="0"/>
                <a:ea typeface="Arial" pitchFamily="34" charset="-122"/>
                <a:cs typeface="Arial" pitchFamily="34" charset="-120"/>
              </a:rPr>
              <a:t>MTSAMPLES · WHAT MEDICAL DOESN'T</a:t>
            </a:r>
            <a:endParaRPr lang="en-US" sz="1800" dirty="0"/>
          </a:p>
        </p:txBody>
      </p:sp>
      <p:sp>
        <p:nvSpPr>
          <p:cNvPr id="12" name="Shape 10"/>
          <p:cNvSpPr/>
          <p:nvPr/>
        </p:nvSpPr>
        <p:spPr>
          <a:xfrm>
            <a:off x="9620250" y="5491996"/>
            <a:ext cx="7524750" cy="1021080"/>
          </a:xfrm>
          <a:prstGeom prst="rect">
            <a:avLst/>
          </a:prstGeom>
          <a:solidFill>
            <a:srgbClr val="201E17"/>
          </a:solidFill>
          <a:ln w="7620">
            <a:solidFill>
              <a:srgbClr val="5A5341"/>
            </a:solidFill>
            <a:prstDash val="solid"/>
          </a:ln>
        </p:spPr>
      </p:sp>
      <p:sp>
        <p:nvSpPr>
          <p:cNvPr id="13" name="Text 11"/>
          <p:cNvSpPr/>
          <p:nvPr/>
        </p:nvSpPr>
        <p:spPr>
          <a:xfrm>
            <a:off x="9932670" y="5804416"/>
            <a:ext cx="7125652" cy="434340"/>
          </a:xfrm>
          <a:prstGeom prst="rect">
            <a:avLst/>
          </a:prstGeom>
          <a:noFill/>
          <a:ln/>
        </p:spPr>
        <p:txBody>
          <a:bodyPr wrap="square" lIns="25400" tIns="25400" rIns="25400" bIns="25400" rtlCol="0" anchor="t">
            <a:normAutofit/>
          </a:bodyPr>
          <a:lstStyle/>
          <a:p>
            <a:pPr algn="l" indent="0" marL="0">
              <a:lnSpc>
                <a:spcPct val="160000"/>
              </a:lnSpc>
              <a:buNone/>
            </a:pPr>
            <a:r>
              <a:rPr lang="en-US" sz="1950" dirty="0">
                <a:solidFill>
                  <a:srgbClr val="F5EFDF"/>
                </a:solidFill>
                <a:latin typeface="Arial" pitchFamily="34" charset="0"/>
                <a:ea typeface="Arial" pitchFamily="34" charset="-122"/>
                <a:cs typeface="Arial" pitchFamily="34" charset="-120"/>
              </a:rPr>
              <a:t>“Pt is a 54 y/o M w/ cp x 2 days, admitted for r/o MI...”</a:t>
            </a:r>
            <a:endParaRPr lang="en-US" sz="1950" dirty="0"/>
          </a:p>
        </p:txBody>
      </p:sp>
      <p:sp>
        <p:nvSpPr>
          <p:cNvPr id="14" name="Text 12"/>
          <p:cNvSpPr/>
          <p:nvPr/>
        </p:nvSpPr>
        <p:spPr>
          <a:xfrm>
            <a:off x="9620250" y="6703576"/>
            <a:ext cx="7750492" cy="741283"/>
          </a:xfrm>
          <a:prstGeom prst="rect">
            <a:avLst/>
          </a:prstGeom>
          <a:noFill/>
          <a:ln/>
        </p:spPr>
        <p:txBody>
          <a:bodyPr wrap="square" lIns="25400" tIns="25400" rIns="25400" bIns="25400" rtlCol="0" anchor="t">
            <a:normAutofit/>
          </a:bodyPr>
          <a:lstStyle/>
          <a:p>
            <a:pPr algn="l" indent="0" marL="0">
              <a:lnSpc>
                <a:spcPct val="142000"/>
              </a:lnSpc>
              <a:buNone/>
            </a:pPr>
            <a:r>
              <a:rPr lang="en-US" sz="1950" dirty="0">
                <a:solidFill>
                  <a:srgbClr val="9A8F76"/>
                </a:solidFill>
                <a:latin typeface="Arial" pitchFamily="34" charset="0"/>
                <a:ea typeface="Arial" pitchFamily="34" charset="-122"/>
                <a:cs typeface="Arial" pitchFamily="34" charset="-120"/>
              </a:rPr>
              <a:t>Clinical dictation. </a:t>
            </a:r>
            <a:pPr algn="l" indent="0" marL="0">
              <a:lnSpc>
                <a:spcPct val="142000"/>
              </a:lnSpc>
              <a:buNone/>
            </a:pPr>
            <a:r>
              <a:rPr lang="en-US" sz="1950" dirty="0">
                <a:solidFill>
                  <a:srgbClr val="B6351D"/>
                </a:solidFill>
                <a:latin typeface="Arial" pitchFamily="34" charset="0"/>
                <a:ea typeface="Arial" pitchFamily="34" charset="-122"/>
                <a:cs typeface="Arial" pitchFamily="34" charset="-120"/>
              </a:rPr>
              <a:t>pt</a:t>
            </a:r>
            <a:pPr algn="l" indent="0" marL="0">
              <a:lnSpc>
                <a:spcPct val="142000"/>
              </a:lnSpc>
              <a:buNone/>
            </a:pPr>
            <a:r>
              <a:rPr lang="en-US" sz="1950" dirty="0">
                <a:solidFill>
                  <a:srgbClr val="9A8F76"/>
                </a:solidFill>
                <a:latin typeface="Arial" pitchFamily="34" charset="0"/>
                <a:ea typeface="Arial" pitchFamily="34" charset="-122"/>
                <a:cs typeface="Arial" pitchFamily="34" charset="-120"/>
              </a:rPr>
              <a:t>, </a:t>
            </a:r>
            <a:pPr algn="l" indent="0" marL="0">
              <a:lnSpc>
                <a:spcPct val="142000"/>
              </a:lnSpc>
              <a:buNone/>
            </a:pPr>
            <a:r>
              <a:rPr lang="en-US" sz="1950" dirty="0">
                <a:solidFill>
                  <a:srgbClr val="B6351D"/>
                </a:solidFill>
                <a:latin typeface="Arial" pitchFamily="34" charset="0"/>
                <a:ea typeface="Arial" pitchFamily="34" charset="-122"/>
                <a:cs typeface="Arial" pitchFamily="34" charset="-120"/>
              </a:rPr>
              <a:t>y/o</a:t>
            </a:r>
            <a:pPr algn="l" indent="0" marL="0">
              <a:lnSpc>
                <a:spcPct val="142000"/>
              </a:lnSpc>
              <a:buNone/>
            </a:pPr>
            <a:r>
              <a:rPr lang="en-US" sz="1950" dirty="0">
                <a:solidFill>
                  <a:srgbClr val="9A8F76"/>
                </a:solidFill>
                <a:latin typeface="Arial" pitchFamily="34" charset="0"/>
                <a:ea typeface="Arial" pitchFamily="34" charset="-122"/>
                <a:cs typeface="Arial" pitchFamily="34" charset="-120"/>
              </a:rPr>
              <a:t>, </a:t>
            </a:r>
            <a:pPr algn="l" indent="0" marL="0">
              <a:lnSpc>
                <a:spcPct val="142000"/>
              </a:lnSpc>
              <a:buNone/>
            </a:pPr>
            <a:r>
              <a:rPr lang="en-US" sz="1950" dirty="0">
                <a:solidFill>
                  <a:srgbClr val="B6351D"/>
                </a:solidFill>
                <a:latin typeface="Arial" pitchFamily="34" charset="0"/>
                <a:ea typeface="Arial" pitchFamily="34" charset="-122"/>
                <a:cs typeface="Arial" pitchFamily="34" charset="-120"/>
              </a:rPr>
              <a:t>r/o</a:t>
            </a:r>
            <a:pPr algn="l" indent="0" marL="0">
              <a:lnSpc>
                <a:spcPct val="142000"/>
              </a:lnSpc>
              <a:buNone/>
            </a:pPr>
            <a:r>
              <a:rPr lang="en-US" sz="1950" dirty="0">
                <a:solidFill>
                  <a:srgbClr val="9A8F76"/>
                </a:solidFill>
                <a:latin typeface="Arial" pitchFamily="34" charset="0"/>
                <a:ea typeface="Arial" pitchFamily="34" charset="-122"/>
                <a:cs typeface="Arial" pitchFamily="34" charset="-120"/>
              </a:rPr>
              <a:t>, </a:t>
            </a:r>
            <a:pPr algn="l" indent="0" marL="0">
              <a:lnSpc>
                <a:spcPct val="142000"/>
              </a:lnSpc>
              <a:buNone/>
            </a:pPr>
            <a:r>
              <a:rPr lang="en-US" sz="1950" dirty="0">
                <a:solidFill>
                  <a:srgbClr val="B6351D"/>
                </a:solidFill>
                <a:latin typeface="Arial" pitchFamily="34" charset="0"/>
                <a:ea typeface="Arial" pitchFamily="34" charset="-122"/>
                <a:cs typeface="Arial" pitchFamily="34" charset="-120"/>
              </a:rPr>
              <a:t>w/ </a:t>
            </a:r>
            <a:pPr algn="l" indent="0" marL="0">
              <a:lnSpc>
                <a:spcPct val="142000"/>
              </a:lnSpc>
              <a:buNone/>
            </a:pPr>
            <a:r>
              <a:rPr lang="en-US" sz="1950" dirty="0">
                <a:solidFill>
                  <a:srgbClr val="9A8F76"/>
                </a:solidFill>
                <a:latin typeface="Arial" pitchFamily="34" charset="0"/>
                <a:ea typeface="Arial" pitchFamily="34" charset="-122"/>
                <a:cs typeface="Arial" pitchFamily="34" charset="-120"/>
              </a:rPr>
              <a:t>— abbreviations that never appear in PubMed.</a:t>
            </a:r>
            <a:endParaRPr lang="en-US" sz="1950" dirty="0"/>
          </a:p>
        </p:txBody>
      </p:sp>
      <p:sp>
        <p:nvSpPr>
          <p:cNvPr id="15" name="Text 13"/>
          <p:cNvSpPr/>
          <p:nvPr/>
        </p:nvSpPr>
        <p:spPr>
          <a:xfrm>
            <a:off x="1143000" y="8877300"/>
            <a:ext cx="9797383" cy="495300"/>
          </a:xfrm>
          <a:prstGeom prst="rect">
            <a:avLst/>
          </a:prstGeom>
          <a:noFill/>
          <a:ln/>
        </p:spPr>
        <p:txBody>
          <a:bodyPr wrap="square" lIns="25400" tIns="25400" rIns="25400" bIns="25400" rtlCol="0" anchor="t">
            <a:normAutofit/>
          </a:bodyPr>
          <a:lstStyle/>
          <a:p>
            <a:pPr algn="l" indent="0" marL="0">
              <a:lnSpc>
                <a:spcPct val="120000"/>
              </a:lnSpc>
              <a:buNone/>
            </a:pPr>
            <a:r>
              <a:rPr lang="en-US" sz="3000" i="1" spc="-30" kern="0" dirty="0">
                <a:solidFill>
                  <a:srgbClr val="F5EFDF"/>
                </a:solidFill>
                <a:latin typeface="Arial" pitchFamily="34" charset="0"/>
                <a:ea typeface="Arial" pitchFamily="34" charset="-122"/>
                <a:cs typeface="Arial" pitchFamily="34" charset="-120"/>
              </a:rPr>
              <a:t>Tokenizer specialization is </a:t>
            </a:r>
            <a:pPr algn="l" indent="0" marL="0">
              <a:lnSpc>
                <a:spcPct val="120000"/>
              </a:lnSpc>
              <a:buNone/>
            </a:pPr>
            <a:r>
              <a:rPr lang="en-US" sz="3000" i="1" u="sng" spc="-30" kern="0" dirty="0">
                <a:solidFill>
                  <a:srgbClr val="F5EFDF"/>
                </a:solidFill>
                <a:uFill>
                  <a:solidFill>
                    <a:srgbClr val="B6351D"/>
                  </a:solidFill>
                </a:uFill>
                <a:latin typeface="Arial" pitchFamily="34" charset="0"/>
                <a:ea typeface="Arial" pitchFamily="34" charset="-122"/>
                <a:cs typeface="Arial" pitchFamily="34" charset="-120"/>
              </a:rPr>
              <a:t>register-specific</a:t>
            </a:r>
            <a:pPr algn="l" indent="0" marL="0">
              <a:lnSpc>
                <a:spcPct val="120000"/>
              </a:lnSpc>
              <a:buNone/>
            </a:pPr>
            <a:r>
              <a:rPr lang="en-US" sz="3000" i="1" spc="-30" kern="0" dirty="0">
                <a:solidFill>
                  <a:srgbClr val="F5EFDF"/>
                </a:solidFill>
                <a:latin typeface="Arial" pitchFamily="34" charset="0"/>
                <a:ea typeface="Arial" pitchFamily="34" charset="-122"/>
                <a:cs typeface="Arial" pitchFamily="34" charset="-120"/>
              </a:rPr>
              <a:t>, not domain-specific.</a:t>
            </a:r>
            <a:endParaRPr lang="en-US" sz="3000" dirty="0"/>
          </a:p>
        </p:txBody>
      </p:sp>
      <p:sp>
        <p:nvSpPr>
          <p:cNvPr id="16" name="Text 14"/>
          <p:cNvSpPr/>
          <p:nvPr/>
        </p:nvSpPr>
        <p:spPr>
          <a:xfrm>
            <a:off x="16588860" y="9429036"/>
            <a:ext cx="632341"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144" kern="0" dirty="0">
                <a:solidFill>
                  <a:srgbClr val="9A8F76"/>
                </a:solidFill>
                <a:latin typeface="Arial" pitchFamily="34" charset="0"/>
                <a:ea typeface="Arial" pitchFamily="34" charset="-122"/>
                <a:cs typeface="Arial" pitchFamily="34" charset="-120"/>
              </a:rPr>
              <a:t>S·11</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1143000" y="533400"/>
            <a:ext cx="2523292"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 04 · SURPRISES</a:t>
            </a:r>
            <a:endParaRPr lang="en-US" sz="1800" dirty="0"/>
          </a:p>
        </p:txBody>
      </p:sp>
      <p:sp>
        <p:nvSpPr>
          <p:cNvPr id="3" name="Text 1"/>
          <p:cNvSpPr/>
          <p:nvPr/>
        </p:nvSpPr>
        <p:spPr>
          <a:xfrm>
            <a:off x="16102013" y="533400"/>
            <a:ext cx="1119188"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12 </a:t>
            </a:r>
            <a:pPr algn="l" indent="0" marL="0">
              <a:lnSpc>
                <a:spcPct val="142000"/>
              </a:lnSpc>
              <a:buNone/>
            </a:pPr>
            <a:r>
              <a:rPr lang="en-US" sz="1800" spc="252" kern="0" dirty="0">
                <a:solidFill>
                  <a:srgbClr val="C9BFA8"/>
                </a:solidFill>
                <a:latin typeface="Arial" pitchFamily="34" charset="0"/>
                <a:ea typeface="Arial" pitchFamily="34" charset="-122"/>
                <a:cs typeface="Arial" pitchFamily="34" charset="-120"/>
              </a:rPr>
              <a:t>/ 14</a:t>
            </a:r>
            <a:endParaRPr lang="en-US" sz="1800" dirty="0"/>
          </a:p>
        </p:txBody>
      </p:sp>
      <p:sp>
        <p:nvSpPr>
          <p:cNvPr id="4" name="Shape 2"/>
          <p:cNvSpPr/>
          <p:nvPr/>
        </p:nvSpPr>
        <p:spPr>
          <a:xfrm>
            <a:off x="1143000" y="2286000"/>
            <a:ext cx="914400" cy="9525"/>
          </a:xfrm>
          <a:prstGeom prst="rect">
            <a:avLst/>
          </a:prstGeom>
          <a:solidFill>
            <a:srgbClr val="C9BFA8"/>
          </a:solidFill>
          <a:ln/>
        </p:spPr>
      </p:sp>
      <p:sp>
        <p:nvSpPr>
          <p:cNvPr id="5" name="Text 3"/>
          <p:cNvSpPr/>
          <p:nvPr/>
        </p:nvSpPr>
        <p:spPr>
          <a:xfrm>
            <a:off x="1143000" y="2674620"/>
            <a:ext cx="14716125" cy="704017"/>
          </a:xfrm>
          <a:prstGeom prst="rect">
            <a:avLst/>
          </a:prstGeom>
          <a:noFill/>
          <a:ln/>
        </p:spPr>
        <p:txBody>
          <a:bodyPr wrap="square" lIns="25400" tIns="25400" rIns="25400" bIns="25400" rtlCol="0" anchor="t">
            <a:normAutofit/>
          </a:bodyPr>
          <a:lstStyle/>
          <a:p>
            <a:pPr algn="l" indent="0" marL="0">
              <a:lnSpc>
                <a:spcPct val="108000"/>
              </a:lnSpc>
              <a:buNone/>
            </a:pPr>
            <a:r>
              <a:rPr lang="en-US" sz="4800" spc="-72" kern="0" dirty="0">
                <a:solidFill>
                  <a:srgbClr val="1A1A1A"/>
                </a:solidFill>
                <a:latin typeface="Arial" pitchFamily="34" charset="0"/>
                <a:ea typeface="Arial" pitchFamily="34" charset="-122"/>
                <a:cs typeface="Arial" pitchFamily="34" charset="-120"/>
              </a:rPr>
              <a:t>The </a:t>
            </a:r>
            <a:pPr algn="l" indent="0" marL="0">
              <a:lnSpc>
                <a:spcPct val="108000"/>
              </a:lnSpc>
              <a:buNone/>
            </a:pPr>
            <a:r>
              <a:rPr lang="en-US" sz="4800" i="1" spc="-72" kern="0" dirty="0">
                <a:solidFill>
                  <a:srgbClr val="1A1A1A"/>
                </a:solidFill>
                <a:latin typeface="Arial" pitchFamily="34" charset="0"/>
                <a:ea typeface="Arial" pitchFamily="34" charset="-122"/>
                <a:cs typeface="Arial" pitchFamily="34" charset="-120"/>
              </a:rPr>
              <a:t>shape </a:t>
            </a:r>
            <a:pPr algn="l" indent="0" marL="0">
              <a:lnSpc>
                <a:spcPct val="108000"/>
              </a:lnSpc>
              <a:buNone/>
            </a:pPr>
            <a:r>
              <a:rPr lang="en-US" sz="4800" spc="-72" kern="0" dirty="0">
                <a:solidFill>
                  <a:srgbClr val="1A1A1A"/>
                </a:solidFill>
                <a:latin typeface="Arial" pitchFamily="34" charset="0"/>
                <a:ea typeface="Arial" pitchFamily="34" charset="-122"/>
                <a:cs typeface="Arial" pitchFamily="34" charset="-120"/>
              </a:rPr>
              <a:t>of errors differs—not just the rate.</a:t>
            </a:r>
            <a:endParaRPr lang="en-US" sz="4800" dirty="0"/>
          </a:p>
        </p:txBody>
      </p:sp>
      <p:sp>
        <p:nvSpPr>
          <p:cNvPr id="6" name="Text 4"/>
          <p:cNvSpPr/>
          <p:nvPr/>
        </p:nvSpPr>
        <p:spPr>
          <a:xfrm>
            <a:off x="1143000" y="3797737"/>
            <a:ext cx="13735050" cy="501015"/>
          </a:xfrm>
          <a:prstGeom prst="rect">
            <a:avLst/>
          </a:prstGeom>
          <a:noFill/>
          <a:ln/>
        </p:spPr>
        <p:txBody>
          <a:bodyPr wrap="square" lIns="25400" tIns="25400" rIns="25400" bIns="25400" rtlCol="0" anchor="t">
            <a:normAutofit/>
          </a:bodyPr>
          <a:lstStyle/>
          <a:p>
            <a:pPr algn="l" indent="0" marL="0">
              <a:lnSpc>
                <a:spcPct val="135000"/>
              </a:lnSpc>
              <a:buNone/>
            </a:pPr>
            <a:r>
              <a:rPr lang="en-US" sz="2700" dirty="0">
                <a:solidFill>
                  <a:srgbClr val="3E3A33"/>
                </a:solidFill>
                <a:latin typeface="Arial" pitchFamily="34" charset="0"/>
                <a:ea typeface="Arial" pitchFamily="34" charset="-122"/>
                <a:cs typeface="Arial" pitchFamily="34" charset="-120"/>
              </a:rPr>
              <a:t>And the difference traces directly to how each tokenizer fragments rare words.</a:t>
            </a:r>
            <a:endParaRPr lang="en-US" sz="2700" dirty="0"/>
          </a:p>
        </p:txBody>
      </p:sp>
      <p:sp>
        <p:nvSpPr>
          <p:cNvPr id="7" name="Text 5"/>
          <p:cNvSpPr/>
          <p:nvPr/>
        </p:nvSpPr>
        <p:spPr>
          <a:xfrm>
            <a:off x="1143000" y="4908352"/>
            <a:ext cx="7887843"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spc="288" kern="0" dirty="0">
                <a:solidFill>
                  <a:srgbClr val="2457A8"/>
                </a:solidFill>
                <a:latin typeface="Arial" pitchFamily="34" charset="0"/>
                <a:ea typeface="Arial" pitchFamily="34" charset="-122"/>
                <a:cs typeface="Arial" pitchFamily="34" charset="-120"/>
              </a:rPr>
              <a:t>GENERAL · CHAR-LEVEL DRIFT</a:t>
            </a:r>
            <a:endParaRPr lang="en-US" sz="1800" dirty="0"/>
          </a:p>
        </p:txBody>
      </p:sp>
      <p:sp>
        <p:nvSpPr>
          <p:cNvPr id="8" name="Shape 6"/>
          <p:cNvSpPr/>
          <p:nvPr/>
        </p:nvSpPr>
        <p:spPr>
          <a:xfrm>
            <a:off x="1143000" y="5564386"/>
            <a:ext cx="2961680" cy="485775"/>
          </a:xfrm>
          <a:prstGeom prst="roundRect">
            <a:avLst>
              <a:gd name="adj" fmla="val 7843"/>
            </a:avLst>
          </a:prstGeom>
          <a:solidFill>
            <a:srgbClr val="E3EAF5"/>
          </a:solidFill>
          <a:ln w="7620">
            <a:solidFill>
              <a:srgbClr val="2457A8">
                <a:alpha val="30000"/>
              </a:srgbClr>
            </a:solidFill>
            <a:prstDash val="solid"/>
          </a:ln>
        </p:spPr>
      </p:sp>
      <p:sp>
        <p:nvSpPr>
          <p:cNvPr id="9" name="Text 7"/>
          <p:cNvSpPr/>
          <p:nvPr/>
        </p:nvSpPr>
        <p:spPr>
          <a:xfrm>
            <a:off x="1264920" y="5629156"/>
            <a:ext cx="2806690" cy="394335"/>
          </a:xfrm>
          <a:prstGeom prst="rect">
            <a:avLst/>
          </a:prstGeom>
          <a:noFill/>
          <a:ln/>
        </p:spPr>
        <p:txBody>
          <a:bodyPr wrap="square" lIns="25400" tIns="25400" rIns="25400" bIns="25400" rtlCol="0" anchor="t">
            <a:normAutofit/>
          </a:bodyPr>
          <a:lstStyle/>
          <a:p>
            <a:pPr algn="l" indent="0" marL="0">
              <a:lnSpc>
                <a:spcPct val="110000"/>
              </a:lnSpc>
              <a:buNone/>
            </a:pPr>
            <a:r>
              <a:rPr lang="en-US" sz="2550" dirty="0">
                <a:solidFill>
                  <a:srgbClr val="173876"/>
                </a:solidFill>
                <a:latin typeface="Arial" pitchFamily="34" charset="0"/>
                <a:ea typeface="Arial" pitchFamily="34" charset="-122"/>
                <a:cs typeface="Arial" pitchFamily="34" charset="-120"/>
              </a:rPr>
              <a:t>cholesterolecystitis</a:t>
            </a:r>
            <a:endParaRPr lang="en-US" sz="2550" dirty="0"/>
          </a:p>
        </p:txBody>
      </p:sp>
      <p:sp>
        <p:nvSpPr>
          <p:cNvPr id="10" name="Shape 8"/>
          <p:cNvSpPr/>
          <p:nvPr/>
        </p:nvSpPr>
        <p:spPr>
          <a:xfrm>
            <a:off x="1143000" y="6179701"/>
            <a:ext cx="2008584" cy="485775"/>
          </a:xfrm>
          <a:prstGeom prst="roundRect">
            <a:avLst>
              <a:gd name="adj" fmla="val 7843"/>
            </a:avLst>
          </a:prstGeom>
          <a:solidFill>
            <a:srgbClr val="E3EAF5"/>
          </a:solidFill>
          <a:ln w="7620">
            <a:solidFill>
              <a:srgbClr val="2457A8">
                <a:alpha val="30000"/>
              </a:srgbClr>
            </a:solidFill>
            <a:prstDash val="solid"/>
          </a:ln>
        </p:spPr>
      </p:sp>
      <p:sp>
        <p:nvSpPr>
          <p:cNvPr id="11" name="Text 9"/>
          <p:cNvSpPr/>
          <p:nvPr/>
        </p:nvSpPr>
        <p:spPr>
          <a:xfrm>
            <a:off x="1264920" y="6244471"/>
            <a:ext cx="1840944" cy="394335"/>
          </a:xfrm>
          <a:prstGeom prst="rect">
            <a:avLst/>
          </a:prstGeom>
          <a:noFill/>
          <a:ln/>
        </p:spPr>
        <p:txBody>
          <a:bodyPr wrap="square" lIns="25400" tIns="25400" rIns="25400" bIns="25400" rtlCol="0" anchor="t">
            <a:normAutofit/>
          </a:bodyPr>
          <a:lstStyle/>
          <a:p>
            <a:pPr algn="l" indent="0" marL="0">
              <a:lnSpc>
                <a:spcPct val="110000"/>
              </a:lnSpc>
              <a:buNone/>
            </a:pPr>
            <a:r>
              <a:rPr lang="en-US" sz="2550" dirty="0">
                <a:solidFill>
                  <a:srgbClr val="173876"/>
                </a:solidFill>
                <a:latin typeface="Arial" pitchFamily="34" charset="0"/>
                <a:ea typeface="Arial" pitchFamily="34" charset="-122"/>
                <a:cs typeface="Arial" pitchFamily="34" charset="-120"/>
              </a:rPr>
              <a:t>udgulopathy</a:t>
            </a:r>
            <a:endParaRPr lang="en-US" sz="2550" dirty="0"/>
          </a:p>
        </p:txBody>
      </p:sp>
      <p:sp>
        <p:nvSpPr>
          <p:cNvPr id="12" name="Shape 10"/>
          <p:cNvSpPr/>
          <p:nvPr/>
        </p:nvSpPr>
        <p:spPr>
          <a:xfrm>
            <a:off x="1143000" y="6795016"/>
            <a:ext cx="3196352" cy="485775"/>
          </a:xfrm>
          <a:prstGeom prst="roundRect">
            <a:avLst>
              <a:gd name="adj" fmla="val 7843"/>
            </a:avLst>
          </a:prstGeom>
          <a:solidFill>
            <a:srgbClr val="E3EAF5"/>
          </a:solidFill>
          <a:ln w="7620">
            <a:solidFill>
              <a:srgbClr val="2457A8">
                <a:alpha val="30000"/>
              </a:srgbClr>
            </a:solidFill>
            <a:prstDash val="solid"/>
          </a:ln>
        </p:spPr>
      </p:sp>
      <p:sp>
        <p:nvSpPr>
          <p:cNvPr id="13" name="Text 11"/>
          <p:cNvSpPr/>
          <p:nvPr/>
        </p:nvSpPr>
        <p:spPr>
          <a:xfrm>
            <a:off x="1264920" y="6859786"/>
            <a:ext cx="3048403" cy="394335"/>
          </a:xfrm>
          <a:prstGeom prst="rect">
            <a:avLst/>
          </a:prstGeom>
          <a:noFill/>
          <a:ln/>
        </p:spPr>
        <p:txBody>
          <a:bodyPr wrap="square" lIns="25400" tIns="25400" rIns="25400" bIns="25400" rtlCol="0" anchor="t">
            <a:normAutofit/>
          </a:bodyPr>
          <a:lstStyle/>
          <a:p>
            <a:pPr algn="l" indent="0" marL="0">
              <a:lnSpc>
                <a:spcPct val="110000"/>
              </a:lnSpc>
              <a:buNone/>
            </a:pPr>
            <a:r>
              <a:rPr lang="en-US" sz="2550" dirty="0">
                <a:solidFill>
                  <a:srgbClr val="173876"/>
                </a:solidFill>
                <a:latin typeface="Arial" pitchFamily="34" charset="0"/>
                <a:ea typeface="Arial" pitchFamily="34" charset="-122"/>
                <a:cs typeface="Arial" pitchFamily="34" charset="-120"/>
              </a:rPr>
              <a:t>bronchiolitin stenting</a:t>
            </a:r>
            <a:endParaRPr lang="en-US" sz="2550" dirty="0"/>
          </a:p>
        </p:txBody>
      </p:sp>
      <p:sp>
        <p:nvSpPr>
          <p:cNvPr id="14" name="Shape 12"/>
          <p:cNvSpPr/>
          <p:nvPr/>
        </p:nvSpPr>
        <p:spPr>
          <a:xfrm>
            <a:off x="1143000" y="7410331"/>
            <a:ext cx="2295763" cy="485775"/>
          </a:xfrm>
          <a:prstGeom prst="roundRect">
            <a:avLst>
              <a:gd name="adj" fmla="val 7843"/>
            </a:avLst>
          </a:prstGeom>
          <a:solidFill>
            <a:srgbClr val="E3EAF5"/>
          </a:solidFill>
          <a:ln w="7620">
            <a:solidFill>
              <a:srgbClr val="2457A8">
                <a:alpha val="30000"/>
              </a:srgbClr>
            </a:solidFill>
            <a:prstDash val="solid"/>
          </a:ln>
        </p:spPr>
      </p:sp>
      <p:sp>
        <p:nvSpPr>
          <p:cNvPr id="15" name="Text 13"/>
          <p:cNvSpPr/>
          <p:nvPr/>
        </p:nvSpPr>
        <p:spPr>
          <a:xfrm>
            <a:off x="1264920" y="7475101"/>
            <a:ext cx="2128123" cy="394335"/>
          </a:xfrm>
          <a:prstGeom prst="rect">
            <a:avLst/>
          </a:prstGeom>
          <a:noFill/>
          <a:ln/>
        </p:spPr>
        <p:txBody>
          <a:bodyPr wrap="square" lIns="25400" tIns="25400" rIns="25400" bIns="25400" rtlCol="0" anchor="t">
            <a:normAutofit/>
          </a:bodyPr>
          <a:lstStyle/>
          <a:p>
            <a:pPr algn="l" indent="0" marL="0">
              <a:lnSpc>
                <a:spcPct val="110000"/>
              </a:lnSpc>
              <a:buNone/>
            </a:pPr>
            <a:r>
              <a:rPr lang="en-US" sz="2550" dirty="0">
                <a:solidFill>
                  <a:srgbClr val="173876"/>
                </a:solidFill>
                <a:latin typeface="Arial" pitchFamily="34" charset="0"/>
                <a:ea typeface="Arial" pitchFamily="34" charset="-122"/>
                <a:cs typeface="Arial" pitchFamily="34" charset="-120"/>
              </a:rPr>
              <a:t>emtourmesing</a:t>
            </a:r>
            <a:endParaRPr lang="en-US" sz="2550" dirty="0"/>
          </a:p>
        </p:txBody>
      </p:sp>
      <p:sp>
        <p:nvSpPr>
          <p:cNvPr id="16" name="Text 14"/>
          <p:cNvSpPr/>
          <p:nvPr/>
        </p:nvSpPr>
        <p:spPr>
          <a:xfrm>
            <a:off x="1143000" y="8227576"/>
            <a:ext cx="6278880" cy="103251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3E3A33"/>
                </a:solidFill>
                <a:latin typeface="Arial" pitchFamily="34" charset="0"/>
                <a:ea typeface="Arial" pitchFamily="34" charset="-122"/>
                <a:cs typeface="Arial" pitchFamily="34" charset="-120"/>
              </a:rPr>
              <a:t>Because cholecystectomy is 6 tokens, swapping in one wrong subword mid-word produces a plausible-sounding fake.</a:t>
            </a:r>
            <a:endParaRPr lang="en-US" sz="1800" dirty="0"/>
          </a:p>
        </p:txBody>
      </p:sp>
      <p:sp>
        <p:nvSpPr>
          <p:cNvPr id="17" name="Text 15"/>
          <p:cNvSpPr/>
          <p:nvPr/>
        </p:nvSpPr>
        <p:spPr>
          <a:xfrm>
            <a:off x="9486900" y="4908352"/>
            <a:ext cx="7887843"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spc="288" kern="0" dirty="0">
                <a:solidFill>
                  <a:srgbClr val="B6351D"/>
                </a:solidFill>
                <a:latin typeface="Arial" pitchFamily="34" charset="0"/>
                <a:ea typeface="Arial" pitchFamily="34" charset="-122"/>
                <a:cs typeface="Arial" pitchFamily="34" charset="-120"/>
              </a:rPr>
              <a:t>MEDICAL · MORPHEME PORTMANTEAUS</a:t>
            </a:r>
            <a:endParaRPr lang="en-US" sz="1800" dirty="0"/>
          </a:p>
        </p:txBody>
      </p:sp>
      <p:sp>
        <p:nvSpPr>
          <p:cNvPr id="18" name="Shape 16"/>
          <p:cNvSpPr/>
          <p:nvPr/>
        </p:nvSpPr>
        <p:spPr>
          <a:xfrm>
            <a:off x="9486900" y="5549146"/>
            <a:ext cx="3595688" cy="443865"/>
          </a:xfrm>
          <a:prstGeom prst="roundRect">
            <a:avLst>
              <a:gd name="adj" fmla="val 8584"/>
            </a:avLst>
          </a:prstGeom>
          <a:solidFill>
            <a:srgbClr val="F3DFD7"/>
          </a:solidFill>
          <a:ln w="7620">
            <a:solidFill>
              <a:srgbClr val="B6351D">
                <a:alpha val="30000"/>
              </a:srgbClr>
            </a:solidFill>
            <a:prstDash val="solid"/>
          </a:ln>
        </p:spPr>
      </p:sp>
      <p:sp>
        <p:nvSpPr>
          <p:cNvPr id="19" name="Text 17"/>
          <p:cNvSpPr/>
          <p:nvPr/>
        </p:nvSpPr>
        <p:spPr>
          <a:xfrm>
            <a:off x="9608820" y="5613916"/>
            <a:ext cx="3459718" cy="352425"/>
          </a:xfrm>
          <a:prstGeom prst="rect">
            <a:avLst/>
          </a:prstGeom>
          <a:noFill/>
          <a:ln/>
        </p:spPr>
        <p:txBody>
          <a:bodyPr wrap="square" lIns="25400" tIns="25400" rIns="25400" bIns="25400" rtlCol="0" anchor="t">
            <a:normAutofit/>
          </a:bodyPr>
          <a:lstStyle/>
          <a:p>
            <a:pPr algn="l" indent="0" marL="0">
              <a:lnSpc>
                <a:spcPct val="110000"/>
              </a:lnSpc>
              <a:buNone/>
            </a:pPr>
            <a:r>
              <a:rPr lang="en-US" sz="2250" dirty="0">
                <a:solidFill>
                  <a:srgbClr val="7A2212"/>
                </a:solidFill>
                <a:latin typeface="Arial" pitchFamily="34" charset="0"/>
                <a:ea typeface="Arial" pitchFamily="34" charset="-122"/>
                <a:cs typeface="Arial" pitchFamily="34" charset="-120"/>
              </a:rPr>
              <a:t>pancreaticoduodenectomy</a:t>
            </a:r>
            <a:endParaRPr lang="en-US" sz="2250" dirty="0"/>
          </a:p>
        </p:txBody>
      </p:sp>
      <p:sp>
        <p:nvSpPr>
          <p:cNvPr id="20" name="Shape 18"/>
          <p:cNvSpPr/>
          <p:nvPr/>
        </p:nvSpPr>
        <p:spPr>
          <a:xfrm>
            <a:off x="9486900" y="6092071"/>
            <a:ext cx="3531751" cy="443865"/>
          </a:xfrm>
          <a:prstGeom prst="roundRect">
            <a:avLst>
              <a:gd name="adj" fmla="val 8584"/>
            </a:avLst>
          </a:prstGeom>
          <a:solidFill>
            <a:srgbClr val="F3DFD7"/>
          </a:solidFill>
          <a:ln w="7620">
            <a:solidFill>
              <a:srgbClr val="B6351D">
                <a:alpha val="30000"/>
              </a:srgbClr>
            </a:solidFill>
            <a:prstDash val="solid"/>
          </a:ln>
        </p:spPr>
      </p:sp>
      <p:sp>
        <p:nvSpPr>
          <p:cNvPr id="21" name="Text 19"/>
          <p:cNvSpPr/>
          <p:nvPr/>
        </p:nvSpPr>
        <p:spPr>
          <a:xfrm>
            <a:off x="9608820" y="6156841"/>
            <a:ext cx="3393864" cy="352425"/>
          </a:xfrm>
          <a:prstGeom prst="rect">
            <a:avLst/>
          </a:prstGeom>
          <a:noFill/>
          <a:ln/>
        </p:spPr>
        <p:txBody>
          <a:bodyPr wrap="square" lIns="25400" tIns="25400" rIns="25400" bIns="25400" rtlCol="0" anchor="t">
            <a:normAutofit/>
          </a:bodyPr>
          <a:lstStyle/>
          <a:p>
            <a:pPr algn="l" indent="0" marL="0">
              <a:lnSpc>
                <a:spcPct val="110000"/>
              </a:lnSpc>
              <a:buNone/>
            </a:pPr>
            <a:r>
              <a:rPr lang="en-US" sz="2250" dirty="0">
                <a:solidFill>
                  <a:srgbClr val="7A2212"/>
                </a:solidFill>
                <a:latin typeface="Arial" pitchFamily="34" charset="0"/>
                <a:ea typeface="Arial" pitchFamily="34" charset="-122"/>
                <a:cs typeface="Arial" pitchFamily="34" charset="-120"/>
              </a:rPr>
              <a:t>extraperitoneal lymphoma</a:t>
            </a:r>
            <a:endParaRPr lang="en-US" sz="2250" dirty="0"/>
          </a:p>
        </p:txBody>
      </p:sp>
      <p:sp>
        <p:nvSpPr>
          <p:cNvPr id="22" name="Shape 20"/>
          <p:cNvSpPr/>
          <p:nvPr/>
        </p:nvSpPr>
        <p:spPr>
          <a:xfrm>
            <a:off x="9486900" y="6634996"/>
            <a:ext cx="3039189" cy="443865"/>
          </a:xfrm>
          <a:prstGeom prst="roundRect">
            <a:avLst>
              <a:gd name="adj" fmla="val 8584"/>
            </a:avLst>
          </a:prstGeom>
          <a:solidFill>
            <a:srgbClr val="F3DFD7"/>
          </a:solidFill>
          <a:ln w="7620">
            <a:solidFill>
              <a:srgbClr val="B6351D">
                <a:alpha val="30000"/>
              </a:srgbClr>
            </a:solidFill>
            <a:prstDash val="solid"/>
          </a:ln>
        </p:spPr>
      </p:sp>
      <p:sp>
        <p:nvSpPr>
          <p:cNvPr id="23" name="Text 21"/>
          <p:cNvSpPr/>
          <p:nvPr/>
        </p:nvSpPr>
        <p:spPr>
          <a:xfrm>
            <a:off x="9608820" y="6699766"/>
            <a:ext cx="2886525" cy="352425"/>
          </a:xfrm>
          <a:prstGeom prst="rect">
            <a:avLst/>
          </a:prstGeom>
          <a:noFill/>
          <a:ln/>
        </p:spPr>
        <p:txBody>
          <a:bodyPr wrap="square" lIns="25400" tIns="25400" rIns="25400" bIns="25400" rtlCol="0" anchor="t">
            <a:normAutofit/>
          </a:bodyPr>
          <a:lstStyle/>
          <a:p>
            <a:pPr algn="l" indent="0" marL="0">
              <a:lnSpc>
                <a:spcPct val="110000"/>
              </a:lnSpc>
              <a:buNone/>
            </a:pPr>
            <a:r>
              <a:rPr lang="en-US" sz="2250" dirty="0">
                <a:solidFill>
                  <a:srgbClr val="7A2212"/>
                </a:solidFill>
                <a:latin typeface="Arial" pitchFamily="34" charset="0"/>
                <a:ea typeface="Arial" pitchFamily="34" charset="-122"/>
                <a:cs typeface="Arial" pitchFamily="34" charset="-120"/>
              </a:rPr>
              <a:t>thoracoscopic surgery</a:t>
            </a:r>
            <a:endParaRPr lang="en-US" sz="2250" dirty="0"/>
          </a:p>
        </p:txBody>
      </p:sp>
      <p:sp>
        <p:nvSpPr>
          <p:cNvPr id="24" name="Shape 22"/>
          <p:cNvSpPr/>
          <p:nvPr/>
        </p:nvSpPr>
        <p:spPr>
          <a:xfrm>
            <a:off x="9486900" y="7170301"/>
            <a:ext cx="3277076" cy="449580"/>
          </a:xfrm>
          <a:prstGeom prst="roundRect">
            <a:avLst>
              <a:gd name="adj" fmla="val 8475"/>
            </a:avLst>
          </a:prstGeom>
          <a:solidFill>
            <a:srgbClr val="F3DFD7"/>
          </a:solidFill>
          <a:ln w="7620">
            <a:solidFill>
              <a:srgbClr val="B6351D">
                <a:alpha val="50000"/>
              </a:srgbClr>
            </a:solidFill>
            <a:prstDash val="dash"/>
          </a:ln>
        </p:spPr>
      </p:sp>
      <p:sp>
        <p:nvSpPr>
          <p:cNvPr id="25" name="Text 23"/>
          <p:cNvSpPr/>
          <p:nvPr/>
        </p:nvSpPr>
        <p:spPr>
          <a:xfrm>
            <a:off x="9608820" y="7235071"/>
            <a:ext cx="3131549" cy="358140"/>
          </a:xfrm>
          <a:prstGeom prst="rect">
            <a:avLst/>
          </a:prstGeom>
          <a:noFill/>
          <a:ln/>
        </p:spPr>
        <p:txBody>
          <a:bodyPr wrap="square" lIns="25400" tIns="25400" rIns="25400" bIns="25400" rtlCol="0" anchor="t">
            <a:normAutofit/>
          </a:bodyPr>
          <a:lstStyle/>
          <a:p>
            <a:pPr algn="l" indent="0" marL="0">
              <a:lnSpc>
                <a:spcPct val="190000"/>
              </a:lnSpc>
              <a:buNone/>
            </a:pPr>
            <a:r>
              <a:rPr lang="en-US" sz="2250" dirty="0">
                <a:solidFill>
                  <a:srgbClr val="7A2212"/>
                </a:solidFill>
                <a:latin typeface="Arial" pitchFamily="34" charset="0"/>
                <a:ea typeface="Arial" pitchFamily="34" charset="-122"/>
                <a:cs typeface="Arial" pitchFamily="34" charset="-120"/>
              </a:rPr>
              <a:t>cholecystostomyectomy</a:t>
            </a:r>
            <a:endParaRPr lang="en-US" sz="2250" dirty="0"/>
          </a:p>
        </p:txBody>
      </p:sp>
      <p:sp>
        <p:nvSpPr>
          <p:cNvPr id="26" name="Text 24"/>
          <p:cNvSpPr/>
          <p:nvPr/>
        </p:nvSpPr>
        <p:spPr>
          <a:xfrm>
            <a:off x="9486900" y="7938016"/>
            <a:ext cx="6278880" cy="70104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3E3A33"/>
                </a:solidFill>
                <a:latin typeface="Arial" pitchFamily="34" charset="0"/>
                <a:ea typeface="Arial" pitchFamily="34" charset="-122"/>
                <a:cs typeface="Arial" pitchFamily="34" charset="-120"/>
              </a:rPr>
              <a:t>Real multi-syllabic terms, one token each. Still fabricates — but by </a:t>
            </a:r>
            <a:pPr algn="l" indent="0" marL="0">
              <a:lnSpc>
                <a:spcPct val="145000"/>
              </a:lnSpc>
              <a:buNone/>
            </a:pPr>
            <a:r>
              <a:rPr lang="en-US" sz="1800" i="1" dirty="0">
                <a:solidFill>
                  <a:srgbClr val="3E3A33"/>
                </a:solidFill>
                <a:latin typeface="Arial" pitchFamily="34" charset="0"/>
                <a:ea typeface="Arial" pitchFamily="34" charset="-122"/>
                <a:cs typeface="Arial" pitchFamily="34" charset="-120"/>
              </a:rPr>
              <a:t>concatenating real morphemes</a:t>
            </a:r>
            <a:pPr algn="l" indent="0" marL="0">
              <a:lnSpc>
                <a:spcPct val="145000"/>
              </a:lnSpc>
              <a:buNone/>
            </a:pPr>
            <a:r>
              <a:rPr lang="en-US" sz="1800" dirty="0">
                <a:solidFill>
                  <a:srgbClr val="3E3A33"/>
                </a:solidFill>
                <a:latin typeface="Arial" pitchFamily="34" charset="0"/>
                <a:ea typeface="Arial" pitchFamily="34" charset="-122"/>
                <a:cs typeface="Arial" pitchFamily="34" charset="-120"/>
              </a:rPr>
              <a:t>, never by char-drift.</a:t>
            </a:r>
            <a:endParaRPr lang="en-US" sz="1800" dirty="0"/>
          </a:p>
        </p:txBody>
      </p:sp>
      <p:sp>
        <p:nvSpPr>
          <p:cNvPr id="27" name="Shape 25"/>
          <p:cNvSpPr/>
          <p:nvPr/>
        </p:nvSpPr>
        <p:spPr>
          <a:xfrm>
            <a:off x="1143000" y="9907786"/>
            <a:ext cx="16002000" cy="9525"/>
          </a:xfrm>
          <a:prstGeom prst="rect">
            <a:avLst/>
          </a:prstGeom>
          <a:solidFill>
            <a:srgbClr val="C9BFA8"/>
          </a:solidFill>
          <a:ln/>
        </p:spPr>
      </p:sp>
      <p:sp>
        <p:nvSpPr>
          <p:cNvPr id="28" name="Text 26"/>
          <p:cNvSpPr/>
          <p:nvPr/>
        </p:nvSpPr>
        <p:spPr>
          <a:xfrm>
            <a:off x="1447800" y="10144006"/>
            <a:ext cx="15872460" cy="416719"/>
          </a:xfrm>
          <a:prstGeom prst="rect">
            <a:avLst/>
          </a:prstGeom>
          <a:noFill/>
          <a:ln/>
        </p:spPr>
        <p:txBody>
          <a:bodyPr wrap="square" lIns="25400" tIns="25400" rIns="25400" bIns="25400" rtlCol="0" anchor="t">
            <a:normAutofit/>
          </a:bodyPr>
          <a:lstStyle/>
          <a:p>
            <a:pPr algn="l" indent="0" marL="0">
              <a:lnSpc>
                <a:spcPct val="142000"/>
              </a:lnSpc>
              <a:buNone/>
            </a:pPr>
            <a:r>
              <a:rPr lang="en-US" sz="2100" i="1" dirty="0">
                <a:solidFill>
                  <a:srgbClr val="1A1A1A"/>
                </a:solidFill>
                <a:latin typeface="Arial" pitchFamily="34" charset="0"/>
                <a:ea typeface="Arial" pitchFamily="34" charset="-122"/>
                <a:cs typeface="Arial" pitchFamily="34" charset="-120"/>
              </a:rPr>
              <a:t>Different failure shapes, not just different error rates—hallucination analysis should be tokenizer-conditioned.</a:t>
            </a:r>
            <a:endParaRPr lang="en-US" sz="2100" dirty="0"/>
          </a:p>
        </p:txBody>
      </p:sp>
      <p:sp>
        <p:nvSpPr>
          <p:cNvPr id="29" name="Text 27"/>
          <p:cNvSpPr/>
          <p:nvPr/>
        </p:nvSpPr>
        <p:spPr>
          <a:xfrm>
            <a:off x="16588860" y="9429036"/>
            <a:ext cx="632341"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144" kern="0" dirty="0">
                <a:solidFill>
                  <a:srgbClr val="8A8375"/>
                </a:solidFill>
                <a:latin typeface="Arial" pitchFamily="34" charset="0"/>
                <a:ea typeface="Arial" pitchFamily="34" charset="-122"/>
                <a:cs typeface="Arial" pitchFamily="34" charset="-120"/>
              </a:rPr>
              <a:t>S·12</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1143000" y="533400"/>
            <a:ext cx="3019258"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 05 · CONCLUSIONS</a:t>
            </a:r>
            <a:endParaRPr lang="en-US" sz="1800" dirty="0"/>
          </a:p>
        </p:txBody>
      </p:sp>
      <p:sp>
        <p:nvSpPr>
          <p:cNvPr id="3" name="Text 1"/>
          <p:cNvSpPr/>
          <p:nvPr/>
        </p:nvSpPr>
        <p:spPr>
          <a:xfrm>
            <a:off x="16102013" y="533400"/>
            <a:ext cx="1119188"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13 </a:t>
            </a:r>
            <a:pPr algn="l" indent="0" marL="0">
              <a:lnSpc>
                <a:spcPct val="142000"/>
              </a:lnSpc>
              <a:buNone/>
            </a:pPr>
            <a:r>
              <a:rPr lang="en-US" sz="1800" spc="252" kern="0" dirty="0">
                <a:solidFill>
                  <a:srgbClr val="C9BFA8"/>
                </a:solidFill>
                <a:latin typeface="Arial" pitchFamily="34" charset="0"/>
                <a:ea typeface="Arial" pitchFamily="34" charset="-122"/>
                <a:cs typeface="Arial" pitchFamily="34" charset="-120"/>
              </a:rPr>
              <a:t>/ 14</a:t>
            </a:r>
            <a:endParaRPr lang="en-US" sz="1800" dirty="0"/>
          </a:p>
        </p:txBody>
      </p:sp>
      <p:sp>
        <p:nvSpPr>
          <p:cNvPr id="4" name="Shape 2"/>
          <p:cNvSpPr/>
          <p:nvPr/>
        </p:nvSpPr>
        <p:spPr>
          <a:xfrm>
            <a:off x="1143000" y="2286000"/>
            <a:ext cx="914400" cy="9525"/>
          </a:xfrm>
          <a:prstGeom prst="rect">
            <a:avLst/>
          </a:prstGeom>
          <a:solidFill>
            <a:srgbClr val="C9BFA8"/>
          </a:solidFill>
          <a:ln/>
        </p:spPr>
      </p:sp>
      <p:sp>
        <p:nvSpPr>
          <p:cNvPr id="5" name="Text 3"/>
          <p:cNvSpPr/>
          <p:nvPr/>
        </p:nvSpPr>
        <p:spPr>
          <a:xfrm>
            <a:off x="1143000" y="2674620"/>
            <a:ext cx="14716125" cy="696397"/>
          </a:xfrm>
          <a:prstGeom prst="rect">
            <a:avLst/>
          </a:prstGeom>
          <a:noFill/>
          <a:ln/>
        </p:spPr>
        <p:txBody>
          <a:bodyPr wrap="square" lIns="25400" tIns="25400" rIns="25400" bIns="25400" rtlCol="0" anchor="t">
            <a:normAutofit/>
          </a:bodyPr>
          <a:lstStyle/>
          <a:p>
            <a:pPr algn="l" indent="0" marL="0">
              <a:lnSpc>
                <a:spcPct val="108000"/>
              </a:lnSpc>
              <a:buNone/>
            </a:pPr>
            <a:r>
              <a:rPr lang="en-US" sz="4800" spc="-72" kern="0" dirty="0">
                <a:solidFill>
                  <a:srgbClr val="1A1A1A"/>
                </a:solidFill>
                <a:latin typeface="Arial" pitchFamily="34" charset="0"/>
                <a:ea typeface="Arial" pitchFamily="34" charset="-122"/>
                <a:cs typeface="Arial" pitchFamily="34" charset="-120"/>
              </a:rPr>
              <a:t>Three things to take away.</a:t>
            </a:r>
            <a:endParaRPr lang="en-US" sz="4800" dirty="0"/>
          </a:p>
        </p:txBody>
      </p:sp>
      <p:sp>
        <p:nvSpPr>
          <p:cNvPr id="6" name="Text 4"/>
          <p:cNvSpPr/>
          <p:nvPr/>
        </p:nvSpPr>
        <p:spPr>
          <a:xfrm>
            <a:off x="2000250" y="4011454"/>
            <a:ext cx="1219200" cy="952500"/>
          </a:xfrm>
          <a:prstGeom prst="rect">
            <a:avLst/>
          </a:prstGeom>
          <a:noFill/>
          <a:ln/>
        </p:spPr>
        <p:txBody>
          <a:bodyPr wrap="square" lIns="25400" tIns="25400" rIns="25400" bIns="25400" rtlCol="0" anchor="t">
            <a:normAutofit/>
          </a:bodyPr>
          <a:lstStyle/>
          <a:p>
            <a:pPr algn="l" indent="0" marL="0">
              <a:lnSpc>
                <a:spcPct val="100000"/>
              </a:lnSpc>
              <a:buNone/>
            </a:pPr>
            <a:r>
              <a:rPr lang="en-US" sz="7200" dirty="0">
                <a:solidFill>
                  <a:srgbClr val="8A8375"/>
                </a:solidFill>
                <a:latin typeface="Arial" pitchFamily="34" charset="0"/>
                <a:ea typeface="Arial" pitchFamily="34" charset="-122"/>
                <a:cs typeface="Arial" pitchFamily="34" charset="-120"/>
              </a:rPr>
              <a:t>01</a:t>
            </a:r>
            <a:endParaRPr lang="en-US" sz="7200" dirty="0"/>
          </a:p>
        </p:txBody>
      </p:sp>
      <p:sp>
        <p:nvSpPr>
          <p:cNvPr id="7" name="Text 5"/>
          <p:cNvSpPr/>
          <p:nvPr/>
        </p:nvSpPr>
        <p:spPr>
          <a:xfrm>
            <a:off x="3524250" y="4400074"/>
            <a:ext cx="13146405" cy="527685"/>
          </a:xfrm>
          <a:prstGeom prst="rect">
            <a:avLst/>
          </a:prstGeom>
          <a:noFill/>
          <a:ln/>
        </p:spPr>
        <p:txBody>
          <a:bodyPr wrap="square" lIns="25400" tIns="25400" rIns="25400" bIns="25400" rtlCol="0" anchor="t">
            <a:normAutofit/>
          </a:bodyPr>
          <a:lstStyle/>
          <a:p>
            <a:pPr algn="l" indent="0" marL="0">
              <a:lnSpc>
                <a:spcPct val="115000"/>
              </a:lnSpc>
              <a:buNone/>
            </a:pPr>
            <a:r>
              <a:rPr lang="en-US" sz="3300" dirty="0">
                <a:solidFill>
                  <a:srgbClr val="1A1A1A"/>
                </a:solidFill>
                <a:latin typeface="Arial" pitchFamily="34" charset="0"/>
                <a:ea typeface="Arial" pitchFamily="34" charset="-122"/>
                <a:cs typeface="Arial" pitchFamily="34" charset="-120"/>
              </a:rPr>
              <a:t>Domain-specific tokenizers work — </a:t>
            </a:r>
            <a:pPr algn="l" indent="0" marL="0">
              <a:lnSpc>
                <a:spcPct val="115000"/>
              </a:lnSpc>
              <a:buNone/>
            </a:pPr>
            <a:r>
              <a:rPr lang="en-US" sz="3300" i="1" dirty="0">
                <a:solidFill>
                  <a:srgbClr val="1A1A1A"/>
                </a:solidFill>
                <a:latin typeface="Arial" pitchFamily="34" charset="0"/>
                <a:ea typeface="Arial" pitchFamily="34" charset="-122"/>
                <a:cs typeface="Arial" pitchFamily="34" charset="-120"/>
              </a:rPr>
              <a:t>modestly and narrowly</a:t>
            </a:r>
            <a:pPr algn="l" indent="0" marL="0">
              <a:lnSpc>
                <a:spcPct val="115000"/>
              </a:lnSpc>
              <a:buNone/>
            </a:pPr>
            <a:r>
              <a:rPr lang="en-US" sz="3300" dirty="0">
                <a:solidFill>
                  <a:srgbClr val="1A1A1A"/>
                </a:solidFill>
                <a:latin typeface="Arial" pitchFamily="34" charset="0"/>
                <a:ea typeface="Arial" pitchFamily="34" charset="-122"/>
                <a:cs typeface="Arial" pitchFamily="34" charset="-120"/>
              </a:rPr>
              <a:t>.</a:t>
            </a:r>
            <a:endParaRPr lang="en-US" sz="3300" dirty="0"/>
          </a:p>
        </p:txBody>
      </p:sp>
      <p:sp>
        <p:nvSpPr>
          <p:cNvPr id="8" name="Text 6"/>
          <p:cNvSpPr/>
          <p:nvPr/>
        </p:nvSpPr>
        <p:spPr>
          <a:xfrm>
            <a:off x="3524250" y="4984909"/>
            <a:ext cx="11772900"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8A8375"/>
                </a:solidFill>
                <a:latin typeface="Arial" pitchFamily="34" charset="0"/>
                <a:ea typeface="Arial" pitchFamily="34" charset="-122"/>
                <a:cs typeface="Arial" pitchFamily="34" charset="-120"/>
              </a:rPr>
              <a:t>An in-domain win of 0.010–0.031 BPC, with real out-of-domain cost on everything else.</a:t>
            </a:r>
            <a:endParaRPr lang="en-US" sz="1950" dirty="0"/>
          </a:p>
        </p:txBody>
      </p:sp>
      <p:sp>
        <p:nvSpPr>
          <p:cNvPr id="9" name="Text 7"/>
          <p:cNvSpPr/>
          <p:nvPr/>
        </p:nvSpPr>
        <p:spPr>
          <a:xfrm>
            <a:off x="2000250" y="5889784"/>
            <a:ext cx="1219200" cy="952500"/>
          </a:xfrm>
          <a:prstGeom prst="rect">
            <a:avLst/>
          </a:prstGeom>
          <a:noFill/>
          <a:ln/>
        </p:spPr>
        <p:txBody>
          <a:bodyPr wrap="square" lIns="25400" tIns="25400" rIns="25400" bIns="25400" rtlCol="0" anchor="t">
            <a:normAutofit/>
          </a:bodyPr>
          <a:lstStyle/>
          <a:p>
            <a:pPr algn="l" indent="0" marL="0">
              <a:lnSpc>
                <a:spcPct val="100000"/>
              </a:lnSpc>
              <a:buNone/>
            </a:pPr>
            <a:r>
              <a:rPr lang="en-US" sz="7200" dirty="0">
                <a:solidFill>
                  <a:srgbClr val="8A8375"/>
                </a:solidFill>
                <a:latin typeface="Arial" pitchFamily="34" charset="0"/>
                <a:ea typeface="Arial" pitchFamily="34" charset="-122"/>
                <a:cs typeface="Arial" pitchFamily="34" charset="-120"/>
              </a:rPr>
              <a:t>02</a:t>
            </a:r>
            <a:endParaRPr lang="en-US" sz="7200" dirty="0"/>
          </a:p>
        </p:txBody>
      </p:sp>
      <p:sp>
        <p:nvSpPr>
          <p:cNvPr id="10" name="Text 8"/>
          <p:cNvSpPr/>
          <p:nvPr/>
        </p:nvSpPr>
        <p:spPr>
          <a:xfrm>
            <a:off x="3524250" y="6278404"/>
            <a:ext cx="13146405" cy="527685"/>
          </a:xfrm>
          <a:prstGeom prst="rect">
            <a:avLst/>
          </a:prstGeom>
          <a:noFill/>
          <a:ln/>
        </p:spPr>
        <p:txBody>
          <a:bodyPr wrap="square" lIns="25400" tIns="25400" rIns="25400" bIns="25400" rtlCol="0" anchor="t">
            <a:normAutofit/>
          </a:bodyPr>
          <a:lstStyle/>
          <a:p>
            <a:pPr algn="l" indent="0" marL="0">
              <a:lnSpc>
                <a:spcPct val="115000"/>
              </a:lnSpc>
              <a:buNone/>
            </a:pPr>
            <a:r>
              <a:rPr lang="en-US" sz="3300" dirty="0">
                <a:solidFill>
                  <a:srgbClr val="1A1A1A"/>
                </a:solidFill>
                <a:latin typeface="Arial" pitchFamily="34" charset="0"/>
                <a:ea typeface="Arial" pitchFamily="34" charset="-122"/>
                <a:cs typeface="Arial" pitchFamily="34" charset="-120"/>
              </a:rPr>
              <a:t>Specialization is </a:t>
            </a:r>
            <a:pPr algn="l" indent="0" marL="0">
              <a:lnSpc>
                <a:spcPct val="115000"/>
              </a:lnSpc>
              <a:buNone/>
            </a:pPr>
            <a:r>
              <a:rPr lang="en-US" sz="3300" i="1" dirty="0">
                <a:solidFill>
                  <a:srgbClr val="1A1A1A"/>
                </a:solidFill>
                <a:latin typeface="Arial" pitchFamily="34" charset="0"/>
                <a:ea typeface="Arial" pitchFamily="34" charset="-122"/>
                <a:cs typeface="Arial" pitchFamily="34" charset="-120"/>
              </a:rPr>
              <a:t>register</a:t>
            </a:r>
            <a:pPr algn="l" indent="0" marL="0">
              <a:lnSpc>
                <a:spcPct val="115000"/>
              </a:lnSpc>
              <a:buNone/>
            </a:pPr>
            <a:r>
              <a:rPr lang="en-US" sz="3300" dirty="0">
                <a:solidFill>
                  <a:srgbClr val="1A1A1A"/>
                </a:solidFill>
                <a:latin typeface="Arial" pitchFamily="34" charset="0"/>
                <a:ea typeface="Arial" pitchFamily="34" charset="-122"/>
                <a:cs typeface="Arial" pitchFamily="34" charset="-120"/>
              </a:rPr>
              <a:t>-specific, not domain-specific.</a:t>
            </a:r>
            <a:endParaRPr lang="en-US" sz="3300" dirty="0"/>
          </a:p>
        </p:txBody>
      </p:sp>
      <p:sp>
        <p:nvSpPr>
          <p:cNvPr id="11" name="Text 9"/>
          <p:cNvSpPr/>
          <p:nvPr/>
        </p:nvSpPr>
        <p:spPr>
          <a:xfrm>
            <a:off x="3524250" y="6863239"/>
            <a:ext cx="11772900"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8A8375"/>
                </a:solidFill>
                <a:latin typeface="Arial" pitchFamily="34" charset="0"/>
                <a:ea typeface="Arial" pitchFamily="34" charset="-122"/>
                <a:cs typeface="Arial" pitchFamily="34" charset="-120"/>
              </a:rPr>
              <a:t>“Medical” is not a monolithic target. PubMed-abstracts ≠ clinical dictation.</a:t>
            </a:r>
            <a:endParaRPr lang="en-US" sz="1950" dirty="0"/>
          </a:p>
        </p:txBody>
      </p:sp>
      <p:sp>
        <p:nvSpPr>
          <p:cNvPr id="12" name="Text 10"/>
          <p:cNvSpPr/>
          <p:nvPr/>
        </p:nvSpPr>
        <p:spPr>
          <a:xfrm>
            <a:off x="2000250" y="7768114"/>
            <a:ext cx="1219200" cy="952500"/>
          </a:xfrm>
          <a:prstGeom prst="rect">
            <a:avLst/>
          </a:prstGeom>
          <a:noFill/>
          <a:ln/>
        </p:spPr>
        <p:txBody>
          <a:bodyPr wrap="square" lIns="25400" tIns="25400" rIns="25400" bIns="25400" rtlCol="0" anchor="t">
            <a:normAutofit/>
          </a:bodyPr>
          <a:lstStyle/>
          <a:p>
            <a:pPr algn="l" indent="0" marL="0">
              <a:lnSpc>
                <a:spcPct val="100000"/>
              </a:lnSpc>
              <a:buNone/>
            </a:pPr>
            <a:r>
              <a:rPr lang="en-US" sz="7200" dirty="0">
                <a:solidFill>
                  <a:srgbClr val="8A8375"/>
                </a:solidFill>
                <a:latin typeface="Arial" pitchFamily="34" charset="0"/>
                <a:ea typeface="Arial" pitchFamily="34" charset="-122"/>
                <a:cs typeface="Arial" pitchFamily="34" charset="-120"/>
              </a:rPr>
              <a:t>03</a:t>
            </a:r>
            <a:endParaRPr lang="en-US" sz="7200" dirty="0"/>
          </a:p>
        </p:txBody>
      </p:sp>
      <p:sp>
        <p:nvSpPr>
          <p:cNvPr id="13" name="Text 11"/>
          <p:cNvSpPr/>
          <p:nvPr/>
        </p:nvSpPr>
        <p:spPr>
          <a:xfrm>
            <a:off x="3524250" y="8164354"/>
            <a:ext cx="13146405" cy="520065"/>
          </a:xfrm>
          <a:prstGeom prst="rect">
            <a:avLst/>
          </a:prstGeom>
          <a:noFill/>
          <a:ln/>
        </p:spPr>
        <p:txBody>
          <a:bodyPr wrap="square" lIns="25400" tIns="25400" rIns="25400" bIns="25400" rtlCol="0" anchor="t">
            <a:normAutofit/>
          </a:bodyPr>
          <a:lstStyle/>
          <a:p>
            <a:pPr algn="l" indent="0" marL="0">
              <a:lnSpc>
                <a:spcPct val="115000"/>
              </a:lnSpc>
              <a:buNone/>
            </a:pPr>
            <a:r>
              <a:rPr lang="en-US" sz="3300" dirty="0">
                <a:solidFill>
                  <a:srgbClr val="1A1A1A"/>
                </a:solidFill>
                <a:latin typeface="Arial" pitchFamily="34" charset="0"/>
                <a:ea typeface="Arial" pitchFamily="34" charset="-122"/>
                <a:cs typeface="Arial" pitchFamily="34" charset="-120"/>
              </a:rPr>
              <a:t>Check convergence before you compare.</a:t>
            </a:r>
            <a:endParaRPr lang="en-US" sz="3300" dirty="0"/>
          </a:p>
        </p:txBody>
      </p:sp>
      <p:sp>
        <p:nvSpPr>
          <p:cNvPr id="14" name="Text 12"/>
          <p:cNvSpPr/>
          <p:nvPr/>
        </p:nvSpPr>
        <p:spPr>
          <a:xfrm>
            <a:off x="3524250" y="8741569"/>
            <a:ext cx="11772900" cy="409575"/>
          </a:xfrm>
          <a:prstGeom prst="rect">
            <a:avLst/>
          </a:prstGeom>
          <a:noFill/>
          <a:ln/>
        </p:spPr>
        <p:txBody>
          <a:bodyPr wrap="square" lIns="25400" tIns="25400" rIns="25400" bIns="25400" rtlCol="0" anchor="t">
            <a:normAutofit/>
          </a:bodyPr>
          <a:lstStyle/>
          <a:p>
            <a:pPr algn="l" indent="0" marL="0">
              <a:lnSpc>
                <a:spcPct val="150000"/>
              </a:lnSpc>
              <a:buNone/>
            </a:pPr>
            <a:r>
              <a:rPr lang="en-US" sz="1950" dirty="0">
                <a:solidFill>
                  <a:srgbClr val="8A8375"/>
                </a:solidFill>
                <a:latin typeface="Arial" pitchFamily="34" charset="0"/>
                <a:ea typeface="Arial" pitchFamily="34" charset="-122"/>
                <a:cs typeface="Arial" pitchFamily="34" charset="-120"/>
              </a:rPr>
              <a:t>A bad LR schedule produced a misleading 1-epoch result. Under-training mimics a null effect.</a:t>
            </a:r>
            <a:endParaRPr lang="en-US" sz="1950" dirty="0"/>
          </a:p>
        </p:txBody>
      </p:sp>
      <p:sp>
        <p:nvSpPr>
          <p:cNvPr id="15" name="Text 13"/>
          <p:cNvSpPr/>
          <p:nvPr/>
        </p:nvSpPr>
        <p:spPr>
          <a:xfrm>
            <a:off x="16588860" y="9429036"/>
            <a:ext cx="632341"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144" kern="0" dirty="0">
                <a:solidFill>
                  <a:srgbClr val="8A8375"/>
                </a:solidFill>
                <a:latin typeface="Arial" pitchFamily="34" charset="0"/>
                <a:ea typeface="Arial" pitchFamily="34" charset="-122"/>
                <a:cs typeface="Arial" pitchFamily="34" charset="-120"/>
              </a:rPr>
              <a:t>S·13</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7F0"/>
        </a:solidFill>
      </p:bgPr>
    </p:bg>
    <p:spTree>
      <p:nvGrpSpPr>
        <p:cNvPr id="1" name=""/>
        <p:cNvGrpSpPr/>
        <p:nvPr/>
      </p:nvGrpSpPr>
      <p:grpSpPr>
        <a:xfrm>
          <a:off x="0" y="0"/>
          <a:ext cx="0" cy="0"/>
          <a:chOff x="0" y="0"/>
          <a:chExt cx="0" cy="0"/>
        </a:xfrm>
      </p:grpSpPr>
      <p:sp>
        <p:nvSpPr>
          <p:cNvPr id="2" name="Text 0"/>
          <p:cNvSpPr/>
          <p:nvPr/>
        </p:nvSpPr>
        <p:spPr>
          <a:xfrm>
            <a:off x="1143000" y="533400"/>
            <a:ext cx="3014844"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 06 · FUTURE WORK</a:t>
            </a:r>
            <a:endParaRPr lang="en-US" sz="1800" dirty="0"/>
          </a:p>
        </p:txBody>
      </p:sp>
      <p:sp>
        <p:nvSpPr>
          <p:cNvPr id="3" name="Text 1"/>
          <p:cNvSpPr/>
          <p:nvPr/>
        </p:nvSpPr>
        <p:spPr>
          <a:xfrm>
            <a:off x="16102013" y="533400"/>
            <a:ext cx="1119188"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spc="252" kern="0" dirty="0">
                <a:solidFill>
                  <a:srgbClr val="8A8375"/>
                </a:solidFill>
                <a:latin typeface="Arial" pitchFamily="34" charset="0"/>
                <a:ea typeface="Arial" pitchFamily="34" charset="-122"/>
                <a:cs typeface="Arial" pitchFamily="34" charset="-120"/>
              </a:rPr>
              <a:t>14 </a:t>
            </a:r>
            <a:pPr algn="l" indent="0" marL="0">
              <a:lnSpc>
                <a:spcPct val="142000"/>
              </a:lnSpc>
              <a:buNone/>
            </a:pPr>
            <a:r>
              <a:rPr lang="en-US" sz="1800" spc="252" kern="0" dirty="0">
                <a:solidFill>
                  <a:srgbClr val="C9BFA8"/>
                </a:solidFill>
                <a:latin typeface="Arial" pitchFamily="34" charset="0"/>
                <a:ea typeface="Arial" pitchFamily="34" charset="-122"/>
                <a:cs typeface="Arial" pitchFamily="34" charset="-120"/>
              </a:rPr>
              <a:t>/ 14</a:t>
            </a:r>
            <a:endParaRPr lang="en-US" sz="1800" dirty="0"/>
          </a:p>
        </p:txBody>
      </p:sp>
      <p:sp>
        <p:nvSpPr>
          <p:cNvPr id="4" name="Shape 2"/>
          <p:cNvSpPr/>
          <p:nvPr/>
        </p:nvSpPr>
        <p:spPr>
          <a:xfrm>
            <a:off x="1143000" y="2286000"/>
            <a:ext cx="914400" cy="9525"/>
          </a:xfrm>
          <a:prstGeom prst="rect">
            <a:avLst/>
          </a:prstGeom>
          <a:solidFill>
            <a:srgbClr val="C9BFA8"/>
          </a:solidFill>
          <a:ln/>
        </p:spPr>
      </p:sp>
      <p:sp>
        <p:nvSpPr>
          <p:cNvPr id="5" name="Text 3"/>
          <p:cNvSpPr/>
          <p:nvPr/>
        </p:nvSpPr>
        <p:spPr>
          <a:xfrm>
            <a:off x="1143000" y="2674620"/>
            <a:ext cx="14716125" cy="696397"/>
          </a:xfrm>
          <a:prstGeom prst="rect">
            <a:avLst/>
          </a:prstGeom>
          <a:noFill/>
          <a:ln/>
        </p:spPr>
        <p:txBody>
          <a:bodyPr wrap="square" lIns="25400" tIns="25400" rIns="25400" bIns="25400" rtlCol="0" anchor="t">
            <a:normAutofit/>
          </a:bodyPr>
          <a:lstStyle/>
          <a:p>
            <a:pPr algn="l" indent="0" marL="0">
              <a:lnSpc>
                <a:spcPct val="108000"/>
              </a:lnSpc>
              <a:buNone/>
            </a:pPr>
            <a:r>
              <a:rPr lang="en-US" sz="4800" spc="-72" kern="0" dirty="0">
                <a:solidFill>
                  <a:srgbClr val="1A1A1A"/>
                </a:solidFill>
                <a:latin typeface="Arial" pitchFamily="34" charset="0"/>
                <a:ea typeface="Arial" pitchFamily="34" charset="-122"/>
                <a:cs typeface="Arial" pitchFamily="34" charset="-120"/>
              </a:rPr>
              <a:t>With more compute, next.</a:t>
            </a:r>
            <a:endParaRPr lang="en-US" sz="4800" dirty="0"/>
          </a:p>
        </p:txBody>
      </p:sp>
      <p:sp>
        <p:nvSpPr>
          <p:cNvPr id="6" name="Shape 4"/>
          <p:cNvSpPr/>
          <p:nvPr/>
        </p:nvSpPr>
        <p:spPr>
          <a:xfrm>
            <a:off x="1143000" y="4018717"/>
            <a:ext cx="7620000" cy="9525"/>
          </a:xfrm>
          <a:prstGeom prst="rect">
            <a:avLst/>
          </a:prstGeom>
          <a:solidFill>
            <a:srgbClr val="C9BFA8"/>
          </a:solidFill>
          <a:ln/>
        </p:spPr>
      </p:sp>
      <p:sp>
        <p:nvSpPr>
          <p:cNvPr id="7" name="Text 5"/>
          <p:cNvSpPr/>
          <p:nvPr/>
        </p:nvSpPr>
        <p:spPr>
          <a:xfrm>
            <a:off x="1143000" y="4293037"/>
            <a:ext cx="7848600"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spc="288" kern="0" dirty="0">
                <a:solidFill>
                  <a:srgbClr val="8A8375"/>
                </a:solidFill>
                <a:latin typeface="Arial" pitchFamily="34" charset="0"/>
                <a:ea typeface="Arial" pitchFamily="34" charset="-122"/>
                <a:cs typeface="Arial" pitchFamily="34" charset="-120"/>
              </a:rPr>
              <a:t>01 · TOKENIZATION</a:t>
            </a:r>
            <a:endParaRPr lang="en-US" sz="1800" dirty="0"/>
          </a:p>
        </p:txBody>
      </p:sp>
      <p:sp>
        <p:nvSpPr>
          <p:cNvPr id="8" name="Text 6"/>
          <p:cNvSpPr/>
          <p:nvPr/>
        </p:nvSpPr>
        <p:spPr>
          <a:xfrm>
            <a:off x="1143000" y="4731901"/>
            <a:ext cx="7848600" cy="497919"/>
          </a:xfrm>
          <a:prstGeom prst="rect">
            <a:avLst/>
          </a:prstGeom>
          <a:noFill/>
          <a:ln/>
        </p:spPr>
        <p:txBody>
          <a:bodyPr wrap="square" lIns="25400" tIns="25400" rIns="25400" bIns="25400" rtlCol="0" anchor="t">
            <a:normAutofit/>
          </a:bodyPr>
          <a:lstStyle/>
          <a:p>
            <a:pPr algn="l" indent="0" marL="0">
              <a:lnSpc>
                <a:spcPct val="142000"/>
              </a:lnSpc>
              <a:buNone/>
            </a:pPr>
            <a:r>
              <a:rPr lang="en-US" sz="2550" dirty="0">
                <a:solidFill>
                  <a:srgbClr val="1A1A1A"/>
                </a:solidFill>
                <a:latin typeface="Arial" pitchFamily="34" charset="0"/>
                <a:ea typeface="Arial" pitchFamily="34" charset="-122"/>
                <a:cs typeface="Arial" pitchFamily="34" charset="-120"/>
              </a:rPr>
              <a:t>Mixed-corpus tokenizer</a:t>
            </a:r>
            <a:endParaRPr lang="en-US" sz="2550" dirty="0"/>
          </a:p>
        </p:txBody>
      </p:sp>
      <p:sp>
        <p:nvSpPr>
          <p:cNvPr id="9" name="Text 7"/>
          <p:cNvSpPr/>
          <p:nvPr/>
        </p:nvSpPr>
        <p:spPr>
          <a:xfrm>
            <a:off x="1143000" y="5286970"/>
            <a:ext cx="7848600" cy="756285"/>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8A8375"/>
                </a:solidFill>
                <a:latin typeface="Arial" pitchFamily="34" charset="0"/>
                <a:ea typeface="Arial" pitchFamily="34" charset="-122"/>
                <a:cs typeface="Arial" pitchFamily="34" charset="-120"/>
              </a:rPr>
              <a:t>PubMed + MTSamples + drug monographs + general English. Preserve the in-domain win, close the cross-register gap.</a:t>
            </a:r>
            <a:endParaRPr lang="en-US" sz="1950" dirty="0"/>
          </a:p>
        </p:txBody>
      </p:sp>
      <p:sp>
        <p:nvSpPr>
          <p:cNvPr id="10" name="Shape 8"/>
          <p:cNvSpPr/>
          <p:nvPr/>
        </p:nvSpPr>
        <p:spPr>
          <a:xfrm>
            <a:off x="9525000" y="4018717"/>
            <a:ext cx="7620000" cy="9525"/>
          </a:xfrm>
          <a:prstGeom prst="rect">
            <a:avLst/>
          </a:prstGeom>
          <a:solidFill>
            <a:srgbClr val="C9BFA8"/>
          </a:solidFill>
          <a:ln/>
        </p:spPr>
      </p:sp>
      <p:sp>
        <p:nvSpPr>
          <p:cNvPr id="11" name="Text 9"/>
          <p:cNvSpPr/>
          <p:nvPr/>
        </p:nvSpPr>
        <p:spPr>
          <a:xfrm>
            <a:off x="9525000" y="4293037"/>
            <a:ext cx="7848600"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spc="288" kern="0" dirty="0">
                <a:solidFill>
                  <a:srgbClr val="8A8375"/>
                </a:solidFill>
                <a:latin typeface="Arial" pitchFamily="34" charset="0"/>
                <a:ea typeface="Arial" pitchFamily="34" charset="-122"/>
                <a:cs typeface="Arial" pitchFamily="34" charset="-120"/>
              </a:rPr>
              <a:t>02 · INFERENCE</a:t>
            </a:r>
            <a:endParaRPr lang="en-US" sz="1800" dirty="0"/>
          </a:p>
        </p:txBody>
      </p:sp>
      <p:sp>
        <p:nvSpPr>
          <p:cNvPr id="12" name="Text 10"/>
          <p:cNvSpPr/>
          <p:nvPr/>
        </p:nvSpPr>
        <p:spPr>
          <a:xfrm>
            <a:off x="9525000" y="4731901"/>
            <a:ext cx="7848600" cy="497919"/>
          </a:xfrm>
          <a:prstGeom prst="rect">
            <a:avLst/>
          </a:prstGeom>
          <a:noFill/>
          <a:ln/>
        </p:spPr>
        <p:txBody>
          <a:bodyPr wrap="square" lIns="25400" tIns="25400" rIns="25400" bIns="25400" rtlCol="0" anchor="t">
            <a:normAutofit/>
          </a:bodyPr>
          <a:lstStyle/>
          <a:p>
            <a:pPr algn="l" indent="0" marL="0">
              <a:lnSpc>
                <a:spcPct val="142000"/>
              </a:lnSpc>
              <a:buNone/>
            </a:pPr>
            <a:r>
              <a:rPr lang="en-US" sz="2550" dirty="0">
                <a:solidFill>
                  <a:srgbClr val="1A1A1A"/>
                </a:solidFill>
                <a:latin typeface="Arial" pitchFamily="34" charset="0"/>
                <a:ea typeface="Arial" pitchFamily="34" charset="-122"/>
                <a:cs typeface="Arial" pitchFamily="34" charset="-120"/>
              </a:rPr>
              <a:t>Register-aware switching</a:t>
            </a:r>
            <a:endParaRPr lang="en-US" sz="2550" dirty="0"/>
          </a:p>
        </p:txBody>
      </p:sp>
      <p:sp>
        <p:nvSpPr>
          <p:cNvPr id="13" name="Text 11"/>
          <p:cNvSpPr/>
          <p:nvPr/>
        </p:nvSpPr>
        <p:spPr>
          <a:xfrm>
            <a:off x="9525000" y="5286970"/>
            <a:ext cx="7848600" cy="756285"/>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8A8375"/>
                </a:solidFill>
                <a:latin typeface="Arial" pitchFamily="34" charset="0"/>
                <a:ea typeface="Arial" pitchFamily="34" charset="-122"/>
                <a:cs typeface="Arial" pitchFamily="34" charset="-120"/>
              </a:rPr>
              <a:t>A lightweight classifier routes each document to its best-matched subword dictionary at inference time.</a:t>
            </a:r>
            <a:endParaRPr lang="en-US" sz="1950" dirty="0"/>
          </a:p>
        </p:txBody>
      </p:sp>
      <p:sp>
        <p:nvSpPr>
          <p:cNvPr id="14" name="Shape 12"/>
          <p:cNvSpPr/>
          <p:nvPr/>
        </p:nvSpPr>
        <p:spPr>
          <a:xfrm>
            <a:off x="1143000" y="6462356"/>
            <a:ext cx="7620000" cy="9525"/>
          </a:xfrm>
          <a:prstGeom prst="rect">
            <a:avLst/>
          </a:prstGeom>
          <a:solidFill>
            <a:srgbClr val="C9BFA8"/>
          </a:solidFill>
          <a:ln/>
        </p:spPr>
      </p:sp>
      <p:sp>
        <p:nvSpPr>
          <p:cNvPr id="15" name="Text 13"/>
          <p:cNvSpPr/>
          <p:nvPr/>
        </p:nvSpPr>
        <p:spPr>
          <a:xfrm>
            <a:off x="1143000" y="6736675"/>
            <a:ext cx="7848600"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spc="288" kern="0" dirty="0">
                <a:solidFill>
                  <a:srgbClr val="8A8375"/>
                </a:solidFill>
                <a:latin typeface="Arial" pitchFamily="34" charset="0"/>
                <a:ea typeface="Arial" pitchFamily="34" charset="-122"/>
                <a:cs typeface="Arial" pitchFamily="34" charset="-120"/>
              </a:rPr>
              <a:t>03 · SCALE</a:t>
            </a:r>
            <a:endParaRPr lang="en-US" sz="1800" dirty="0"/>
          </a:p>
        </p:txBody>
      </p:sp>
      <p:sp>
        <p:nvSpPr>
          <p:cNvPr id="16" name="Text 14"/>
          <p:cNvSpPr/>
          <p:nvPr/>
        </p:nvSpPr>
        <p:spPr>
          <a:xfrm>
            <a:off x="1143000" y="7175540"/>
            <a:ext cx="7848600" cy="497919"/>
          </a:xfrm>
          <a:prstGeom prst="rect">
            <a:avLst/>
          </a:prstGeom>
          <a:noFill/>
          <a:ln/>
        </p:spPr>
        <p:txBody>
          <a:bodyPr wrap="square" lIns="25400" tIns="25400" rIns="25400" bIns="25400" rtlCol="0" anchor="t">
            <a:normAutofit/>
          </a:bodyPr>
          <a:lstStyle/>
          <a:p>
            <a:pPr algn="l" indent="0" marL="0">
              <a:lnSpc>
                <a:spcPct val="142000"/>
              </a:lnSpc>
              <a:buNone/>
            </a:pPr>
            <a:r>
              <a:rPr lang="en-US" sz="2550" dirty="0">
                <a:solidFill>
                  <a:srgbClr val="1A1A1A"/>
                </a:solidFill>
                <a:latin typeface="Arial" pitchFamily="34" charset="0"/>
                <a:ea typeface="Arial" pitchFamily="34" charset="-122"/>
                <a:cs typeface="Arial" pitchFamily="34" charset="-120"/>
              </a:rPr>
              <a:t>Chinchilla-optimal training</a:t>
            </a:r>
            <a:endParaRPr lang="en-US" sz="2550" dirty="0"/>
          </a:p>
        </p:txBody>
      </p:sp>
      <p:sp>
        <p:nvSpPr>
          <p:cNvPr id="17" name="Text 15"/>
          <p:cNvSpPr/>
          <p:nvPr/>
        </p:nvSpPr>
        <p:spPr>
          <a:xfrm>
            <a:off x="1143000" y="7730609"/>
            <a:ext cx="7848600" cy="756285"/>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8A8375"/>
                </a:solidFill>
                <a:latin typeface="Arial" pitchFamily="34" charset="0"/>
                <a:ea typeface="Arial" pitchFamily="34" charset="-122"/>
                <a:cs typeface="Arial" pitchFamily="34" charset="-120"/>
              </a:rPr>
              <a:t>29M params × 20 tokens/param ≈ 580M tokens — we trained at ~32M. Does the gap widen or close?</a:t>
            </a:r>
            <a:endParaRPr lang="en-US" sz="1950" dirty="0"/>
          </a:p>
        </p:txBody>
      </p:sp>
      <p:sp>
        <p:nvSpPr>
          <p:cNvPr id="18" name="Shape 16"/>
          <p:cNvSpPr/>
          <p:nvPr/>
        </p:nvSpPr>
        <p:spPr>
          <a:xfrm>
            <a:off x="9525000" y="6462356"/>
            <a:ext cx="7620000" cy="9525"/>
          </a:xfrm>
          <a:prstGeom prst="rect">
            <a:avLst/>
          </a:prstGeom>
          <a:solidFill>
            <a:srgbClr val="C9BFA8"/>
          </a:solidFill>
          <a:ln/>
        </p:spPr>
      </p:sp>
      <p:sp>
        <p:nvSpPr>
          <p:cNvPr id="19" name="Text 17"/>
          <p:cNvSpPr/>
          <p:nvPr/>
        </p:nvSpPr>
        <p:spPr>
          <a:xfrm>
            <a:off x="9525000" y="6736675"/>
            <a:ext cx="7848600" cy="362664"/>
          </a:xfrm>
          <a:prstGeom prst="rect">
            <a:avLst/>
          </a:prstGeom>
          <a:noFill/>
          <a:ln/>
        </p:spPr>
        <p:txBody>
          <a:bodyPr wrap="square" lIns="25400" tIns="25400" rIns="25400" bIns="25400" rtlCol="0" anchor="t">
            <a:normAutofit/>
          </a:bodyPr>
          <a:lstStyle/>
          <a:p>
            <a:pPr algn="l" indent="0" marL="0">
              <a:lnSpc>
                <a:spcPct val="142000"/>
              </a:lnSpc>
              <a:buNone/>
            </a:pPr>
            <a:r>
              <a:rPr lang="en-US" sz="1800" b="1" spc="288" kern="0" dirty="0">
                <a:solidFill>
                  <a:srgbClr val="8A8375"/>
                </a:solidFill>
                <a:latin typeface="Arial" pitchFamily="34" charset="0"/>
                <a:ea typeface="Arial" pitchFamily="34" charset="-122"/>
                <a:cs typeface="Arial" pitchFamily="34" charset="-120"/>
              </a:rPr>
              <a:t>04 · EVALUATION</a:t>
            </a:r>
            <a:endParaRPr lang="en-US" sz="1800" dirty="0"/>
          </a:p>
        </p:txBody>
      </p:sp>
      <p:sp>
        <p:nvSpPr>
          <p:cNvPr id="20" name="Text 18"/>
          <p:cNvSpPr/>
          <p:nvPr/>
        </p:nvSpPr>
        <p:spPr>
          <a:xfrm>
            <a:off x="9525000" y="7175540"/>
            <a:ext cx="7848600" cy="497919"/>
          </a:xfrm>
          <a:prstGeom prst="rect">
            <a:avLst/>
          </a:prstGeom>
          <a:noFill/>
          <a:ln/>
        </p:spPr>
        <p:txBody>
          <a:bodyPr wrap="square" lIns="25400" tIns="25400" rIns="25400" bIns="25400" rtlCol="0" anchor="t">
            <a:normAutofit/>
          </a:bodyPr>
          <a:lstStyle/>
          <a:p>
            <a:pPr algn="l" indent="0" marL="0">
              <a:lnSpc>
                <a:spcPct val="142000"/>
              </a:lnSpc>
              <a:buNone/>
            </a:pPr>
            <a:r>
              <a:rPr lang="en-US" sz="2550" dirty="0">
                <a:solidFill>
                  <a:srgbClr val="1A1A1A"/>
                </a:solidFill>
                <a:latin typeface="Arial" pitchFamily="34" charset="0"/>
                <a:ea typeface="Arial" pitchFamily="34" charset="-122"/>
                <a:cs typeface="Arial" pitchFamily="34" charset="-120"/>
              </a:rPr>
              <a:t>Tokenizer-conditioned hallucination</a:t>
            </a:r>
            <a:endParaRPr lang="en-US" sz="2550" dirty="0"/>
          </a:p>
        </p:txBody>
      </p:sp>
      <p:sp>
        <p:nvSpPr>
          <p:cNvPr id="21" name="Text 19"/>
          <p:cNvSpPr/>
          <p:nvPr/>
        </p:nvSpPr>
        <p:spPr>
          <a:xfrm>
            <a:off x="9525000" y="7730609"/>
            <a:ext cx="7848600" cy="756285"/>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8A8375"/>
                </a:solidFill>
                <a:latin typeface="Arial" pitchFamily="34" charset="0"/>
                <a:ea typeface="Arial" pitchFamily="34" charset="-122"/>
                <a:cs typeface="Arial" pitchFamily="34" charset="-120"/>
              </a:rPr>
              <a:t>Different tokenizers produce qualitatively different failure modes. Score fabrications by the merge tree that produced them.</a:t>
            </a:r>
            <a:endParaRPr lang="en-US" sz="1950" dirty="0"/>
          </a:p>
        </p:txBody>
      </p:sp>
      <p:sp>
        <p:nvSpPr>
          <p:cNvPr id="22" name="Shape 20"/>
          <p:cNvSpPr/>
          <p:nvPr/>
        </p:nvSpPr>
        <p:spPr>
          <a:xfrm>
            <a:off x="1143000" y="8905994"/>
            <a:ext cx="16002000" cy="15240"/>
          </a:xfrm>
          <a:prstGeom prst="rect">
            <a:avLst/>
          </a:prstGeom>
          <a:solidFill>
            <a:srgbClr val="1A1A1A"/>
          </a:solidFill>
          <a:ln/>
        </p:spPr>
      </p:sp>
      <p:sp>
        <p:nvSpPr>
          <p:cNvPr id="23" name="Text 21"/>
          <p:cNvSpPr/>
          <p:nvPr/>
        </p:nvSpPr>
        <p:spPr>
          <a:xfrm>
            <a:off x="1143000" y="9187934"/>
            <a:ext cx="2306122" cy="579120"/>
          </a:xfrm>
          <a:prstGeom prst="rect">
            <a:avLst/>
          </a:prstGeom>
          <a:noFill/>
          <a:ln/>
        </p:spPr>
        <p:txBody>
          <a:bodyPr wrap="square" lIns="25400" tIns="25400" rIns="25400" bIns="25400" rtlCol="0" anchor="t">
            <a:normAutofit/>
          </a:bodyPr>
          <a:lstStyle/>
          <a:p>
            <a:pPr algn="l" indent="0" marL="0">
              <a:lnSpc>
                <a:spcPct val="142000"/>
              </a:lnSpc>
              <a:buNone/>
            </a:pPr>
            <a:r>
              <a:rPr lang="en-US" sz="3000" i="1" dirty="0">
                <a:solidFill>
                  <a:srgbClr val="1A1A1A"/>
                </a:solidFill>
                <a:latin typeface="Arial" pitchFamily="34" charset="0"/>
                <a:ea typeface="Arial" pitchFamily="34" charset="-122"/>
                <a:cs typeface="Arial" pitchFamily="34" charset="-120"/>
              </a:rPr>
              <a:t>Thank you.</a:t>
            </a:r>
            <a:endParaRPr lang="en-US" sz="3000" dirty="0"/>
          </a:p>
        </p:txBody>
      </p:sp>
      <p:sp>
        <p:nvSpPr>
          <p:cNvPr id="24" name="Text 22"/>
          <p:cNvSpPr/>
          <p:nvPr/>
        </p:nvSpPr>
        <p:spPr>
          <a:xfrm>
            <a:off x="1143000" y="9805154"/>
            <a:ext cx="2306122" cy="389692"/>
          </a:xfrm>
          <a:prstGeom prst="rect">
            <a:avLst/>
          </a:prstGeom>
          <a:noFill/>
          <a:ln/>
        </p:spPr>
        <p:txBody>
          <a:bodyPr wrap="square" lIns="25400" tIns="25400" rIns="25400" bIns="25400" rtlCol="0" anchor="t">
            <a:normAutofit/>
          </a:bodyPr>
          <a:lstStyle/>
          <a:p>
            <a:pPr algn="l" indent="0" marL="0">
              <a:lnSpc>
                <a:spcPct val="142000"/>
              </a:lnSpc>
              <a:buNone/>
            </a:pPr>
            <a:r>
              <a:rPr lang="en-US" sz="1950" dirty="0">
                <a:solidFill>
                  <a:srgbClr val="8A8375"/>
                </a:solidFill>
                <a:latin typeface="Arial" pitchFamily="34" charset="0"/>
                <a:ea typeface="Arial" pitchFamily="34" charset="-122"/>
                <a:cs typeface="Arial" pitchFamily="34" charset="-120"/>
              </a:rPr>
              <a:t>Questions welcome.</a:t>
            </a:r>
            <a:endParaRPr lang="en-US" sz="1950" dirty="0"/>
          </a:p>
        </p:txBody>
      </p:sp>
      <p:sp>
        <p:nvSpPr>
          <p:cNvPr id="25" name="Text 23"/>
          <p:cNvSpPr/>
          <p:nvPr/>
        </p:nvSpPr>
        <p:spPr>
          <a:xfrm>
            <a:off x="11744182" y="9332714"/>
            <a:ext cx="5400818" cy="389692"/>
          </a:xfrm>
          <a:prstGeom prst="rect">
            <a:avLst/>
          </a:prstGeom>
          <a:noFill/>
          <a:ln/>
        </p:spPr>
        <p:txBody>
          <a:bodyPr wrap="square" lIns="25400" tIns="25400" rIns="25400" bIns="25400" rtlCol="0" anchor="t">
            <a:normAutofit/>
          </a:bodyPr>
          <a:lstStyle/>
          <a:p>
            <a:pPr algn="r" indent="0" marL="0">
              <a:lnSpc>
                <a:spcPct val="142000"/>
              </a:lnSpc>
              <a:buNone/>
            </a:pPr>
            <a:r>
              <a:rPr lang="en-US" sz="1950" dirty="0">
                <a:solidFill>
                  <a:srgbClr val="1A1A1A"/>
                </a:solidFill>
                <a:latin typeface="Arial" pitchFamily="34" charset="0"/>
                <a:ea typeface="Arial" pitchFamily="34" charset="-122"/>
                <a:cs typeface="Arial" pitchFamily="34" charset="-120"/>
              </a:rPr>
              <a:t>github.com/SamihAmer/ChatGPT-from-Scratch-</a:t>
            </a:r>
            <a:endParaRPr lang="en-US" sz="1950" dirty="0"/>
          </a:p>
        </p:txBody>
      </p:sp>
      <p:sp>
        <p:nvSpPr>
          <p:cNvPr id="26" name="Text 24"/>
          <p:cNvSpPr/>
          <p:nvPr/>
        </p:nvSpPr>
        <p:spPr>
          <a:xfrm>
            <a:off x="11744182" y="9722406"/>
            <a:ext cx="5400818" cy="389692"/>
          </a:xfrm>
          <a:prstGeom prst="rect">
            <a:avLst/>
          </a:prstGeom>
          <a:noFill/>
          <a:ln/>
        </p:spPr>
        <p:txBody>
          <a:bodyPr wrap="square" lIns="25400" tIns="25400" rIns="25400" bIns="25400" rtlCol="0" anchor="t">
            <a:normAutofit/>
          </a:bodyPr>
          <a:lstStyle/>
          <a:p>
            <a:pPr algn="r" indent="0" marL="0">
              <a:lnSpc>
                <a:spcPct val="142000"/>
              </a:lnSpc>
              <a:buNone/>
            </a:pPr>
            <a:r>
              <a:rPr lang="en-US" sz="1950" dirty="0">
                <a:solidFill>
                  <a:srgbClr val="8A8375"/>
                </a:solidFill>
                <a:latin typeface="Arial" pitchFamily="34" charset="0"/>
                <a:ea typeface="Arial" pitchFamily="34" charset="-122"/>
                <a:cs typeface="Arial" pitchFamily="34" charset="-120"/>
              </a:rPr>
              <a:t>Samih Amer · April 2026</a:t>
            </a:r>
            <a:endParaRPr lang="en-US" sz="1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2026-05-04T22:13:39Z</dcterms:created>
  <dcterms:modified xsi:type="dcterms:W3CDTF">2026-05-04T22:13:39Z</dcterms:modified>
</cp:coreProperties>
</file>