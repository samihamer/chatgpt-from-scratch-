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 I'm Samih. The title is a mouthful, but the project is simple. I took our course GPT, swapped its tokenizer for one trained on medical text, and measured what changed. Everything else — architecture, optimizer, training corpus, evaluation — held fixed. The headline finding turned out to be bigger than I expected, and not where I expected it. I'll get to that, but the short version: the size of a domain tokenizer's win scales with how distinct its training register is from general English. The in-domain medical effect that motivated the project is the small case. The big case came from a third tokenizer I added to the experiment, and it's about eighty times larger.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training happens, the tokenizer decides what vocabulary the model sees. That matters because a unit the tokenizer doesn't respect — like 'cholecystectomy' — is a unit the model has to reconstruct from pieces. A general tokenizer trained on web text shatters that word into six subword pieces. A tokenizer trained on PubMed treats it as one. The claim being tested: if you shift that workload from the model to the tokenizer, the in-domain model should get better. The interesting question is by how much, and how that 'how much' depends on the corpus the tokenizer was trained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grounding in BPE. Byte-Pair Encoding starts from a byte-level alphabet and iteratively merges the most frequent adjacent pair until it hits a target vocabulary size — ten thousand here. The training corpus decides which merges are profitable. Wikitext makes 'the', 'and', 'tion' high-utility. PubMed makes 'cellular', 'clinical', 'cholecystectomy' high-utility. Same algorithm, same vocab size — different vocabulary contents. That's the lever I'm pulling, and now I'm pulling it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experiment is minimal by design. Three runs. Same 29-million-parameter GPT — pre-LayerNorm, six layers, eight heads, d-model 512. Same optimizer, same schedule, same batch size. Same training corpus: 100,000 PubMed abstracts. Same three evaluation corpora. The only thing that varies is which of three tokenizers is used. General is trained on wikitext; medical on the PubMed training corpus; mtsamples on a corpus of 4,966 clinical transcripts — SOAP notes, operative reports, discharge summaries. All three are 10k-vocab byte-level BPEs. To distinguish real effects from seed noise, I retrained each arm under multiple seeds — five for general, five for medical, three for mtsamples — and ran paired t-tests with 95% confidence intervals.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can't compare two tokenizers with per-token perplexity. If my tokenizer packs text into fewer tokens, each token carries more information — so a per-token loss of 2 means something different for each tokenizer. The fix is bits-per-character. Take cross-entropy in nats, convert to bits with log base 2 of e, multiply by token count, divide by raw character count. Same unit on both sides. BPC is my primary metric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an unavoidable fairness wrinkle. Because each tokenizer compresses differently, one epoch is a different number of gradient updates for each model. So I report two frames. Option 1: same compute, same step count. Option 2: same text exposure, one full epoch each. For most of the comparisons today these collapse to roughly the same answer; where they don't, I'll flag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result, with no trained model at all. Compression on each eval corpus. Three tokenizers, three corpora — and the pattern is diagonal: each tokenizer wins on the corpus that matches its training register. Medical wins big on PubMed. General wins big on wikitext. Mtsamples wins biggest of all on MTSamples — 4.67 chars per token, almost 50 percent more than general's 3.20. That last bar — the mtsamples MTSamples bar — is the thing that ends up driving the headline finding. Hold on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methodological detour that almost cost me the result. I first trained both models for one epoch. General's loss plateaued around 3.2 nats; medical kept descending. I nearly wrote it up as 'general converged, medical had headroom.' Then I checked the LR schedule — cosine had collapsed to three-times-ten-to-the-minus-five at the one-epoch mark. The plateau wasn't convergence; it was the schedule bottoming out. I re-ran for two epochs with a schedule spanning the full horizon. General kept learning another half-nat. Moral: under-training can mask the effect you're studying, and a quick pilot would have given me the wrong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headline. End-of-training BPC, all three tokenizers, all three corpora, multi-seed. The diagonal-wins pattern is exact. On PubMed, medical wins by 0.010 BPC at matched text exposure — 95 percent CI [0.006, 0.013], p equals 0.002. Statistically robust, but small. On wikitext, general wins, and medical pays the largest cost — almost a full BPC. And on MTSamples, the mtsamples tokenizer wins by 0.78 BPC over general — n=3, 95 percent CI [0.73, 0.83], p equals 0.0002. That's the largest single-corpus tokenizer effect we measured. Eighty times larger than the PubMed in-domain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3-by-3 matrix of (tokenizer, corpus) BPC. Diagonals are green — each tokenizer wins on its training register. Off-diagonals show what each tokenizer pays elsewhere. Look at the magnitudes on the diagonal. PubMed: medical at 1.0499 vs general at 1.0591. Tiny gap. MTSamples: mtsamples at 2.2462 vs general at 3.0244. Three-quarters of a BPC. The size of a domain tokenizer's win is approximately a function of how distinct its training register is from general English. PubMed academic prose and wikitext are register-similar — both formal written English — so the medical-tokenizer PubMed advantage is small. Clinical dictation is genuinely lexically distinct — abbreviations, fragmented syntax, dense surgical vocabulary — so the mtsamples-tokenizer MTSamples advantage is large.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ratio. The MTSamples register-match win is 0.78 BPC. The PubMed in-domain win is 0.010 BPC, the same fairness frame. Eighty to one. This is the most important number in the report. The whole project started as 'does a medical tokenizer help on medical text?' The answer to that as originally posed is yes, by 0.010 BPC. But that number turns out to be the small case. The actual phenomenon — the thing that makes tokenizer choice matter — is register distinctness. Two formal-academic registers, even when one is medical and one isn't, look similar enough at the BPE level that the tokenizer barely moves the needle. Two genuinely distinct registers, like PubMed and clinical dictation,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second observation: the cost of being a specialist isn't constant. The mtsamples tokenizer essentially ties general on PubMed — 1.0592 versus 1.0591, a difference smaller than the seed standard deviation. It pays a moderate ~0.44 BPC cost on wikitext. The medical (PubMed-trained) tokenizer pays the largest out-of-domain cost on every corpus except its own — about 0.94 BPC on wikitext, 0.49 on MTSamples. One specialist tokenizer is portable. The other isn't. Caveat: this is a single observed contrast — one register pair, one model size — so I report it as an observation, not a generalized claim. But the pattern is suggestive.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at similar BPC the two models fail in different shapes. General invents words mid-sequence — 'cholesterolecystitis', 'udgulopathy', 'bronchiolitin stenting'. It does this because 'cholecystectomy' is six tokens for it; swap one and you get a plausible-sounding fake. Medical can fabricate too — 'laparoscopic cholecystostomyectomy' is a portmanteau of two real procedure names — but it can't do char-level drift because the whole word is one token. Different failure shapes, not just different error rates. Hallucination analysis should probably be tokenizer-conditioned. We didn't generate from the mtsamples model in this round, so this comparison is general versus medical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in order of effect size. First: register-matched tokenization can be a large effect — 0.78 BPC on MTSamples is the biggest tokenizer-driven number in the experiment. Second: the PubMed in-domain effect is real but small — 0.010 BPC, multi-seed confirmed, statistically robust, but roughly eighty times smaller than the register effect. Third: out-of-domain costs are asymmetric. The PubMed-trained tokenizer is the worst non-self performer everywhere; the MTSamples-trained tokenizer is essentially free to use on PubMed. Some specialists are portable; others 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I'd do with more compute. Top of the list: test the eighty-times ratio. Train tokenizers on more registers — legal case law, software engineering tickets, conversational dialogue — and see whether tokenizer-effect size really tracks register distance, and whether you can predict it from a lightweight lexical-distribution metric before training the model. Second: the mixed-corpus tokenizer — does balancing PubMed plus MTSamples plus general English preserve the in-domain wins while closing the costs? Third: register-aware switching at inference. Fourth: Chinchilla-scale training to see if the gap widens or collapses. And tokenizer-conditioned hallucination analysis, because these models fail differently, not just differently often. Thanks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1143000" y="533400"/>
            <a:ext cx="557177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FINAL PROJECT · GPT-FROM-SCRATCH</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01 </a:t>
            </a:r>
            <a:pPr algn="l" indent="0" marL="0">
              <a:lnSpc>
                <a:spcPct val="142000"/>
              </a:lnSpc>
              <a:buNone/>
            </a:pPr>
            <a:r>
              <a:rPr lang="en-US" sz="1800" spc="252" kern="0" dirty="0">
                <a:solidFill>
                  <a:srgbClr val="C9BFA8"/>
                </a:solidFill>
                <a:latin typeface="Arial" pitchFamily="34" charset="0"/>
                <a:ea typeface="Arial" pitchFamily="34" charset="-122"/>
                <a:cs typeface="Arial" pitchFamily="34" charset="-120"/>
              </a:rPr>
              <a:t>/ 15</a:t>
            </a:r>
            <a:endParaRPr lang="en-US" sz="1800" dirty="0"/>
          </a:p>
        </p:txBody>
      </p:sp>
      <p:sp>
        <p:nvSpPr>
          <p:cNvPr id="4" name="Text 2"/>
          <p:cNvSpPr/>
          <p:nvPr/>
        </p:nvSpPr>
        <p:spPr>
          <a:xfrm>
            <a:off x="1143000" y="1000720"/>
            <a:ext cx="1569720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A STUDY IN DOMAIN-SPECIFIC TOKENIZATION</a:t>
            </a:r>
            <a:endParaRPr lang="en-US" sz="1800" dirty="0"/>
          </a:p>
        </p:txBody>
      </p:sp>
      <p:sp>
        <p:nvSpPr>
          <p:cNvPr id="5" name="Text 3"/>
          <p:cNvSpPr/>
          <p:nvPr/>
        </p:nvSpPr>
        <p:spPr>
          <a:xfrm>
            <a:off x="1143000" y="1706285"/>
            <a:ext cx="15697200" cy="3185636"/>
          </a:xfrm>
          <a:prstGeom prst="rect">
            <a:avLst/>
          </a:prstGeom>
          <a:noFill/>
          <a:ln/>
        </p:spPr>
        <p:txBody>
          <a:bodyPr wrap="square" lIns="25400" tIns="25400" rIns="25400" bIns="25400" rtlCol="0" anchor="t">
            <a:normAutofit/>
          </a:bodyPr>
          <a:lstStyle/>
          <a:p>
            <a:pPr algn="l" indent="0" marL="0">
              <a:lnSpc>
                <a:spcPct val="102000"/>
              </a:lnSpc>
              <a:buNone/>
            </a:pPr>
            <a:r>
              <a:rPr lang="en-US" sz="8100" spc="-203" kern="0" dirty="0">
                <a:solidFill>
                  <a:srgbClr val="1A1A1A"/>
                </a:solidFill>
                <a:latin typeface="Arial" pitchFamily="34" charset="0"/>
                <a:ea typeface="Arial" pitchFamily="34" charset="-122"/>
                <a:cs typeface="Arial" pitchFamily="34" charset="-120"/>
              </a:rPr>
              <a:t>Does a domain-specific BPE tokenizer improve in-domain language modeling?</a:t>
            </a:r>
            <a:endParaRPr lang="en-US" sz="8100" dirty="0"/>
          </a:p>
        </p:txBody>
      </p:sp>
      <p:sp>
        <p:nvSpPr>
          <p:cNvPr id="6" name="Text 4"/>
          <p:cNvSpPr/>
          <p:nvPr/>
        </p:nvSpPr>
        <p:spPr>
          <a:xfrm>
            <a:off x="1143000" y="5272921"/>
            <a:ext cx="12753975" cy="1043940"/>
          </a:xfrm>
          <a:prstGeom prst="rect">
            <a:avLst/>
          </a:prstGeom>
          <a:noFill/>
          <a:ln/>
        </p:spPr>
        <p:txBody>
          <a:bodyPr wrap="square" lIns="25400" tIns="25400" rIns="25400" bIns="25400" rtlCol="0" anchor="t">
            <a:normAutofit/>
          </a:bodyPr>
          <a:lstStyle/>
          <a:p>
            <a:pPr algn="l" indent="0" marL="0">
              <a:lnSpc>
                <a:spcPct val="120000"/>
              </a:lnSpc>
              <a:buNone/>
            </a:pPr>
            <a:r>
              <a:rPr lang="en-US" sz="3300" i="1" spc="-33" kern="0" dirty="0">
                <a:solidFill>
                  <a:srgbClr val="3E3A33"/>
                </a:solidFill>
                <a:latin typeface="Arial" pitchFamily="34" charset="0"/>
                <a:ea typeface="Arial" pitchFamily="34" charset="-122"/>
                <a:cs typeface="Arial" pitchFamily="34" charset="-120"/>
              </a:rPr>
              <a:t>An evaluation on medical text — one variable, three tokenizers, three corpora.</a:t>
            </a:r>
            <a:endParaRPr lang="en-US" sz="3300" dirty="0"/>
          </a:p>
        </p:txBody>
      </p:sp>
      <p:sp>
        <p:nvSpPr>
          <p:cNvPr id="7" name="Shape 5"/>
          <p:cNvSpPr/>
          <p:nvPr/>
        </p:nvSpPr>
        <p:spPr>
          <a:xfrm>
            <a:off x="1143000" y="7307461"/>
            <a:ext cx="678180" cy="590550"/>
          </a:xfrm>
          <a:prstGeom prst="roundRect">
            <a:avLst>
              <a:gd name="adj" fmla="val 6452"/>
            </a:avLst>
          </a:prstGeom>
          <a:solidFill>
            <a:srgbClr val="E3EAF5"/>
          </a:solidFill>
          <a:ln w="7620">
            <a:solidFill>
              <a:srgbClr val="2457A8">
                <a:alpha val="30000"/>
              </a:srgbClr>
            </a:solidFill>
            <a:prstDash val="solid"/>
          </a:ln>
        </p:spPr>
      </p:sp>
      <p:sp>
        <p:nvSpPr>
          <p:cNvPr id="8" name="Text 6"/>
          <p:cNvSpPr/>
          <p:nvPr/>
        </p:nvSpPr>
        <p:spPr>
          <a:xfrm>
            <a:off x="1264920" y="7372231"/>
            <a:ext cx="510540" cy="499110"/>
          </a:xfrm>
          <a:prstGeom prst="rect">
            <a:avLst/>
          </a:prstGeom>
          <a:noFill/>
          <a:ln/>
        </p:spPr>
        <p:txBody>
          <a:bodyPr wrap="square" lIns="25400" tIns="25400" rIns="25400" bIns="25400" rtlCol="0" anchor="t">
            <a:normAutofit/>
          </a:bodyPr>
          <a:lstStyle/>
          <a:p>
            <a:pPr algn="l" indent="0" marL="0">
              <a:lnSpc>
                <a:spcPct val="110000"/>
              </a:lnSpc>
              <a:buNone/>
            </a:pPr>
            <a:r>
              <a:rPr lang="en-US" sz="3300" spc="-33" kern="0" dirty="0">
                <a:solidFill>
                  <a:srgbClr val="173876"/>
                </a:solidFill>
                <a:latin typeface="Arial" pitchFamily="34" charset="0"/>
                <a:ea typeface="Arial" pitchFamily="34" charset="-122"/>
                <a:cs typeface="Arial" pitchFamily="34" charset="-120"/>
              </a:rPr>
              <a:t>ch</a:t>
            </a:r>
            <a:endParaRPr lang="en-US" sz="3300" dirty="0"/>
          </a:p>
        </p:txBody>
      </p:sp>
      <p:sp>
        <p:nvSpPr>
          <p:cNvPr id="9" name="Text 7"/>
          <p:cNvSpPr/>
          <p:nvPr/>
        </p:nvSpPr>
        <p:spPr>
          <a:xfrm>
            <a:off x="1897380" y="7440811"/>
            <a:ext cx="148233" cy="454581"/>
          </a:xfrm>
          <a:prstGeom prst="rect">
            <a:avLst/>
          </a:prstGeom>
          <a:noFill/>
          <a:ln/>
        </p:spPr>
        <p:txBody>
          <a:bodyPr wrap="square" lIns="25400" tIns="25400" rIns="25400" bIns="25400" rtlCol="0" anchor="t">
            <a:normAutofit/>
          </a:bodyPr>
          <a:lstStyle/>
          <a:p>
            <a:pPr algn="l" indent="0" marL="0">
              <a:lnSpc>
                <a:spcPct val="142000"/>
              </a:lnSpc>
              <a:buNone/>
            </a:pPr>
            <a:r>
              <a:rPr lang="en-US" sz="2310" spc="-33" kern="0" dirty="0">
                <a:solidFill>
                  <a:srgbClr val="8A8375"/>
                </a:solidFill>
                <a:latin typeface="Arial" pitchFamily="34" charset="0"/>
                <a:ea typeface="Arial" pitchFamily="34" charset="-122"/>
                <a:cs typeface="Arial" pitchFamily="34" charset="-120"/>
              </a:rPr>
              <a:t>|</a:t>
            </a:r>
            <a:endParaRPr lang="en-US" sz="2310" dirty="0"/>
          </a:p>
        </p:txBody>
      </p:sp>
      <p:sp>
        <p:nvSpPr>
          <p:cNvPr id="10" name="Shape 8"/>
          <p:cNvSpPr/>
          <p:nvPr/>
        </p:nvSpPr>
        <p:spPr>
          <a:xfrm>
            <a:off x="2045613" y="7307461"/>
            <a:ext cx="790575" cy="590550"/>
          </a:xfrm>
          <a:prstGeom prst="roundRect">
            <a:avLst>
              <a:gd name="adj" fmla="val 6452"/>
            </a:avLst>
          </a:prstGeom>
          <a:solidFill>
            <a:srgbClr val="E3EAF5"/>
          </a:solidFill>
          <a:ln w="7620">
            <a:solidFill>
              <a:srgbClr val="2457A8">
                <a:alpha val="30000"/>
              </a:srgbClr>
            </a:solidFill>
            <a:prstDash val="solid"/>
          </a:ln>
        </p:spPr>
      </p:sp>
      <p:sp>
        <p:nvSpPr>
          <p:cNvPr id="11" name="Text 9"/>
          <p:cNvSpPr/>
          <p:nvPr/>
        </p:nvSpPr>
        <p:spPr>
          <a:xfrm>
            <a:off x="2167533" y="7372231"/>
            <a:ext cx="622935" cy="499110"/>
          </a:xfrm>
          <a:prstGeom prst="rect">
            <a:avLst/>
          </a:prstGeom>
          <a:noFill/>
          <a:ln/>
        </p:spPr>
        <p:txBody>
          <a:bodyPr wrap="square" lIns="25400" tIns="25400" rIns="25400" bIns="25400" rtlCol="0" anchor="t">
            <a:normAutofit/>
          </a:bodyPr>
          <a:lstStyle/>
          <a:p>
            <a:pPr algn="l" indent="0" marL="0">
              <a:lnSpc>
                <a:spcPct val="110000"/>
              </a:lnSpc>
              <a:buNone/>
            </a:pPr>
            <a:r>
              <a:rPr lang="en-US" sz="3300" spc="-33" kern="0" dirty="0">
                <a:solidFill>
                  <a:srgbClr val="173876"/>
                </a:solidFill>
                <a:latin typeface="Arial" pitchFamily="34" charset="0"/>
                <a:ea typeface="Arial" pitchFamily="34" charset="-122"/>
                <a:cs typeface="Arial" pitchFamily="34" charset="-120"/>
              </a:rPr>
              <a:t>ole</a:t>
            </a:r>
            <a:endParaRPr lang="en-US" sz="3300" dirty="0"/>
          </a:p>
        </p:txBody>
      </p:sp>
      <p:sp>
        <p:nvSpPr>
          <p:cNvPr id="12" name="Text 10"/>
          <p:cNvSpPr/>
          <p:nvPr/>
        </p:nvSpPr>
        <p:spPr>
          <a:xfrm>
            <a:off x="2912388" y="7440811"/>
            <a:ext cx="148233" cy="454581"/>
          </a:xfrm>
          <a:prstGeom prst="rect">
            <a:avLst/>
          </a:prstGeom>
          <a:noFill/>
          <a:ln/>
        </p:spPr>
        <p:txBody>
          <a:bodyPr wrap="square" lIns="25400" tIns="25400" rIns="25400" bIns="25400" rtlCol="0" anchor="t">
            <a:normAutofit/>
          </a:bodyPr>
          <a:lstStyle/>
          <a:p>
            <a:pPr algn="l" indent="0" marL="0">
              <a:lnSpc>
                <a:spcPct val="142000"/>
              </a:lnSpc>
              <a:buNone/>
            </a:pPr>
            <a:r>
              <a:rPr lang="en-US" sz="2310" spc="-33" kern="0" dirty="0">
                <a:solidFill>
                  <a:srgbClr val="8A8375"/>
                </a:solidFill>
                <a:latin typeface="Arial" pitchFamily="34" charset="0"/>
                <a:ea typeface="Arial" pitchFamily="34" charset="-122"/>
                <a:cs typeface="Arial" pitchFamily="34" charset="-120"/>
              </a:rPr>
              <a:t>|</a:t>
            </a:r>
            <a:endParaRPr lang="en-US" sz="2310" dirty="0"/>
          </a:p>
        </p:txBody>
      </p:sp>
      <p:sp>
        <p:nvSpPr>
          <p:cNvPr id="13" name="Shape 11"/>
          <p:cNvSpPr/>
          <p:nvPr/>
        </p:nvSpPr>
        <p:spPr>
          <a:xfrm>
            <a:off x="3060621" y="7307461"/>
            <a:ext cx="654606" cy="590550"/>
          </a:xfrm>
          <a:prstGeom prst="roundRect">
            <a:avLst>
              <a:gd name="adj" fmla="val 6452"/>
            </a:avLst>
          </a:prstGeom>
          <a:solidFill>
            <a:srgbClr val="E3EAF5"/>
          </a:solidFill>
          <a:ln w="7620">
            <a:solidFill>
              <a:srgbClr val="2457A8">
                <a:alpha val="30000"/>
              </a:srgbClr>
            </a:solidFill>
            <a:prstDash val="solid"/>
          </a:ln>
        </p:spPr>
      </p:sp>
      <p:sp>
        <p:nvSpPr>
          <p:cNvPr id="14" name="Text 12"/>
          <p:cNvSpPr/>
          <p:nvPr/>
        </p:nvSpPr>
        <p:spPr>
          <a:xfrm>
            <a:off x="3182541" y="7372231"/>
            <a:ext cx="486966" cy="499110"/>
          </a:xfrm>
          <a:prstGeom prst="rect">
            <a:avLst/>
          </a:prstGeom>
          <a:noFill/>
          <a:ln/>
        </p:spPr>
        <p:txBody>
          <a:bodyPr wrap="square" lIns="25400" tIns="25400" rIns="25400" bIns="25400" rtlCol="0" anchor="t">
            <a:normAutofit/>
          </a:bodyPr>
          <a:lstStyle/>
          <a:p>
            <a:pPr algn="l" indent="0" marL="0">
              <a:lnSpc>
                <a:spcPct val="110000"/>
              </a:lnSpc>
              <a:buNone/>
            </a:pPr>
            <a:r>
              <a:rPr lang="en-US" sz="3300" spc="-33" kern="0" dirty="0">
                <a:solidFill>
                  <a:srgbClr val="173876"/>
                </a:solidFill>
                <a:latin typeface="Arial" pitchFamily="34" charset="0"/>
                <a:ea typeface="Arial" pitchFamily="34" charset="-122"/>
                <a:cs typeface="Arial" pitchFamily="34" charset="-120"/>
              </a:rPr>
              <a:t>cy</a:t>
            </a:r>
            <a:endParaRPr lang="en-US" sz="3300" dirty="0"/>
          </a:p>
        </p:txBody>
      </p:sp>
      <p:sp>
        <p:nvSpPr>
          <p:cNvPr id="15" name="Text 13"/>
          <p:cNvSpPr/>
          <p:nvPr/>
        </p:nvSpPr>
        <p:spPr>
          <a:xfrm>
            <a:off x="3791426" y="7440811"/>
            <a:ext cx="148233" cy="454581"/>
          </a:xfrm>
          <a:prstGeom prst="rect">
            <a:avLst/>
          </a:prstGeom>
          <a:noFill/>
          <a:ln/>
        </p:spPr>
        <p:txBody>
          <a:bodyPr wrap="square" lIns="25400" tIns="25400" rIns="25400" bIns="25400" rtlCol="0" anchor="t">
            <a:normAutofit/>
          </a:bodyPr>
          <a:lstStyle/>
          <a:p>
            <a:pPr algn="l" indent="0" marL="0">
              <a:lnSpc>
                <a:spcPct val="142000"/>
              </a:lnSpc>
              <a:buNone/>
            </a:pPr>
            <a:r>
              <a:rPr lang="en-US" sz="2310" spc="-33" kern="0" dirty="0">
                <a:solidFill>
                  <a:srgbClr val="8A8375"/>
                </a:solidFill>
                <a:latin typeface="Arial" pitchFamily="34" charset="0"/>
                <a:ea typeface="Arial" pitchFamily="34" charset="-122"/>
                <a:cs typeface="Arial" pitchFamily="34" charset="-120"/>
              </a:rPr>
              <a:t>|</a:t>
            </a:r>
            <a:endParaRPr lang="en-US" sz="2310" dirty="0"/>
          </a:p>
        </p:txBody>
      </p:sp>
      <p:sp>
        <p:nvSpPr>
          <p:cNvPr id="16" name="Shape 14"/>
          <p:cNvSpPr/>
          <p:nvPr/>
        </p:nvSpPr>
        <p:spPr>
          <a:xfrm>
            <a:off x="3939659" y="7307461"/>
            <a:ext cx="561499" cy="590550"/>
          </a:xfrm>
          <a:prstGeom prst="roundRect">
            <a:avLst>
              <a:gd name="adj" fmla="val 6785"/>
            </a:avLst>
          </a:prstGeom>
          <a:solidFill>
            <a:srgbClr val="E3EAF5"/>
          </a:solidFill>
          <a:ln w="7620">
            <a:solidFill>
              <a:srgbClr val="2457A8">
                <a:alpha val="30000"/>
              </a:srgbClr>
            </a:solidFill>
            <a:prstDash val="solid"/>
          </a:ln>
        </p:spPr>
      </p:sp>
      <p:sp>
        <p:nvSpPr>
          <p:cNvPr id="17" name="Text 15"/>
          <p:cNvSpPr/>
          <p:nvPr/>
        </p:nvSpPr>
        <p:spPr>
          <a:xfrm>
            <a:off x="4061579" y="7372231"/>
            <a:ext cx="393859" cy="499110"/>
          </a:xfrm>
          <a:prstGeom prst="rect">
            <a:avLst/>
          </a:prstGeom>
          <a:noFill/>
          <a:ln/>
        </p:spPr>
        <p:txBody>
          <a:bodyPr wrap="square" lIns="25400" tIns="25400" rIns="25400" bIns="25400" rtlCol="0" anchor="t">
            <a:normAutofit/>
          </a:bodyPr>
          <a:lstStyle/>
          <a:p>
            <a:pPr algn="l" indent="0" marL="0">
              <a:lnSpc>
                <a:spcPct val="110000"/>
              </a:lnSpc>
              <a:buNone/>
            </a:pPr>
            <a:r>
              <a:rPr lang="en-US" sz="3300" spc="-33" kern="0" dirty="0">
                <a:solidFill>
                  <a:srgbClr val="173876"/>
                </a:solidFill>
                <a:latin typeface="Arial" pitchFamily="34" charset="0"/>
                <a:ea typeface="Arial" pitchFamily="34" charset="-122"/>
                <a:cs typeface="Arial" pitchFamily="34" charset="-120"/>
              </a:rPr>
              <a:t>st</a:t>
            </a:r>
            <a:endParaRPr lang="en-US" sz="3300" dirty="0"/>
          </a:p>
        </p:txBody>
      </p:sp>
      <p:sp>
        <p:nvSpPr>
          <p:cNvPr id="18" name="Text 16"/>
          <p:cNvSpPr/>
          <p:nvPr/>
        </p:nvSpPr>
        <p:spPr>
          <a:xfrm>
            <a:off x="4577358" y="7440811"/>
            <a:ext cx="148233" cy="454581"/>
          </a:xfrm>
          <a:prstGeom prst="rect">
            <a:avLst/>
          </a:prstGeom>
          <a:noFill/>
          <a:ln/>
        </p:spPr>
        <p:txBody>
          <a:bodyPr wrap="square" lIns="25400" tIns="25400" rIns="25400" bIns="25400" rtlCol="0" anchor="t">
            <a:normAutofit/>
          </a:bodyPr>
          <a:lstStyle/>
          <a:p>
            <a:pPr algn="l" indent="0" marL="0">
              <a:lnSpc>
                <a:spcPct val="142000"/>
              </a:lnSpc>
              <a:buNone/>
            </a:pPr>
            <a:r>
              <a:rPr lang="en-US" sz="2310" spc="-33" kern="0" dirty="0">
                <a:solidFill>
                  <a:srgbClr val="8A8375"/>
                </a:solidFill>
                <a:latin typeface="Arial" pitchFamily="34" charset="0"/>
                <a:ea typeface="Arial" pitchFamily="34" charset="-122"/>
                <a:cs typeface="Arial" pitchFamily="34" charset="-120"/>
              </a:rPr>
              <a:t>|</a:t>
            </a:r>
            <a:endParaRPr lang="en-US" sz="2310" dirty="0"/>
          </a:p>
        </p:txBody>
      </p:sp>
      <p:sp>
        <p:nvSpPr>
          <p:cNvPr id="19" name="Shape 17"/>
          <p:cNvSpPr/>
          <p:nvPr/>
        </p:nvSpPr>
        <p:spPr>
          <a:xfrm>
            <a:off x="4725591" y="7307461"/>
            <a:ext cx="790456" cy="590550"/>
          </a:xfrm>
          <a:prstGeom prst="roundRect">
            <a:avLst>
              <a:gd name="adj" fmla="val 6452"/>
            </a:avLst>
          </a:prstGeom>
          <a:solidFill>
            <a:srgbClr val="E3EAF5"/>
          </a:solidFill>
          <a:ln w="7620">
            <a:solidFill>
              <a:srgbClr val="2457A8">
                <a:alpha val="30000"/>
              </a:srgbClr>
            </a:solidFill>
            <a:prstDash val="solid"/>
          </a:ln>
        </p:spPr>
      </p:sp>
      <p:sp>
        <p:nvSpPr>
          <p:cNvPr id="20" name="Text 18"/>
          <p:cNvSpPr/>
          <p:nvPr/>
        </p:nvSpPr>
        <p:spPr>
          <a:xfrm>
            <a:off x="4847511" y="7372231"/>
            <a:ext cx="622816" cy="499110"/>
          </a:xfrm>
          <a:prstGeom prst="rect">
            <a:avLst/>
          </a:prstGeom>
          <a:noFill/>
          <a:ln/>
        </p:spPr>
        <p:txBody>
          <a:bodyPr wrap="square" lIns="25400" tIns="25400" rIns="25400" bIns="25400" rtlCol="0" anchor="t">
            <a:normAutofit/>
          </a:bodyPr>
          <a:lstStyle/>
          <a:p>
            <a:pPr algn="l" indent="0" marL="0">
              <a:lnSpc>
                <a:spcPct val="110000"/>
              </a:lnSpc>
              <a:buNone/>
            </a:pPr>
            <a:r>
              <a:rPr lang="en-US" sz="3300" spc="-33" kern="0" dirty="0">
                <a:solidFill>
                  <a:srgbClr val="173876"/>
                </a:solidFill>
                <a:latin typeface="Arial" pitchFamily="34" charset="0"/>
                <a:ea typeface="Arial" pitchFamily="34" charset="-122"/>
                <a:cs typeface="Arial" pitchFamily="34" charset="-120"/>
              </a:rPr>
              <a:t>ect</a:t>
            </a:r>
            <a:endParaRPr lang="en-US" sz="3300" dirty="0"/>
          </a:p>
        </p:txBody>
      </p:sp>
      <p:sp>
        <p:nvSpPr>
          <p:cNvPr id="21" name="Text 19"/>
          <p:cNvSpPr/>
          <p:nvPr/>
        </p:nvSpPr>
        <p:spPr>
          <a:xfrm>
            <a:off x="5592246" y="7440811"/>
            <a:ext cx="148233" cy="454581"/>
          </a:xfrm>
          <a:prstGeom prst="rect">
            <a:avLst/>
          </a:prstGeom>
          <a:noFill/>
          <a:ln/>
        </p:spPr>
        <p:txBody>
          <a:bodyPr wrap="square" lIns="25400" tIns="25400" rIns="25400" bIns="25400" rtlCol="0" anchor="t">
            <a:normAutofit/>
          </a:bodyPr>
          <a:lstStyle/>
          <a:p>
            <a:pPr algn="l" indent="0" marL="0">
              <a:lnSpc>
                <a:spcPct val="142000"/>
              </a:lnSpc>
              <a:buNone/>
            </a:pPr>
            <a:r>
              <a:rPr lang="en-US" sz="2310" spc="-33" kern="0" dirty="0">
                <a:solidFill>
                  <a:srgbClr val="8A8375"/>
                </a:solidFill>
                <a:latin typeface="Arial" pitchFamily="34" charset="0"/>
                <a:ea typeface="Arial" pitchFamily="34" charset="-122"/>
                <a:cs typeface="Arial" pitchFamily="34" charset="-120"/>
              </a:rPr>
              <a:t>|</a:t>
            </a:r>
            <a:endParaRPr lang="en-US" sz="2310" dirty="0"/>
          </a:p>
        </p:txBody>
      </p:sp>
      <p:sp>
        <p:nvSpPr>
          <p:cNvPr id="22" name="Shape 20"/>
          <p:cNvSpPr/>
          <p:nvPr/>
        </p:nvSpPr>
        <p:spPr>
          <a:xfrm>
            <a:off x="5740479" y="7307461"/>
            <a:ext cx="1023104" cy="590550"/>
          </a:xfrm>
          <a:prstGeom prst="roundRect">
            <a:avLst>
              <a:gd name="adj" fmla="val 6452"/>
            </a:avLst>
          </a:prstGeom>
          <a:solidFill>
            <a:srgbClr val="E3EAF5"/>
          </a:solidFill>
          <a:ln w="7620">
            <a:solidFill>
              <a:srgbClr val="2457A8">
                <a:alpha val="30000"/>
              </a:srgbClr>
            </a:solidFill>
            <a:prstDash val="solid"/>
          </a:ln>
        </p:spPr>
      </p:sp>
      <p:sp>
        <p:nvSpPr>
          <p:cNvPr id="23" name="Text 21"/>
          <p:cNvSpPr/>
          <p:nvPr/>
        </p:nvSpPr>
        <p:spPr>
          <a:xfrm>
            <a:off x="5862399" y="7372231"/>
            <a:ext cx="855464" cy="499110"/>
          </a:xfrm>
          <a:prstGeom prst="rect">
            <a:avLst/>
          </a:prstGeom>
          <a:noFill/>
          <a:ln/>
        </p:spPr>
        <p:txBody>
          <a:bodyPr wrap="square" lIns="25400" tIns="25400" rIns="25400" bIns="25400" rtlCol="0" anchor="t">
            <a:normAutofit/>
          </a:bodyPr>
          <a:lstStyle/>
          <a:p>
            <a:pPr algn="l" indent="0" marL="0">
              <a:lnSpc>
                <a:spcPct val="110000"/>
              </a:lnSpc>
              <a:buNone/>
            </a:pPr>
            <a:r>
              <a:rPr lang="en-US" sz="3300" spc="-33" kern="0" dirty="0">
                <a:solidFill>
                  <a:srgbClr val="173876"/>
                </a:solidFill>
                <a:latin typeface="Arial" pitchFamily="34" charset="0"/>
                <a:ea typeface="Arial" pitchFamily="34" charset="-122"/>
                <a:cs typeface="Arial" pitchFamily="34" charset="-120"/>
              </a:rPr>
              <a:t>omy</a:t>
            </a:r>
            <a:endParaRPr lang="en-US" sz="3300" dirty="0"/>
          </a:p>
        </p:txBody>
      </p:sp>
      <p:sp>
        <p:nvSpPr>
          <p:cNvPr id="24" name="Text 22"/>
          <p:cNvSpPr/>
          <p:nvPr/>
        </p:nvSpPr>
        <p:spPr>
          <a:xfrm>
            <a:off x="1219200" y="8107561"/>
            <a:ext cx="371832" cy="416719"/>
          </a:xfrm>
          <a:prstGeom prst="rect">
            <a:avLst/>
          </a:prstGeom>
          <a:noFill/>
          <a:ln/>
        </p:spPr>
        <p:txBody>
          <a:bodyPr wrap="square" lIns="25400" tIns="25400" rIns="25400" bIns="25400" rtlCol="0" anchor="t">
            <a:normAutofit/>
          </a:bodyPr>
          <a:lstStyle/>
          <a:p>
            <a:pPr algn="l" indent="0" marL="0">
              <a:lnSpc>
                <a:spcPct val="142000"/>
              </a:lnSpc>
              <a:buNone/>
            </a:pPr>
            <a:r>
              <a:rPr lang="en-US" sz="2100" i="1" dirty="0">
                <a:solidFill>
                  <a:srgbClr val="8A8375"/>
                </a:solidFill>
                <a:latin typeface="Arial" pitchFamily="34" charset="0"/>
                <a:ea typeface="Arial" pitchFamily="34" charset="-122"/>
                <a:cs typeface="Arial" pitchFamily="34" charset="-120"/>
              </a:rPr>
              <a:t>vs.</a:t>
            </a:r>
            <a:endParaRPr lang="en-US" sz="2100" dirty="0"/>
          </a:p>
        </p:txBody>
      </p:sp>
      <p:sp>
        <p:nvSpPr>
          <p:cNvPr id="25" name="Shape 23"/>
          <p:cNvSpPr/>
          <p:nvPr/>
        </p:nvSpPr>
        <p:spPr>
          <a:xfrm>
            <a:off x="1143000" y="8695730"/>
            <a:ext cx="3278862" cy="590550"/>
          </a:xfrm>
          <a:prstGeom prst="roundRect">
            <a:avLst>
              <a:gd name="adj" fmla="val 6452"/>
            </a:avLst>
          </a:prstGeom>
          <a:solidFill>
            <a:srgbClr val="F3DFD7"/>
          </a:solidFill>
          <a:ln w="7620">
            <a:solidFill>
              <a:srgbClr val="B6351D">
                <a:alpha val="30000"/>
              </a:srgbClr>
            </a:solidFill>
            <a:prstDash val="solid"/>
          </a:ln>
        </p:spPr>
      </p:sp>
      <p:sp>
        <p:nvSpPr>
          <p:cNvPr id="26" name="Text 24"/>
          <p:cNvSpPr/>
          <p:nvPr/>
        </p:nvSpPr>
        <p:spPr>
          <a:xfrm>
            <a:off x="1264920" y="8760500"/>
            <a:ext cx="3133388" cy="499110"/>
          </a:xfrm>
          <a:prstGeom prst="rect">
            <a:avLst/>
          </a:prstGeom>
          <a:noFill/>
          <a:ln/>
        </p:spPr>
        <p:txBody>
          <a:bodyPr wrap="square" lIns="25400" tIns="25400" rIns="25400" bIns="25400" rtlCol="0" anchor="t">
            <a:normAutofit/>
          </a:bodyPr>
          <a:lstStyle/>
          <a:p>
            <a:pPr algn="l" indent="0" marL="0">
              <a:lnSpc>
                <a:spcPct val="110000"/>
              </a:lnSpc>
              <a:buNone/>
            </a:pPr>
            <a:r>
              <a:rPr lang="en-US" sz="3300" spc="-33" kern="0" dirty="0">
                <a:solidFill>
                  <a:srgbClr val="7A2212"/>
                </a:solidFill>
                <a:latin typeface="Arial" pitchFamily="34" charset="0"/>
                <a:ea typeface="Arial" pitchFamily="34" charset="-122"/>
                <a:cs typeface="Arial" pitchFamily="34" charset="-120"/>
              </a:rPr>
              <a:t>cholecystectomy</a:t>
            </a:r>
            <a:endParaRPr lang="en-US" sz="3300" dirty="0"/>
          </a:p>
        </p:txBody>
      </p:sp>
      <p:sp>
        <p:nvSpPr>
          <p:cNvPr id="27" name="Text 25"/>
          <p:cNvSpPr/>
          <p:nvPr/>
        </p:nvSpPr>
        <p:spPr>
          <a:xfrm>
            <a:off x="1143000" y="9421416"/>
            <a:ext cx="3503787" cy="370284"/>
          </a:xfrm>
          <a:prstGeom prst="rect">
            <a:avLst/>
          </a:prstGeom>
          <a:noFill/>
          <a:ln/>
        </p:spPr>
        <p:txBody>
          <a:bodyPr wrap="square" lIns="25400" tIns="25400" rIns="25400" bIns="25400" rtlCol="0" anchor="t">
            <a:normAutofit/>
          </a:bodyPr>
          <a:lstStyle/>
          <a:p>
            <a:pPr algn="l" indent="0" marL="0">
              <a:lnSpc>
                <a:spcPct val="142000"/>
              </a:lnSpc>
              <a:buNone/>
            </a:pPr>
            <a:r>
              <a:rPr lang="en-US" sz="1800" b="1" spc="36" kern="0" dirty="0">
                <a:solidFill>
                  <a:srgbClr val="1A1A1A"/>
                </a:solidFill>
                <a:latin typeface="Arial" pitchFamily="34" charset="0"/>
                <a:ea typeface="Arial" pitchFamily="34" charset="-122"/>
                <a:cs typeface="Arial" pitchFamily="34" charset="-120"/>
              </a:rPr>
              <a:t>Samih Amer </a:t>
            </a:r>
            <a:pPr algn="l" indent="0" marL="0">
              <a:lnSpc>
                <a:spcPct val="142000"/>
              </a:lnSpc>
              <a:buNone/>
            </a:pPr>
            <a:r>
              <a:rPr lang="en-US" sz="1800" spc="36" kern="0" dirty="0">
                <a:solidFill>
                  <a:srgbClr val="8A8375"/>
                </a:solidFill>
                <a:latin typeface="Arial" pitchFamily="34" charset="0"/>
                <a:ea typeface="Arial" pitchFamily="34" charset="-122"/>
                <a:cs typeface="Arial" pitchFamily="34" charset="-120"/>
              </a:rPr>
              <a:t>· Individual project</a:t>
            </a:r>
            <a:endParaRPr lang="en-US" sz="1800" dirty="0"/>
          </a:p>
        </p:txBody>
      </p:sp>
      <p:sp>
        <p:nvSpPr>
          <p:cNvPr id="28" name="Text 26"/>
          <p:cNvSpPr/>
          <p:nvPr/>
        </p:nvSpPr>
        <p:spPr>
          <a:xfrm>
            <a:off x="16104394" y="9429036"/>
            <a:ext cx="1116806"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36" kern="0" dirty="0">
                <a:solidFill>
                  <a:srgbClr val="8A8375"/>
                </a:solidFill>
                <a:latin typeface="Arial" pitchFamily="34" charset="0"/>
                <a:ea typeface="Arial" pitchFamily="34" charset="-122"/>
                <a:cs typeface="Arial" pitchFamily="34" charset="-120"/>
              </a:rPr>
              <a:t>May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1143000" y="533400"/>
            <a:ext cx="2682872"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 01 · MOTIVATION</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02 </a:t>
            </a:r>
            <a:pPr algn="l" indent="0" marL="0">
              <a:lnSpc>
                <a:spcPct val="142000"/>
              </a:lnSpc>
              <a:buNone/>
            </a:pPr>
            <a:r>
              <a:rPr lang="en-US" sz="1800" spc="252" kern="0" dirty="0">
                <a:solidFill>
                  <a:srgbClr val="C9BFA8"/>
                </a:solidFill>
                <a:latin typeface="Arial" pitchFamily="34" charset="0"/>
                <a:ea typeface="Arial" pitchFamily="34" charset="-122"/>
                <a:cs typeface="Arial" pitchFamily="34" charset="-120"/>
              </a:rPr>
              <a:t>/ 15</a:t>
            </a:r>
            <a:endParaRPr lang="en-US" sz="1800" dirty="0"/>
          </a:p>
        </p:txBody>
      </p:sp>
      <p:sp>
        <p:nvSpPr>
          <p:cNvPr id="4" name="Shape 2"/>
          <p:cNvSpPr/>
          <p:nvPr/>
        </p:nvSpPr>
        <p:spPr>
          <a:xfrm>
            <a:off x="1143000" y="2286000"/>
            <a:ext cx="914400" cy="9525"/>
          </a:xfrm>
          <a:prstGeom prst="rect">
            <a:avLst/>
          </a:prstGeom>
          <a:solidFill>
            <a:srgbClr val="C9BFA8"/>
          </a:solidFill>
          <a:ln/>
        </p:spPr>
      </p:sp>
      <p:sp>
        <p:nvSpPr>
          <p:cNvPr id="5" name="Text 3"/>
          <p:cNvSpPr/>
          <p:nvPr/>
        </p:nvSpPr>
        <p:spPr>
          <a:xfrm>
            <a:off x="1143000" y="2674620"/>
            <a:ext cx="14716125" cy="696397"/>
          </a:xfrm>
          <a:prstGeom prst="rect">
            <a:avLst/>
          </a:prstGeom>
          <a:noFill/>
          <a:ln/>
        </p:spPr>
        <p:txBody>
          <a:bodyPr wrap="square" lIns="25400" tIns="25400" rIns="25400" bIns="25400" rtlCol="0" anchor="t">
            <a:normAutofit/>
          </a:bodyPr>
          <a:lstStyle/>
          <a:p>
            <a:pPr algn="l" indent="0" marL="0">
              <a:lnSpc>
                <a:spcPct val="108000"/>
              </a:lnSpc>
              <a:buNone/>
            </a:pPr>
            <a:r>
              <a:rPr lang="en-US" sz="4800" spc="-72" kern="0" dirty="0">
                <a:solidFill>
                  <a:srgbClr val="1A1A1A"/>
                </a:solidFill>
                <a:latin typeface="Arial" pitchFamily="34" charset="0"/>
                <a:ea typeface="Arial" pitchFamily="34" charset="-122"/>
                <a:cs typeface="Arial" pitchFamily="34" charset="-120"/>
              </a:rPr>
              <a:t>The tokenizer constrains what the model can learn.</a:t>
            </a:r>
            <a:endParaRPr lang="en-US" sz="4800" dirty="0"/>
          </a:p>
        </p:txBody>
      </p:sp>
      <p:sp>
        <p:nvSpPr>
          <p:cNvPr id="6" name="Text 4"/>
          <p:cNvSpPr/>
          <p:nvPr/>
        </p:nvSpPr>
        <p:spPr>
          <a:xfrm>
            <a:off x="1143000" y="3790117"/>
            <a:ext cx="14716125" cy="501015"/>
          </a:xfrm>
          <a:prstGeom prst="rect">
            <a:avLst/>
          </a:prstGeom>
          <a:noFill/>
          <a:ln/>
        </p:spPr>
        <p:txBody>
          <a:bodyPr wrap="square" lIns="25400" tIns="25400" rIns="25400" bIns="25400" rtlCol="0" anchor="t">
            <a:normAutofit/>
          </a:bodyPr>
          <a:lstStyle/>
          <a:p>
            <a:pPr algn="l" indent="0" marL="0">
              <a:lnSpc>
                <a:spcPct val="135000"/>
              </a:lnSpc>
              <a:buNone/>
            </a:pPr>
            <a:r>
              <a:rPr lang="en-US" sz="2700" dirty="0">
                <a:solidFill>
                  <a:srgbClr val="3E3A33"/>
                </a:solidFill>
                <a:latin typeface="Arial" pitchFamily="34" charset="0"/>
                <a:ea typeface="Arial" pitchFamily="34" charset="-122"/>
                <a:cs typeface="Arial" pitchFamily="34" charset="-120"/>
              </a:rPr>
              <a:t>A unit the tokenizer doesn't respect is a unit the model has to reconstruct from pieces.</a:t>
            </a:r>
            <a:endParaRPr lang="en-US" sz="2700" dirty="0"/>
          </a:p>
        </p:txBody>
      </p:sp>
      <p:sp>
        <p:nvSpPr>
          <p:cNvPr id="7" name="Text 5"/>
          <p:cNvSpPr/>
          <p:nvPr/>
        </p:nvSpPr>
        <p:spPr>
          <a:xfrm>
            <a:off x="1143000" y="5281732"/>
            <a:ext cx="7887843"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GENERAL BPE · WIKITEXT</a:t>
            </a:r>
            <a:endParaRPr lang="en-US" sz="1800" dirty="0"/>
          </a:p>
        </p:txBody>
      </p:sp>
      <p:sp>
        <p:nvSpPr>
          <p:cNvPr id="8" name="Shape 6"/>
          <p:cNvSpPr/>
          <p:nvPr/>
        </p:nvSpPr>
        <p:spPr>
          <a:xfrm>
            <a:off x="1143000" y="5907286"/>
            <a:ext cx="767001" cy="674370"/>
          </a:xfrm>
          <a:prstGeom prst="roundRect">
            <a:avLst>
              <a:gd name="adj" fmla="val 5650"/>
            </a:avLst>
          </a:prstGeom>
          <a:solidFill>
            <a:srgbClr val="E3EAF5"/>
          </a:solidFill>
          <a:ln w="7620">
            <a:solidFill>
              <a:srgbClr val="2457A8">
                <a:alpha val="30000"/>
              </a:srgbClr>
            </a:solidFill>
            <a:prstDash val="solid"/>
          </a:ln>
        </p:spPr>
      </p:sp>
      <p:sp>
        <p:nvSpPr>
          <p:cNvPr id="9" name="Text 7"/>
          <p:cNvSpPr/>
          <p:nvPr/>
        </p:nvSpPr>
        <p:spPr>
          <a:xfrm>
            <a:off x="1264920" y="5972056"/>
            <a:ext cx="599361" cy="582930"/>
          </a:xfrm>
          <a:prstGeom prst="rect">
            <a:avLst/>
          </a:prstGeom>
          <a:noFill/>
          <a:ln/>
        </p:spPr>
        <p:txBody>
          <a:bodyPr wrap="square" lIns="25400" tIns="25400" rIns="25400" bIns="25400" rtlCol="0" anchor="t">
            <a:normAutofit/>
          </a:bodyPr>
          <a:lstStyle/>
          <a:p>
            <a:pPr algn="l" indent="0" marL="0">
              <a:lnSpc>
                <a:spcPct val="110000"/>
              </a:lnSpc>
              <a:buNone/>
            </a:pPr>
            <a:r>
              <a:rPr lang="en-US" sz="3900" dirty="0">
                <a:solidFill>
                  <a:srgbClr val="173876"/>
                </a:solidFill>
                <a:latin typeface="Arial" pitchFamily="34" charset="0"/>
                <a:ea typeface="Arial" pitchFamily="34" charset="-122"/>
                <a:cs typeface="Arial" pitchFamily="34" charset="-120"/>
              </a:rPr>
              <a:t>ch</a:t>
            </a:r>
            <a:endParaRPr lang="en-US" sz="3900" dirty="0"/>
          </a:p>
        </p:txBody>
      </p:sp>
      <p:sp>
        <p:nvSpPr>
          <p:cNvPr id="10" name="Text 8"/>
          <p:cNvSpPr/>
          <p:nvPr/>
        </p:nvSpPr>
        <p:spPr>
          <a:xfrm>
            <a:off x="1948101" y="5964436"/>
            <a:ext cx="204907" cy="594360"/>
          </a:xfrm>
          <a:prstGeom prst="rect">
            <a:avLst/>
          </a:prstGeom>
          <a:noFill/>
          <a:ln/>
        </p:spPr>
        <p:txBody>
          <a:bodyPr wrap="square" lIns="25400" tIns="25400" rIns="25400" bIns="25400" rtlCol="0" anchor="t">
            <a:normAutofit/>
          </a:bodyPr>
          <a:lstStyle/>
          <a:p>
            <a:pPr algn="l" indent="0" marL="0">
              <a:lnSpc>
                <a:spcPct val="150000"/>
              </a:lnSpc>
              <a:buNone/>
            </a:pPr>
            <a:r>
              <a:rPr lang="en-US" sz="3900" dirty="0">
                <a:solidFill>
                  <a:srgbClr val="8A8375"/>
                </a:solidFill>
                <a:latin typeface="Arial" pitchFamily="34" charset="0"/>
                <a:ea typeface="Arial" pitchFamily="34" charset="-122"/>
                <a:cs typeface="Arial" pitchFamily="34" charset="-120"/>
              </a:rPr>
              <a:t>|</a:t>
            </a:r>
            <a:endParaRPr lang="en-US" sz="3900" dirty="0"/>
          </a:p>
        </p:txBody>
      </p:sp>
      <p:sp>
        <p:nvSpPr>
          <p:cNvPr id="11" name="Shape 9"/>
          <p:cNvSpPr/>
          <p:nvPr/>
        </p:nvSpPr>
        <p:spPr>
          <a:xfrm>
            <a:off x="2114907" y="5907286"/>
            <a:ext cx="904875" cy="674370"/>
          </a:xfrm>
          <a:prstGeom prst="roundRect">
            <a:avLst>
              <a:gd name="adj" fmla="val 5650"/>
            </a:avLst>
          </a:prstGeom>
          <a:solidFill>
            <a:srgbClr val="E3EAF5"/>
          </a:solidFill>
          <a:ln w="7620">
            <a:solidFill>
              <a:srgbClr val="2457A8">
                <a:alpha val="30000"/>
              </a:srgbClr>
            </a:solidFill>
            <a:prstDash val="solid"/>
          </a:ln>
        </p:spPr>
      </p:sp>
      <p:sp>
        <p:nvSpPr>
          <p:cNvPr id="12" name="Text 10"/>
          <p:cNvSpPr/>
          <p:nvPr/>
        </p:nvSpPr>
        <p:spPr>
          <a:xfrm>
            <a:off x="2236827" y="5972056"/>
            <a:ext cx="737235" cy="582930"/>
          </a:xfrm>
          <a:prstGeom prst="rect">
            <a:avLst/>
          </a:prstGeom>
          <a:noFill/>
          <a:ln/>
        </p:spPr>
        <p:txBody>
          <a:bodyPr wrap="square" lIns="25400" tIns="25400" rIns="25400" bIns="25400" rtlCol="0" anchor="t">
            <a:normAutofit/>
          </a:bodyPr>
          <a:lstStyle/>
          <a:p>
            <a:pPr algn="l" indent="0" marL="0">
              <a:lnSpc>
                <a:spcPct val="110000"/>
              </a:lnSpc>
              <a:buNone/>
            </a:pPr>
            <a:r>
              <a:rPr lang="en-US" sz="3900" dirty="0">
                <a:solidFill>
                  <a:srgbClr val="173876"/>
                </a:solidFill>
                <a:latin typeface="Arial" pitchFamily="34" charset="0"/>
                <a:ea typeface="Arial" pitchFamily="34" charset="-122"/>
                <a:cs typeface="Arial" pitchFamily="34" charset="-120"/>
              </a:rPr>
              <a:t>ole</a:t>
            </a:r>
            <a:endParaRPr lang="en-US" sz="3900" dirty="0"/>
          </a:p>
        </p:txBody>
      </p:sp>
      <p:sp>
        <p:nvSpPr>
          <p:cNvPr id="13" name="Text 11"/>
          <p:cNvSpPr/>
          <p:nvPr/>
        </p:nvSpPr>
        <p:spPr>
          <a:xfrm>
            <a:off x="3057882" y="5964436"/>
            <a:ext cx="204907" cy="594360"/>
          </a:xfrm>
          <a:prstGeom prst="rect">
            <a:avLst/>
          </a:prstGeom>
          <a:noFill/>
          <a:ln/>
        </p:spPr>
        <p:txBody>
          <a:bodyPr wrap="square" lIns="25400" tIns="25400" rIns="25400" bIns="25400" rtlCol="0" anchor="t">
            <a:normAutofit/>
          </a:bodyPr>
          <a:lstStyle/>
          <a:p>
            <a:pPr algn="l" indent="0" marL="0">
              <a:lnSpc>
                <a:spcPct val="150000"/>
              </a:lnSpc>
              <a:buNone/>
            </a:pPr>
            <a:r>
              <a:rPr lang="en-US" sz="3900" dirty="0">
                <a:solidFill>
                  <a:srgbClr val="8A8375"/>
                </a:solidFill>
                <a:latin typeface="Arial" pitchFamily="34" charset="0"/>
                <a:ea typeface="Arial" pitchFamily="34" charset="-122"/>
                <a:cs typeface="Arial" pitchFamily="34" charset="-120"/>
              </a:rPr>
              <a:t>|</a:t>
            </a:r>
            <a:endParaRPr lang="en-US" sz="3900" dirty="0"/>
          </a:p>
        </p:txBody>
      </p:sp>
      <p:sp>
        <p:nvSpPr>
          <p:cNvPr id="14" name="Shape 12"/>
          <p:cNvSpPr/>
          <p:nvPr/>
        </p:nvSpPr>
        <p:spPr>
          <a:xfrm>
            <a:off x="3224689" y="5907286"/>
            <a:ext cx="739140" cy="674370"/>
          </a:xfrm>
          <a:prstGeom prst="roundRect">
            <a:avLst>
              <a:gd name="adj" fmla="val 5650"/>
            </a:avLst>
          </a:prstGeom>
          <a:solidFill>
            <a:srgbClr val="E3EAF5"/>
          </a:solidFill>
          <a:ln w="7620">
            <a:solidFill>
              <a:srgbClr val="2457A8">
                <a:alpha val="30000"/>
              </a:srgbClr>
            </a:solidFill>
            <a:prstDash val="solid"/>
          </a:ln>
        </p:spPr>
      </p:sp>
      <p:sp>
        <p:nvSpPr>
          <p:cNvPr id="15" name="Text 13"/>
          <p:cNvSpPr/>
          <p:nvPr/>
        </p:nvSpPr>
        <p:spPr>
          <a:xfrm>
            <a:off x="3346609" y="5972056"/>
            <a:ext cx="571500" cy="582930"/>
          </a:xfrm>
          <a:prstGeom prst="rect">
            <a:avLst/>
          </a:prstGeom>
          <a:noFill/>
          <a:ln/>
        </p:spPr>
        <p:txBody>
          <a:bodyPr wrap="square" lIns="25400" tIns="25400" rIns="25400" bIns="25400" rtlCol="0" anchor="t">
            <a:normAutofit/>
          </a:bodyPr>
          <a:lstStyle/>
          <a:p>
            <a:pPr algn="l" indent="0" marL="0">
              <a:lnSpc>
                <a:spcPct val="110000"/>
              </a:lnSpc>
              <a:buNone/>
            </a:pPr>
            <a:r>
              <a:rPr lang="en-US" sz="3900" dirty="0">
                <a:solidFill>
                  <a:srgbClr val="173876"/>
                </a:solidFill>
                <a:latin typeface="Arial" pitchFamily="34" charset="0"/>
                <a:ea typeface="Arial" pitchFamily="34" charset="-122"/>
                <a:cs typeface="Arial" pitchFamily="34" charset="-120"/>
              </a:rPr>
              <a:t>cy</a:t>
            </a:r>
            <a:endParaRPr lang="en-US" sz="3900" dirty="0"/>
          </a:p>
        </p:txBody>
      </p:sp>
      <p:sp>
        <p:nvSpPr>
          <p:cNvPr id="16" name="Text 14"/>
          <p:cNvSpPr/>
          <p:nvPr/>
        </p:nvSpPr>
        <p:spPr>
          <a:xfrm>
            <a:off x="4001929" y="5964436"/>
            <a:ext cx="204907" cy="594360"/>
          </a:xfrm>
          <a:prstGeom prst="rect">
            <a:avLst/>
          </a:prstGeom>
          <a:noFill/>
          <a:ln/>
        </p:spPr>
        <p:txBody>
          <a:bodyPr wrap="square" lIns="25400" tIns="25400" rIns="25400" bIns="25400" rtlCol="0" anchor="t">
            <a:normAutofit/>
          </a:bodyPr>
          <a:lstStyle/>
          <a:p>
            <a:pPr algn="l" indent="0" marL="0">
              <a:lnSpc>
                <a:spcPct val="150000"/>
              </a:lnSpc>
              <a:buNone/>
            </a:pPr>
            <a:r>
              <a:rPr lang="en-US" sz="3900" dirty="0">
                <a:solidFill>
                  <a:srgbClr val="8A8375"/>
                </a:solidFill>
                <a:latin typeface="Arial" pitchFamily="34" charset="0"/>
                <a:ea typeface="Arial" pitchFamily="34" charset="-122"/>
                <a:cs typeface="Arial" pitchFamily="34" charset="-120"/>
              </a:rPr>
              <a:t>|</a:t>
            </a:r>
            <a:endParaRPr lang="en-US" sz="3900" dirty="0"/>
          </a:p>
        </p:txBody>
      </p:sp>
      <p:sp>
        <p:nvSpPr>
          <p:cNvPr id="17" name="Shape 15"/>
          <p:cNvSpPr/>
          <p:nvPr/>
        </p:nvSpPr>
        <p:spPr>
          <a:xfrm>
            <a:off x="4168735" y="5907286"/>
            <a:ext cx="629126" cy="674370"/>
          </a:xfrm>
          <a:prstGeom prst="roundRect">
            <a:avLst>
              <a:gd name="adj" fmla="val 6056"/>
            </a:avLst>
          </a:prstGeom>
          <a:solidFill>
            <a:srgbClr val="E3EAF5"/>
          </a:solidFill>
          <a:ln w="7620">
            <a:solidFill>
              <a:srgbClr val="2457A8">
                <a:alpha val="30000"/>
              </a:srgbClr>
            </a:solidFill>
            <a:prstDash val="solid"/>
          </a:ln>
        </p:spPr>
      </p:sp>
      <p:sp>
        <p:nvSpPr>
          <p:cNvPr id="18" name="Text 16"/>
          <p:cNvSpPr/>
          <p:nvPr/>
        </p:nvSpPr>
        <p:spPr>
          <a:xfrm>
            <a:off x="4290655" y="5972056"/>
            <a:ext cx="461486" cy="582930"/>
          </a:xfrm>
          <a:prstGeom prst="rect">
            <a:avLst/>
          </a:prstGeom>
          <a:noFill/>
          <a:ln/>
        </p:spPr>
        <p:txBody>
          <a:bodyPr wrap="square" lIns="25400" tIns="25400" rIns="25400" bIns="25400" rtlCol="0" anchor="t">
            <a:normAutofit/>
          </a:bodyPr>
          <a:lstStyle/>
          <a:p>
            <a:pPr algn="l" indent="0" marL="0">
              <a:lnSpc>
                <a:spcPct val="110000"/>
              </a:lnSpc>
              <a:buNone/>
            </a:pPr>
            <a:r>
              <a:rPr lang="en-US" sz="3900" dirty="0">
                <a:solidFill>
                  <a:srgbClr val="173876"/>
                </a:solidFill>
                <a:latin typeface="Arial" pitchFamily="34" charset="0"/>
                <a:ea typeface="Arial" pitchFamily="34" charset="-122"/>
                <a:cs typeface="Arial" pitchFamily="34" charset="-120"/>
              </a:rPr>
              <a:t>st</a:t>
            </a:r>
            <a:endParaRPr lang="en-US" sz="3900" dirty="0"/>
          </a:p>
        </p:txBody>
      </p:sp>
      <p:sp>
        <p:nvSpPr>
          <p:cNvPr id="19" name="Text 17"/>
          <p:cNvSpPr/>
          <p:nvPr/>
        </p:nvSpPr>
        <p:spPr>
          <a:xfrm>
            <a:off x="4835962" y="5964436"/>
            <a:ext cx="204907" cy="594360"/>
          </a:xfrm>
          <a:prstGeom prst="rect">
            <a:avLst/>
          </a:prstGeom>
          <a:noFill/>
          <a:ln/>
        </p:spPr>
        <p:txBody>
          <a:bodyPr wrap="square" lIns="25400" tIns="25400" rIns="25400" bIns="25400" rtlCol="0" anchor="t">
            <a:normAutofit/>
          </a:bodyPr>
          <a:lstStyle/>
          <a:p>
            <a:pPr algn="l" indent="0" marL="0">
              <a:lnSpc>
                <a:spcPct val="150000"/>
              </a:lnSpc>
              <a:buNone/>
            </a:pPr>
            <a:r>
              <a:rPr lang="en-US" sz="3900" dirty="0">
                <a:solidFill>
                  <a:srgbClr val="8A8375"/>
                </a:solidFill>
                <a:latin typeface="Arial" pitchFamily="34" charset="0"/>
                <a:ea typeface="Arial" pitchFamily="34" charset="-122"/>
                <a:cs typeface="Arial" pitchFamily="34" charset="-120"/>
              </a:rPr>
              <a:t>|</a:t>
            </a:r>
            <a:endParaRPr lang="en-US" sz="3900" dirty="0"/>
          </a:p>
        </p:txBody>
      </p:sp>
      <p:sp>
        <p:nvSpPr>
          <p:cNvPr id="20" name="Shape 18"/>
          <p:cNvSpPr/>
          <p:nvPr/>
        </p:nvSpPr>
        <p:spPr>
          <a:xfrm>
            <a:off x="5002768" y="5907286"/>
            <a:ext cx="904637" cy="674370"/>
          </a:xfrm>
          <a:prstGeom prst="roundRect">
            <a:avLst>
              <a:gd name="adj" fmla="val 5650"/>
            </a:avLst>
          </a:prstGeom>
          <a:solidFill>
            <a:srgbClr val="E3EAF5"/>
          </a:solidFill>
          <a:ln w="7620">
            <a:solidFill>
              <a:srgbClr val="2457A8">
                <a:alpha val="30000"/>
              </a:srgbClr>
            </a:solidFill>
            <a:prstDash val="solid"/>
          </a:ln>
        </p:spPr>
      </p:sp>
      <p:sp>
        <p:nvSpPr>
          <p:cNvPr id="21" name="Text 19"/>
          <p:cNvSpPr/>
          <p:nvPr/>
        </p:nvSpPr>
        <p:spPr>
          <a:xfrm>
            <a:off x="5124688" y="5972056"/>
            <a:ext cx="736997" cy="582930"/>
          </a:xfrm>
          <a:prstGeom prst="rect">
            <a:avLst/>
          </a:prstGeom>
          <a:noFill/>
          <a:ln/>
        </p:spPr>
        <p:txBody>
          <a:bodyPr wrap="square" lIns="25400" tIns="25400" rIns="25400" bIns="25400" rtlCol="0" anchor="t">
            <a:normAutofit/>
          </a:bodyPr>
          <a:lstStyle/>
          <a:p>
            <a:pPr algn="l" indent="0" marL="0">
              <a:lnSpc>
                <a:spcPct val="110000"/>
              </a:lnSpc>
              <a:buNone/>
            </a:pPr>
            <a:r>
              <a:rPr lang="en-US" sz="3900" dirty="0">
                <a:solidFill>
                  <a:srgbClr val="173876"/>
                </a:solidFill>
                <a:latin typeface="Arial" pitchFamily="34" charset="0"/>
                <a:ea typeface="Arial" pitchFamily="34" charset="-122"/>
                <a:cs typeface="Arial" pitchFamily="34" charset="-120"/>
              </a:rPr>
              <a:t>ect</a:t>
            </a:r>
            <a:endParaRPr lang="en-US" sz="3900" dirty="0"/>
          </a:p>
        </p:txBody>
      </p:sp>
      <p:sp>
        <p:nvSpPr>
          <p:cNvPr id="22" name="Text 20"/>
          <p:cNvSpPr/>
          <p:nvPr/>
        </p:nvSpPr>
        <p:spPr>
          <a:xfrm>
            <a:off x="5945505" y="5964436"/>
            <a:ext cx="204907" cy="594360"/>
          </a:xfrm>
          <a:prstGeom prst="rect">
            <a:avLst/>
          </a:prstGeom>
          <a:noFill/>
          <a:ln/>
        </p:spPr>
        <p:txBody>
          <a:bodyPr wrap="square" lIns="25400" tIns="25400" rIns="25400" bIns="25400" rtlCol="0" anchor="t">
            <a:normAutofit/>
          </a:bodyPr>
          <a:lstStyle/>
          <a:p>
            <a:pPr algn="l" indent="0" marL="0">
              <a:lnSpc>
                <a:spcPct val="150000"/>
              </a:lnSpc>
              <a:buNone/>
            </a:pPr>
            <a:r>
              <a:rPr lang="en-US" sz="3900" dirty="0">
                <a:solidFill>
                  <a:srgbClr val="8A8375"/>
                </a:solidFill>
                <a:latin typeface="Arial" pitchFamily="34" charset="0"/>
                <a:ea typeface="Arial" pitchFamily="34" charset="-122"/>
                <a:cs typeface="Arial" pitchFamily="34" charset="-120"/>
              </a:rPr>
              <a:t>|</a:t>
            </a:r>
            <a:endParaRPr lang="en-US" sz="3900" dirty="0"/>
          </a:p>
        </p:txBody>
      </p:sp>
      <p:sp>
        <p:nvSpPr>
          <p:cNvPr id="23" name="Shape 21"/>
          <p:cNvSpPr/>
          <p:nvPr/>
        </p:nvSpPr>
        <p:spPr>
          <a:xfrm>
            <a:off x="6112312" y="5907286"/>
            <a:ext cx="1179552" cy="674370"/>
          </a:xfrm>
          <a:prstGeom prst="roundRect">
            <a:avLst>
              <a:gd name="adj" fmla="val 5650"/>
            </a:avLst>
          </a:prstGeom>
          <a:solidFill>
            <a:srgbClr val="E3EAF5"/>
          </a:solidFill>
          <a:ln w="7620">
            <a:solidFill>
              <a:srgbClr val="2457A8">
                <a:alpha val="30000"/>
              </a:srgbClr>
            </a:solidFill>
            <a:prstDash val="solid"/>
          </a:ln>
        </p:spPr>
      </p:sp>
      <p:sp>
        <p:nvSpPr>
          <p:cNvPr id="24" name="Text 22"/>
          <p:cNvSpPr/>
          <p:nvPr/>
        </p:nvSpPr>
        <p:spPr>
          <a:xfrm>
            <a:off x="6234232" y="5972056"/>
            <a:ext cx="1011912" cy="582930"/>
          </a:xfrm>
          <a:prstGeom prst="rect">
            <a:avLst/>
          </a:prstGeom>
          <a:noFill/>
          <a:ln/>
        </p:spPr>
        <p:txBody>
          <a:bodyPr wrap="square" lIns="25400" tIns="25400" rIns="25400" bIns="25400" rtlCol="0" anchor="t">
            <a:normAutofit/>
          </a:bodyPr>
          <a:lstStyle/>
          <a:p>
            <a:pPr algn="l" indent="0" marL="0">
              <a:lnSpc>
                <a:spcPct val="110000"/>
              </a:lnSpc>
              <a:buNone/>
            </a:pPr>
            <a:r>
              <a:rPr lang="en-US" sz="3900" dirty="0">
                <a:solidFill>
                  <a:srgbClr val="173876"/>
                </a:solidFill>
                <a:latin typeface="Arial" pitchFamily="34" charset="0"/>
                <a:ea typeface="Arial" pitchFamily="34" charset="-122"/>
                <a:cs typeface="Arial" pitchFamily="34" charset="-120"/>
              </a:rPr>
              <a:t>omy</a:t>
            </a:r>
            <a:endParaRPr lang="en-US" sz="3900" dirty="0"/>
          </a:p>
        </p:txBody>
      </p:sp>
      <p:sp>
        <p:nvSpPr>
          <p:cNvPr id="25" name="Text 23"/>
          <p:cNvSpPr/>
          <p:nvPr/>
        </p:nvSpPr>
        <p:spPr>
          <a:xfrm>
            <a:off x="1143000" y="6844546"/>
            <a:ext cx="7887843" cy="416719"/>
          </a:xfrm>
          <a:prstGeom prst="rect">
            <a:avLst/>
          </a:prstGeom>
          <a:noFill/>
          <a:ln/>
        </p:spPr>
        <p:txBody>
          <a:bodyPr wrap="square" lIns="25400" tIns="25400" rIns="25400" bIns="25400" rtlCol="0" anchor="t">
            <a:normAutofit/>
          </a:bodyPr>
          <a:lstStyle/>
          <a:p>
            <a:pPr algn="l" indent="0" marL="0">
              <a:lnSpc>
                <a:spcPct val="142000"/>
              </a:lnSpc>
              <a:buNone/>
            </a:pPr>
            <a:r>
              <a:rPr lang="en-US" sz="2100" i="1" dirty="0">
                <a:solidFill>
                  <a:srgbClr val="8A8375"/>
                </a:solidFill>
                <a:latin typeface="Arial" pitchFamily="34" charset="0"/>
                <a:ea typeface="Arial" pitchFamily="34" charset="-122"/>
                <a:cs typeface="Arial" pitchFamily="34" charset="-120"/>
              </a:rPr>
              <a:t>6 tokens</a:t>
            </a:r>
            <a:endParaRPr lang="en-US" sz="2100" dirty="0"/>
          </a:p>
        </p:txBody>
      </p:sp>
      <p:sp>
        <p:nvSpPr>
          <p:cNvPr id="26" name="Text 24"/>
          <p:cNvSpPr/>
          <p:nvPr/>
        </p:nvSpPr>
        <p:spPr>
          <a:xfrm>
            <a:off x="9486900" y="5281732"/>
            <a:ext cx="7887843"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MEDICAL BPE · PUBMED</a:t>
            </a:r>
            <a:endParaRPr lang="en-US" sz="1800" dirty="0"/>
          </a:p>
        </p:txBody>
      </p:sp>
      <p:sp>
        <p:nvSpPr>
          <p:cNvPr id="27" name="Shape 25"/>
          <p:cNvSpPr/>
          <p:nvPr/>
        </p:nvSpPr>
        <p:spPr>
          <a:xfrm>
            <a:off x="9486900" y="5907286"/>
            <a:ext cx="3905012" cy="674370"/>
          </a:xfrm>
          <a:prstGeom prst="roundRect">
            <a:avLst>
              <a:gd name="adj" fmla="val 5650"/>
            </a:avLst>
          </a:prstGeom>
          <a:solidFill>
            <a:srgbClr val="F3DFD7"/>
          </a:solidFill>
          <a:ln w="7620">
            <a:solidFill>
              <a:srgbClr val="B6351D">
                <a:alpha val="30000"/>
              </a:srgbClr>
            </a:solidFill>
            <a:prstDash val="solid"/>
          </a:ln>
        </p:spPr>
      </p:sp>
      <p:sp>
        <p:nvSpPr>
          <p:cNvPr id="28" name="Text 26"/>
          <p:cNvSpPr/>
          <p:nvPr/>
        </p:nvSpPr>
        <p:spPr>
          <a:xfrm>
            <a:off x="9608820" y="5972056"/>
            <a:ext cx="3778322" cy="582930"/>
          </a:xfrm>
          <a:prstGeom prst="rect">
            <a:avLst/>
          </a:prstGeom>
          <a:noFill/>
          <a:ln/>
        </p:spPr>
        <p:txBody>
          <a:bodyPr wrap="square" lIns="25400" tIns="25400" rIns="25400" bIns="25400" rtlCol="0" anchor="t">
            <a:normAutofit/>
          </a:bodyPr>
          <a:lstStyle/>
          <a:p>
            <a:pPr algn="l" indent="0" marL="0">
              <a:lnSpc>
                <a:spcPct val="110000"/>
              </a:lnSpc>
              <a:buNone/>
            </a:pPr>
            <a:r>
              <a:rPr lang="en-US" sz="3900" dirty="0">
                <a:solidFill>
                  <a:srgbClr val="7A2212"/>
                </a:solidFill>
                <a:latin typeface="Arial" pitchFamily="34" charset="0"/>
                <a:ea typeface="Arial" pitchFamily="34" charset="-122"/>
                <a:cs typeface="Arial" pitchFamily="34" charset="-120"/>
              </a:rPr>
              <a:t>cholecystectomy</a:t>
            </a:r>
            <a:endParaRPr lang="en-US" sz="3900" dirty="0"/>
          </a:p>
        </p:txBody>
      </p:sp>
      <p:sp>
        <p:nvSpPr>
          <p:cNvPr id="29" name="Text 27"/>
          <p:cNvSpPr/>
          <p:nvPr/>
        </p:nvSpPr>
        <p:spPr>
          <a:xfrm>
            <a:off x="9486900" y="6844546"/>
            <a:ext cx="7887843" cy="416719"/>
          </a:xfrm>
          <a:prstGeom prst="rect">
            <a:avLst/>
          </a:prstGeom>
          <a:noFill/>
          <a:ln/>
        </p:spPr>
        <p:txBody>
          <a:bodyPr wrap="square" lIns="25400" tIns="25400" rIns="25400" bIns="25400" rtlCol="0" anchor="t">
            <a:normAutofit/>
          </a:bodyPr>
          <a:lstStyle/>
          <a:p>
            <a:pPr algn="l" indent="0" marL="0">
              <a:lnSpc>
                <a:spcPct val="142000"/>
              </a:lnSpc>
              <a:buNone/>
            </a:pPr>
            <a:r>
              <a:rPr lang="en-US" sz="2100" i="1" dirty="0">
                <a:solidFill>
                  <a:srgbClr val="8A8375"/>
                </a:solidFill>
                <a:latin typeface="Arial" pitchFamily="34" charset="0"/>
                <a:ea typeface="Arial" pitchFamily="34" charset="-122"/>
                <a:cs typeface="Arial" pitchFamily="34" charset="-120"/>
              </a:rPr>
              <a:t>1 token</a:t>
            </a:r>
            <a:endParaRPr lang="en-US" sz="2100" dirty="0"/>
          </a:p>
        </p:txBody>
      </p:sp>
      <p:sp>
        <p:nvSpPr>
          <p:cNvPr id="30" name="Text 28"/>
          <p:cNvSpPr/>
          <p:nvPr/>
        </p:nvSpPr>
        <p:spPr>
          <a:xfrm>
            <a:off x="16588860" y="9429036"/>
            <a:ext cx="63234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144" kern="0" dirty="0">
                <a:solidFill>
                  <a:srgbClr val="8A8375"/>
                </a:solidFill>
                <a:latin typeface="Arial" pitchFamily="34" charset="0"/>
                <a:ea typeface="Arial" pitchFamily="34" charset="-122"/>
                <a:cs typeface="Arial" pitchFamily="34" charset="-120"/>
              </a:rPr>
              <a:t>S·02</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1143000" y="533400"/>
            <a:ext cx="2682872"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 01 · MOTIVATION</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03 </a:t>
            </a:r>
            <a:pPr algn="l" indent="0" marL="0">
              <a:lnSpc>
                <a:spcPct val="142000"/>
              </a:lnSpc>
              <a:buNone/>
            </a:pPr>
            <a:r>
              <a:rPr lang="en-US" sz="1800" spc="252" kern="0" dirty="0">
                <a:solidFill>
                  <a:srgbClr val="C9BFA8"/>
                </a:solidFill>
                <a:latin typeface="Arial" pitchFamily="34" charset="0"/>
                <a:ea typeface="Arial" pitchFamily="34" charset="-122"/>
                <a:cs typeface="Arial" pitchFamily="34" charset="-120"/>
              </a:rPr>
              <a:t>/ 15</a:t>
            </a:r>
            <a:endParaRPr lang="en-US" sz="1800" dirty="0"/>
          </a:p>
        </p:txBody>
      </p:sp>
      <p:sp>
        <p:nvSpPr>
          <p:cNvPr id="4" name="Shape 2"/>
          <p:cNvSpPr/>
          <p:nvPr/>
        </p:nvSpPr>
        <p:spPr>
          <a:xfrm>
            <a:off x="1143000" y="2286000"/>
            <a:ext cx="914400" cy="9525"/>
          </a:xfrm>
          <a:prstGeom prst="rect">
            <a:avLst/>
          </a:prstGeom>
          <a:solidFill>
            <a:srgbClr val="C9BFA8"/>
          </a:solidFill>
          <a:ln/>
        </p:spPr>
      </p:sp>
      <p:sp>
        <p:nvSpPr>
          <p:cNvPr id="5" name="Text 3"/>
          <p:cNvSpPr/>
          <p:nvPr/>
        </p:nvSpPr>
        <p:spPr>
          <a:xfrm>
            <a:off x="1143000" y="2674620"/>
            <a:ext cx="14716125" cy="696397"/>
          </a:xfrm>
          <a:prstGeom prst="rect">
            <a:avLst/>
          </a:prstGeom>
          <a:noFill/>
          <a:ln/>
        </p:spPr>
        <p:txBody>
          <a:bodyPr wrap="square" lIns="25400" tIns="25400" rIns="25400" bIns="25400" rtlCol="0" anchor="t">
            <a:normAutofit/>
          </a:bodyPr>
          <a:lstStyle/>
          <a:p>
            <a:pPr algn="l" indent="0" marL="0">
              <a:lnSpc>
                <a:spcPct val="108000"/>
              </a:lnSpc>
              <a:buNone/>
            </a:pPr>
            <a:r>
              <a:rPr lang="en-US" sz="4800" spc="-72" kern="0" dirty="0">
                <a:solidFill>
                  <a:srgbClr val="1A1A1A"/>
                </a:solidFill>
                <a:latin typeface="Arial" pitchFamily="34" charset="0"/>
                <a:ea typeface="Arial" pitchFamily="34" charset="-122"/>
                <a:cs typeface="Arial" pitchFamily="34" charset="-120"/>
              </a:rPr>
              <a:t>Byte-Pair Encoding, formally.</a:t>
            </a:r>
            <a:endParaRPr lang="en-US" sz="4800" dirty="0"/>
          </a:p>
        </p:txBody>
      </p:sp>
      <p:sp>
        <p:nvSpPr>
          <p:cNvPr id="6" name="Text 4"/>
          <p:cNvSpPr/>
          <p:nvPr/>
        </p:nvSpPr>
        <p:spPr>
          <a:xfrm>
            <a:off x="1143000" y="3790117"/>
            <a:ext cx="14716125" cy="508635"/>
          </a:xfrm>
          <a:prstGeom prst="rect">
            <a:avLst/>
          </a:prstGeom>
          <a:noFill/>
          <a:ln/>
        </p:spPr>
        <p:txBody>
          <a:bodyPr wrap="square" lIns="25400" tIns="25400" rIns="25400" bIns="25400" rtlCol="0" anchor="t">
            <a:normAutofit/>
          </a:bodyPr>
          <a:lstStyle/>
          <a:p>
            <a:pPr algn="l" indent="0" marL="0">
              <a:lnSpc>
                <a:spcPct val="135000"/>
              </a:lnSpc>
              <a:buNone/>
            </a:pPr>
            <a:r>
              <a:rPr lang="en-US" sz="2700" dirty="0">
                <a:solidFill>
                  <a:srgbClr val="3E3A33"/>
                </a:solidFill>
                <a:latin typeface="Arial" pitchFamily="34" charset="0"/>
                <a:ea typeface="Arial" pitchFamily="34" charset="-122"/>
                <a:cs typeface="Arial" pitchFamily="34" charset="-120"/>
              </a:rPr>
              <a:t>Same algorithm, same vocabulary size—the </a:t>
            </a:r>
            <a:pPr algn="l" indent="0" marL="0">
              <a:lnSpc>
                <a:spcPct val="135000"/>
              </a:lnSpc>
              <a:buNone/>
            </a:pPr>
            <a:r>
              <a:rPr lang="en-US" sz="2700" i="1" dirty="0">
                <a:solidFill>
                  <a:srgbClr val="3E3A33"/>
                </a:solidFill>
                <a:latin typeface="Arial" pitchFamily="34" charset="0"/>
                <a:ea typeface="Arial" pitchFamily="34" charset="-122"/>
                <a:cs typeface="Arial" pitchFamily="34" charset="-120"/>
              </a:rPr>
              <a:t>training corpus </a:t>
            </a:r>
            <a:pPr algn="l" indent="0" marL="0">
              <a:lnSpc>
                <a:spcPct val="135000"/>
              </a:lnSpc>
              <a:buNone/>
            </a:pPr>
            <a:r>
              <a:rPr lang="en-US" sz="2700" dirty="0">
                <a:solidFill>
                  <a:srgbClr val="3E3A33"/>
                </a:solidFill>
                <a:latin typeface="Arial" pitchFamily="34" charset="0"/>
                <a:ea typeface="Arial" pitchFamily="34" charset="-122"/>
                <a:cs typeface="Arial" pitchFamily="34" charset="-120"/>
              </a:rPr>
              <a:t>decides the contents.</a:t>
            </a:r>
            <a:endParaRPr lang="en-US" sz="2700" dirty="0"/>
          </a:p>
        </p:txBody>
      </p:sp>
      <p:sp>
        <p:nvSpPr>
          <p:cNvPr id="7" name="Text 5"/>
          <p:cNvSpPr/>
          <p:nvPr/>
        </p:nvSpPr>
        <p:spPr>
          <a:xfrm>
            <a:off x="1143000" y="4908352"/>
            <a:ext cx="824103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THE MERGE RULE</a:t>
            </a:r>
            <a:endParaRPr lang="en-US" sz="1800" dirty="0"/>
          </a:p>
        </p:txBody>
      </p:sp>
      <p:sp>
        <p:nvSpPr>
          <p:cNvPr id="8" name="Text 6"/>
          <p:cNvSpPr/>
          <p:nvPr/>
        </p:nvSpPr>
        <p:spPr>
          <a:xfrm>
            <a:off x="1143000" y="5499616"/>
            <a:ext cx="7063740" cy="1866900"/>
          </a:xfrm>
          <a:prstGeom prst="rect">
            <a:avLst/>
          </a:prstGeom>
          <a:noFill/>
          <a:ln/>
        </p:spPr>
        <p:txBody>
          <a:bodyPr wrap="square" lIns="25400" tIns="25400" rIns="25400" bIns="25400" rtlCol="0" anchor="t">
            <a:normAutofit/>
          </a:bodyPr>
          <a:lstStyle/>
          <a:p>
            <a:pPr algn="l" indent="0" marL="0">
              <a:lnSpc>
                <a:spcPct val="150000"/>
              </a:lnSpc>
              <a:buNone/>
            </a:pPr>
            <a:r>
              <a:rPr lang="en-US" sz="2400" dirty="0">
                <a:solidFill>
                  <a:srgbClr val="3E3A33"/>
                </a:solidFill>
                <a:latin typeface="Arial" pitchFamily="34" charset="0"/>
                <a:ea typeface="Arial" pitchFamily="34" charset="-122"/>
                <a:cs typeface="Arial" pitchFamily="34" charset="-120"/>
              </a:rPr>
              <a:t>At each step, find the most frequent adjacent pair of symbols in the corpus and merge them into a new symbol. Repeat until you have </a:t>
            </a:r>
            <a:pPr algn="l" indent="0" marL="0">
              <a:lnSpc>
                <a:spcPct val="150000"/>
              </a:lnSpc>
              <a:buNone/>
            </a:pPr>
            <a:r>
              <a:rPr lang="en-US" sz="2400" i="1" dirty="0">
                <a:solidFill>
                  <a:srgbClr val="3E3A33"/>
                </a:solidFill>
                <a:latin typeface="Arial" pitchFamily="34" charset="0"/>
                <a:ea typeface="Arial" pitchFamily="34" charset="-122"/>
                <a:cs typeface="Arial" pitchFamily="34" charset="-120"/>
              </a:rPr>
              <a:t>V </a:t>
            </a:r>
            <a:pPr algn="l" indent="0" marL="0">
              <a:lnSpc>
                <a:spcPct val="150000"/>
              </a:lnSpc>
              <a:buNone/>
            </a:pPr>
            <a:r>
              <a:rPr lang="en-US" sz="2400" dirty="0">
                <a:solidFill>
                  <a:srgbClr val="3E3A33"/>
                </a:solidFill>
                <a:latin typeface="Arial" pitchFamily="34" charset="0"/>
                <a:ea typeface="Arial" pitchFamily="34" charset="-122"/>
                <a:cs typeface="Arial" pitchFamily="34" charset="-120"/>
              </a:rPr>
              <a:t>= 10,000 symbols.</a:t>
            </a:r>
            <a:endParaRPr lang="en-US" sz="2400" dirty="0"/>
          </a:p>
        </p:txBody>
      </p:sp>
      <p:sp>
        <p:nvSpPr>
          <p:cNvPr id="9" name="Shape 7"/>
          <p:cNvSpPr/>
          <p:nvPr/>
        </p:nvSpPr>
        <p:spPr>
          <a:xfrm>
            <a:off x="1143000" y="9685139"/>
            <a:ext cx="8001000" cy="9525"/>
          </a:xfrm>
          <a:prstGeom prst="rect">
            <a:avLst/>
          </a:prstGeom>
          <a:solidFill>
            <a:srgbClr val="C9BFA8"/>
          </a:solidFill>
          <a:ln/>
        </p:spPr>
      </p:sp>
      <p:sp>
        <p:nvSpPr>
          <p:cNvPr id="10" name="Shape 8"/>
          <p:cNvSpPr/>
          <p:nvPr/>
        </p:nvSpPr>
        <p:spPr>
          <a:xfrm>
            <a:off x="1143000" y="7747516"/>
            <a:ext cx="8001000" cy="9525"/>
          </a:xfrm>
          <a:prstGeom prst="rect">
            <a:avLst/>
          </a:prstGeom>
          <a:solidFill>
            <a:srgbClr val="C9BFA8"/>
          </a:solidFill>
          <a:ln/>
        </p:spPr>
      </p:sp>
      <p:sp>
        <p:nvSpPr>
          <p:cNvPr id="11" name="Text 9"/>
          <p:cNvSpPr/>
          <p:nvPr/>
        </p:nvSpPr>
        <p:spPr>
          <a:xfrm>
            <a:off x="1143000" y="8021836"/>
            <a:ext cx="8241030" cy="617220"/>
          </a:xfrm>
          <a:prstGeom prst="rect">
            <a:avLst/>
          </a:prstGeom>
          <a:noFill/>
          <a:ln/>
        </p:spPr>
        <p:txBody>
          <a:bodyPr wrap="square" lIns="25400" tIns="25400" rIns="25400" bIns="25400" rtlCol="0" anchor="t">
            <a:normAutofit/>
          </a:bodyPr>
          <a:lstStyle/>
          <a:p>
            <a:pPr algn="l" indent="0" marL="0">
              <a:lnSpc>
                <a:spcPct val="140000"/>
              </a:lnSpc>
              <a:buNone/>
            </a:pPr>
            <a:r>
              <a:rPr lang="en-US" sz="3000" i="1" spc="30" kern="0" dirty="0">
                <a:solidFill>
                  <a:srgbClr val="1A1A1A"/>
                </a:solidFill>
                <a:latin typeface="Arial" pitchFamily="34" charset="0"/>
                <a:ea typeface="Arial" pitchFamily="34" charset="-122"/>
                <a:cs typeface="Arial" pitchFamily="34" charset="-120"/>
              </a:rPr>
              <a:t>(a, b) </a:t>
            </a:r>
            <a:pPr algn="l" indent="0" marL="0">
              <a:lnSpc>
                <a:spcPct val="140000"/>
              </a:lnSpc>
              <a:buNone/>
            </a:pPr>
            <a:r>
              <a:rPr lang="en-US" sz="3000" spc="30" kern="0" dirty="0">
                <a:solidFill>
                  <a:srgbClr val="1A1A1A"/>
                </a:solidFill>
                <a:latin typeface="Arial" pitchFamily="34" charset="0"/>
                <a:ea typeface="Arial" pitchFamily="34" charset="-122"/>
                <a:cs typeface="Arial" pitchFamily="34" charset="-120"/>
              </a:rPr>
              <a:t>⋆ = argmax</a:t>
            </a:r>
            <a:pPr algn="l" indent="0" marL="0">
              <a:lnSpc>
                <a:spcPct val="140000"/>
              </a:lnSpc>
              <a:buNone/>
            </a:pPr>
            <a:r>
              <a:rPr lang="en-US" sz="2100" baseline="-40000" spc="30" kern="0" dirty="0">
                <a:solidFill>
                  <a:srgbClr val="1A1A1A"/>
                </a:solidFill>
                <a:latin typeface="Arial" pitchFamily="34" charset="0"/>
                <a:ea typeface="Arial" pitchFamily="34" charset="-122"/>
                <a:cs typeface="Arial" pitchFamily="34" charset="-120"/>
              </a:rPr>
              <a:t>(</a:t>
            </a:r>
            <a:pPr algn="l" indent="0" marL="0">
              <a:lnSpc>
                <a:spcPct val="140000"/>
              </a:lnSpc>
              <a:buNone/>
            </a:pPr>
            <a:r>
              <a:rPr lang="en-US" sz="2100" i="1" baseline="-40000" spc="30" kern="0" dirty="0">
                <a:solidFill>
                  <a:srgbClr val="1A1A1A"/>
                </a:solidFill>
                <a:latin typeface="Arial" pitchFamily="34" charset="0"/>
                <a:ea typeface="Arial" pitchFamily="34" charset="-122"/>
                <a:cs typeface="Arial" pitchFamily="34" charset="-120"/>
              </a:rPr>
              <a:t>a,b</a:t>
            </a:r>
            <a:pPr algn="l" indent="0" marL="0">
              <a:lnSpc>
                <a:spcPct val="140000"/>
              </a:lnSpc>
              <a:buNone/>
            </a:pPr>
            <a:r>
              <a:rPr lang="en-US" sz="2100" baseline="-40000" spc="30" kern="0" dirty="0">
                <a:solidFill>
                  <a:srgbClr val="1A1A1A"/>
                </a:solidFill>
                <a:latin typeface="Arial" pitchFamily="34" charset="0"/>
                <a:ea typeface="Arial" pitchFamily="34" charset="-122"/>
                <a:cs typeface="Arial" pitchFamily="34" charset="-120"/>
              </a:rPr>
              <a:t>) ∈ Σ×Σ </a:t>
            </a:r>
            <a:pPr algn="l" indent="0" marL="0">
              <a:lnSpc>
                <a:spcPct val="140000"/>
              </a:lnSpc>
              <a:buNone/>
            </a:pPr>
            <a:r>
              <a:rPr lang="en-US" sz="3000" i="1" spc="30" kern="0" dirty="0">
                <a:solidFill>
                  <a:srgbClr val="1A1A1A"/>
                </a:solidFill>
                <a:latin typeface="Arial" pitchFamily="34" charset="0"/>
                <a:ea typeface="Arial" pitchFamily="34" charset="-122"/>
                <a:cs typeface="Arial" pitchFamily="34" charset="-120"/>
              </a:rPr>
              <a:t>count(ab; 𝒞)</a:t>
            </a:r>
            <a:endParaRPr lang="en-US" sz="3000" dirty="0"/>
          </a:p>
        </p:txBody>
      </p:sp>
      <p:sp>
        <p:nvSpPr>
          <p:cNvPr id="12" name="Text 10"/>
          <p:cNvSpPr/>
          <p:nvPr/>
        </p:nvSpPr>
        <p:spPr>
          <a:xfrm>
            <a:off x="1143000" y="8715256"/>
            <a:ext cx="8241030" cy="741283"/>
          </a:xfrm>
          <a:prstGeom prst="rect">
            <a:avLst/>
          </a:prstGeom>
          <a:noFill/>
          <a:ln/>
        </p:spPr>
        <p:txBody>
          <a:bodyPr wrap="square" lIns="25400" tIns="25400" rIns="25400" bIns="25400" rtlCol="0" anchor="t">
            <a:normAutofit/>
          </a:bodyPr>
          <a:lstStyle/>
          <a:p>
            <a:pPr algn="l" indent="0" marL="0">
              <a:lnSpc>
                <a:spcPct val="142000"/>
              </a:lnSpc>
              <a:buNone/>
            </a:pPr>
            <a:r>
              <a:rPr lang="en-US" sz="1950" i="1" dirty="0">
                <a:solidFill>
                  <a:srgbClr val="8A8375"/>
                </a:solidFill>
                <a:latin typeface="Arial" pitchFamily="34" charset="0"/>
                <a:ea typeface="Arial" pitchFamily="34" charset="-122"/>
                <a:cs typeface="Arial" pitchFamily="34" charset="-120"/>
              </a:rPr>
              <a:t>Σ = current symbol set · 𝒞 = training corpus · new symbol s = a⋅b added to Σ</a:t>
            </a:r>
            <a:endParaRPr lang="en-US" sz="1950" dirty="0"/>
          </a:p>
        </p:txBody>
      </p:sp>
      <p:sp>
        <p:nvSpPr>
          <p:cNvPr id="13" name="Text 11"/>
          <p:cNvSpPr/>
          <p:nvPr/>
        </p:nvSpPr>
        <p:spPr>
          <a:xfrm>
            <a:off x="9906000" y="4908352"/>
            <a:ext cx="745617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SAME RECIPE · THREE PANTRIES</a:t>
            </a:r>
            <a:endParaRPr lang="en-US" sz="1800" dirty="0"/>
          </a:p>
        </p:txBody>
      </p:sp>
      <p:sp>
        <p:nvSpPr>
          <p:cNvPr id="14" name="Shape 12"/>
          <p:cNvSpPr/>
          <p:nvPr/>
        </p:nvSpPr>
        <p:spPr>
          <a:xfrm>
            <a:off x="9906000" y="5623322"/>
            <a:ext cx="133350" cy="133350"/>
          </a:xfrm>
          <a:prstGeom prst="roundRect">
            <a:avLst>
              <a:gd name="adj" fmla="val 21429"/>
            </a:avLst>
          </a:prstGeom>
          <a:solidFill>
            <a:srgbClr val="2457A8"/>
          </a:solidFill>
          <a:ln/>
        </p:spPr>
      </p:sp>
      <p:sp>
        <p:nvSpPr>
          <p:cNvPr id="15" name="Text 13"/>
          <p:cNvSpPr/>
          <p:nvPr/>
        </p:nvSpPr>
        <p:spPr>
          <a:xfrm>
            <a:off x="10134600" y="5552361"/>
            <a:ext cx="1443276" cy="312420"/>
          </a:xfrm>
          <a:prstGeom prst="rect">
            <a:avLst/>
          </a:prstGeom>
          <a:noFill/>
          <a:ln/>
        </p:spPr>
        <p:txBody>
          <a:bodyPr wrap="square" lIns="0" tIns="0" rIns="0" bIns="0" rtlCol="0" anchor="t">
            <a:normAutofit/>
          </a:bodyPr>
          <a:lstStyle/>
          <a:p>
            <a:pPr algn="l" indent="0" marL="0">
              <a:lnSpc>
                <a:spcPct val="142000"/>
              </a:lnSpc>
              <a:buNone/>
            </a:pPr>
            <a:r>
              <a:rPr lang="en-US" sz="1950" spc="39" kern="0" dirty="0">
                <a:solidFill>
                  <a:srgbClr val="3E3A33"/>
                </a:solidFill>
                <a:latin typeface="Arial" pitchFamily="34" charset="0"/>
                <a:ea typeface="Arial" pitchFamily="34" charset="-122"/>
                <a:cs typeface="Arial" pitchFamily="34" charset="-120"/>
              </a:rPr>
              <a:t>wikitext‑103</a:t>
            </a:r>
            <a:endParaRPr lang="en-US" sz="1950" dirty="0"/>
          </a:p>
        </p:txBody>
      </p:sp>
      <p:sp>
        <p:nvSpPr>
          <p:cNvPr id="16" name="Shape 14"/>
          <p:cNvSpPr/>
          <p:nvPr/>
        </p:nvSpPr>
        <p:spPr>
          <a:xfrm>
            <a:off x="11772900" y="5499616"/>
            <a:ext cx="561737" cy="381000"/>
          </a:xfrm>
          <a:prstGeom prst="roundRect">
            <a:avLst>
              <a:gd name="adj" fmla="val 10000"/>
            </a:avLst>
          </a:prstGeom>
          <a:solidFill>
            <a:srgbClr val="E3EAF5"/>
          </a:solidFill>
          <a:ln w="7620">
            <a:solidFill>
              <a:srgbClr val="2457A8">
                <a:alpha val="30000"/>
              </a:srgbClr>
            </a:solidFill>
            <a:prstDash val="solid"/>
          </a:ln>
        </p:spPr>
      </p:sp>
      <p:sp>
        <p:nvSpPr>
          <p:cNvPr id="17" name="Text 15"/>
          <p:cNvSpPr/>
          <p:nvPr/>
        </p:nvSpPr>
        <p:spPr>
          <a:xfrm>
            <a:off x="11894820" y="5564386"/>
            <a:ext cx="394097" cy="289560"/>
          </a:xfrm>
          <a:prstGeom prst="rect">
            <a:avLst/>
          </a:prstGeom>
          <a:noFill/>
          <a:ln/>
        </p:spPr>
        <p:txBody>
          <a:bodyPr wrap="square" lIns="25400" tIns="25400" rIns="25400" bIns="25400" rtlCol="0" anchor="t">
            <a:normAutofit/>
          </a:bodyPr>
          <a:lstStyle/>
          <a:p>
            <a:pPr algn="l" indent="0" marL="0">
              <a:lnSpc>
                <a:spcPct val="110000"/>
              </a:lnSpc>
              <a:buNone/>
            </a:pPr>
            <a:r>
              <a:rPr lang="en-US" sz="1800" dirty="0">
                <a:solidFill>
                  <a:srgbClr val="173876"/>
                </a:solidFill>
                <a:latin typeface="Arial" pitchFamily="34" charset="0"/>
                <a:ea typeface="Arial" pitchFamily="34" charset="-122"/>
                <a:cs typeface="Arial" pitchFamily="34" charset="-120"/>
              </a:rPr>
              <a:t>the</a:t>
            </a:r>
            <a:endParaRPr lang="en-US" sz="1800" dirty="0"/>
          </a:p>
        </p:txBody>
      </p:sp>
      <p:sp>
        <p:nvSpPr>
          <p:cNvPr id="18" name="Shape 16"/>
          <p:cNvSpPr/>
          <p:nvPr/>
        </p:nvSpPr>
        <p:spPr>
          <a:xfrm>
            <a:off x="12398216" y="5499616"/>
            <a:ext cx="625316" cy="381000"/>
          </a:xfrm>
          <a:prstGeom prst="roundRect">
            <a:avLst>
              <a:gd name="adj" fmla="val 10000"/>
            </a:avLst>
          </a:prstGeom>
          <a:solidFill>
            <a:srgbClr val="E3EAF5"/>
          </a:solidFill>
          <a:ln w="7620">
            <a:solidFill>
              <a:srgbClr val="2457A8">
                <a:alpha val="30000"/>
              </a:srgbClr>
            </a:solidFill>
            <a:prstDash val="solid"/>
          </a:ln>
        </p:spPr>
      </p:sp>
      <p:sp>
        <p:nvSpPr>
          <p:cNvPr id="19" name="Text 17"/>
          <p:cNvSpPr/>
          <p:nvPr/>
        </p:nvSpPr>
        <p:spPr>
          <a:xfrm>
            <a:off x="12520136" y="5564386"/>
            <a:ext cx="457676" cy="289560"/>
          </a:xfrm>
          <a:prstGeom prst="rect">
            <a:avLst/>
          </a:prstGeom>
          <a:noFill/>
          <a:ln/>
        </p:spPr>
        <p:txBody>
          <a:bodyPr wrap="square" lIns="25400" tIns="25400" rIns="25400" bIns="25400" rtlCol="0" anchor="t">
            <a:normAutofit/>
          </a:bodyPr>
          <a:lstStyle/>
          <a:p>
            <a:pPr algn="l" indent="0" marL="0">
              <a:lnSpc>
                <a:spcPct val="110000"/>
              </a:lnSpc>
              <a:buNone/>
            </a:pPr>
            <a:r>
              <a:rPr lang="en-US" sz="1800" dirty="0">
                <a:solidFill>
                  <a:srgbClr val="173876"/>
                </a:solidFill>
                <a:latin typeface="Arial" pitchFamily="34" charset="0"/>
                <a:ea typeface="Arial" pitchFamily="34" charset="-122"/>
                <a:cs typeface="Arial" pitchFamily="34" charset="-120"/>
              </a:rPr>
              <a:t>and</a:t>
            </a:r>
            <a:endParaRPr lang="en-US" sz="1800" dirty="0"/>
          </a:p>
        </p:txBody>
      </p:sp>
      <p:sp>
        <p:nvSpPr>
          <p:cNvPr id="20" name="Shape 18"/>
          <p:cNvSpPr/>
          <p:nvPr/>
        </p:nvSpPr>
        <p:spPr>
          <a:xfrm>
            <a:off x="13087112" y="5499616"/>
            <a:ext cx="612458" cy="381000"/>
          </a:xfrm>
          <a:prstGeom prst="roundRect">
            <a:avLst>
              <a:gd name="adj" fmla="val 10000"/>
            </a:avLst>
          </a:prstGeom>
          <a:solidFill>
            <a:srgbClr val="E3EAF5"/>
          </a:solidFill>
          <a:ln w="7620">
            <a:solidFill>
              <a:srgbClr val="2457A8">
                <a:alpha val="30000"/>
              </a:srgbClr>
            </a:solidFill>
            <a:prstDash val="solid"/>
          </a:ln>
        </p:spPr>
      </p:sp>
      <p:sp>
        <p:nvSpPr>
          <p:cNvPr id="21" name="Text 19"/>
          <p:cNvSpPr/>
          <p:nvPr/>
        </p:nvSpPr>
        <p:spPr>
          <a:xfrm>
            <a:off x="13209032" y="5564386"/>
            <a:ext cx="444818" cy="289560"/>
          </a:xfrm>
          <a:prstGeom prst="rect">
            <a:avLst/>
          </a:prstGeom>
          <a:noFill/>
          <a:ln/>
        </p:spPr>
        <p:txBody>
          <a:bodyPr wrap="square" lIns="25400" tIns="25400" rIns="25400" bIns="25400" rtlCol="0" anchor="t">
            <a:normAutofit/>
          </a:bodyPr>
          <a:lstStyle/>
          <a:p>
            <a:pPr algn="l" indent="0" marL="0">
              <a:lnSpc>
                <a:spcPct val="110000"/>
              </a:lnSpc>
              <a:buNone/>
            </a:pPr>
            <a:r>
              <a:rPr lang="en-US" sz="1800" dirty="0">
                <a:solidFill>
                  <a:srgbClr val="173876"/>
                </a:solidFill>
                <a:latin typeface="Arial" pitchFamily="34" charset="0"/>
                <a:ea typeface="Arial" pitchFamily="34" charset="-122"/>
                <a:cs typeface="Arial" pitchFamily="34" charset="-120"/>
              </a:rPr>
              <a:t>tion</a:t>
            </a:r>
            <a:endParaRPr lang="en-US" sz="1800" dirty="0"/>
          </a:p>
        </p:txBody>
      </p:sp>
      <p:sp>
        <p:nvSpPr>
          <p:cNvPr id="22" name="Shape 20"/>
          <p:cNvSpPr/>
          <p:nvPr/>
        </p:nvSpPr>
        <p:spPr>
          <a:xfrm>
            <a:off x="13763149" y="5499616"/>
            <a:ext cx="625316" cy="381000"/>
          </a:xfrm>
          <a:prstGeom prst="roundRect">
            <a:avLst>
              <a:gd name="adj" fmla="val 10000"/>
            </a:avLst>
          </a:prstGeom>
          <a:solidFill>
            <a:srgbClr val="E3EAF5"/>
          </a:solidFill>
          <a:ln w="7620">
            <a:solidFill>
              <a:srgbClr val="2457A8">
                <a:alpha val="30000"/>
              </a:srgbClr>
            </a:solidFill>
            <a:prstDash val="solid"/>
          </a:ln>
        </p:spPr>
      </p:sp>
      <p:sp>
        <p:nvSpPr>
          <p:cNvPr id="23" name="Text 21"/>
          <p:cNvSpPr/>
          <p:nvPr/>
        </p:nvSpPr>
        <p:spPr>
          <a:xfrm>
            <a:off x="13885069" y="5564386"/>
            <a:ext cx="457676" cy="289560"/>
          </a:xfrm>
          <a:prstGeom prst="rect">
            <a:avLst/>
          </a:prstGeom>
          <a:noFill/>
          <a:ln/>
        </p:spPr>
        <p:txBody>
          <a:bodyPr wrap="square" lIns="25400" tIns="25400" rIns="25400" bIns="25400" rtlCol="0" anchor="t">
            <a:normAutofit/>
          </a:bodyPr>
          <a:lstStyle/>
          <a:p>
            <a:pPr algn="l" indent="0" marL="0">
              <a:lnSpc>
                <a:spcPct val="110000"/>
              </a:lnSpc>
              <a:buNone/>
            </a:pPr>
            <a:r>
              <a:rPr lang="en-US" sz="1800" dirty="0">
                <a:solidFill>
                  <a:srgbClr val="173876"/>
                </a:solidFill>
                <a:latin typeface="Arial" pitchFamily="34" charset="0"/>
                <a:ea typeface="Arial" pitchFamily="34" charset="-122"/>
                <a:cs typeface="Arial" pitchFamily="34" charset="-120"/>
              </a:rPr>
              <a:t>ed_</a:t>
            </a:r>
            <a:endParaRPr lang="en-US" sz="1800" dirty="0"/>
          </a:p>
        </p:txBody>
      </p:sp>
      <p:sp>
        <p:nvSpPr>
          <p:cNvPr id="24" name="Shape 22"/>
          <p:cNvSpPr/>
          <p:nvPr/>
        </p:nvSpPr>
        <p:spPr>
          <a:xfrm>
            <a:off x="9906000" y="6175772"/>
            <a:ext cx="133350" cy="133350"/>
          </a:xfrm>
          <a:prstGeom prst="roundRect">
            <a:avLst>
              <a:gd name="adj" fmla="val 21429"/>
            </a:avLst>
          </a:prstGeom>
          <a:solidFill>
            <a:srgbClr val="B6351D"/>
          </a:solidFill>
          <a:ln/>
        </p:spPr>
      </p:sp>
      <p:sp>
        <p:nvSpPr>
          <p:cNvPr id="25" name="Text 23"/>
          <p:cNvSpPr/>
          <p:nvPr/>
        </p:nvSpPr>
        <p:spPr>
          <a:xfrm>
            <a:off x="10134600" y="6104811"/>
            <a:ext cx="1028343" cy="312420"/>
          </a:xfrm>
          <a:prstGeom prst="rect">
            <a:avLst/>
          </a:prstGeom>
          <a:noFill/>
          <a:ln/>
        </p:spPr>
        <p:txBody>
          <a:bodyPr wrap="square" lIns="0" tIns="0" rIns="0" bIns="0" rtlCol="0" anchor="t">
            <a:normAutofit/>
          </a:bodyPr>
          <a:lstStyle/>
          <a:p>
            <a:pPr algn="l" indent="0" marL="0">
              <a:lnSpc>
                <a:spcPct val="142000"/>
              </a:lnSpc>
              <a:buNone/>
            </a:pPr>
            <a:r>
              <a:rPr lang="en-US" sz="1950" spc="39" kern="0" dirty="0">
                <a:solidFill>
                  <a:srgbClr val="3E3A33"/>
                </a:solidFill>
                <a:latin typeface="Arial" pitchFamily="34" charset="0"/>
                <a:ea typeface="Arial" pitchFamily="34" charset="-122"/>
                <a:cs typeface="Arial" pitchFamily="34" charset="-120"/>
              </a:rPr>
              <a:t>PubMed</a:t>
            </a:r>
            <a:endParaRPr lang="en-US" sz="1950" dirty="0"/>
          </a:p>
        </p:txBody>
      </p:sp>
      <p:sp>
        <p:nvSpPr>
          <p:cNvPr id="26" name="Shape 24"/>
          <p:cNvSpPr/>
          <p:nvPr/>
        </p:nvSpPr>
        <p:spPr>
          <a:xfrm>
            <a:off x="11772900" y="6052066"/>
            <a:ext cx="968097" cy="381000"/>
          </a:xfrm>
          <a:prstGeom prst="roundRect">
            <a:avLst>
              <a:gd name="adj" fmla="val 10000"/>
            </a:avLst>
          </a:prstGeom>
          <a:solidFill>
            <a:srgbClr val="F3DFD7"/>
          </a:solidFill>
          <a:ln w="7620">
            <a:solidFill>
              <a:srgbClr val="B6351D">
                <a:alpha val="30000"/>
              </a:srgbClr>
            </a:solidFill>
            <a:prstDash val="solid"/>
          </a:ln>
        </p:spPr>
      </p:sp>
      <p:sp>
        <p:nvSpPr>
          <p:cNvPr id="27" name="Text 25"/>
          <p:cNvSpPr/>
          <p:nvPr/>
        </p:nvSpPr>
        <p:spPr>
          <a:xfrm>
            <a:off x="11894820" y="6116836"/>
            <a:ext cx="800457" cy="289560"/>
          </a:xfrm>
          <a:prstGeom prst="rect">
            <a:avLst/>
          </a:prstGeom>
          <a:noFill/>
          <a:ln/>
        </p:spPr>
        <p:txBody>
          <a:bodyPr wrap="square" lIns="25400" tIns="25400" rIns="25400" bIns="25400" rtlCol="0" anchor="t">
            <a:normAutofit/>
          </a:bodyPr>
          <a:lstStyle/>
          <a:p>
            <a:pPr algn="l" indent="0" marL="0">
              <a:lnSpc>
                <a:spcPct val="110000"/>
              </a:lnSpc>
              <a:buNone/>
            </a:pPr>
            <a:r>
              <a:rPr lang="en-US" sz="1800" dirty="0">
                <a:solidFill>
                  <a:srgbClr val="7A2212"/>
                </a:solidFill>
                <a:latin typeface="Arial" pitchFamily="34" charset="0"/>
                <a:ea typeface="Arial" pitchFamily="34" charset="-122"/>
                <a:cs typeface="Arial" pitchFamily="34" charset="-120"/>
              </a:rPr>
              <a:t>cellular</a:t>
            </a:r>
            <a:endParaRPr lang="en-US" sz="1800" dirty="0"/>
          </a:p>
        </p:txBody>
      </p:sp>
      <p:sp>
        <p:nvSpPr>
          <p:cNvPr id="28" name="Shape 26"/>
          <p:cNvSpPr/>
          <p:nvPr/>
        </p:nvSpPr>
        <p:spPr>
          <a:xfrm>
            <a:off x="12804577" y="6052066"/>
            <a:ext cx="929878" cy="381000"/>
          </a:xfrm>
          <a:prstGeom prst="roundRect">
            <a:avLst>
              <a:gd name="adj" fmla="val 10000"/>
            </a:avLst>
          </a:prstGeom>
          <a:solidFill>
            <a:srgbClr val="F3DFD7"/>
          </a:solidFill>
          <a:ln w="7620">
            <a:solidFill>
              <a:srgbClr val="B6351D">
                <a:alpha val="30000"/>
              </a:srgbClr>
            </a:solidFill>
            <a:prstDash val="solid"/>
          </a:ln>
        </p:spPr>
      </p:sp>
      <p:sp>
        <p:nvSpPr>
          <p:cNvPr id="29" name="Text 27"/>
          <p:cNvSpPr/>
          <p:nvPr/>
        </p:nvSpPr>
        <p:spPr>
          <a:xfrm>
            <a:off x="12926497" y="6116836"/>
            <a:ext cx="762238" cy="289560"/>
          </a:xfrm>
          <a:prstGeom prst="rect">
            <a:avLst/>
          </a:prstGeom>
          <a:noFill/>
          <a:ln/>
        </p:spPr>
        <p:txBody>
          <a:bodyPr wrap="square" lIns="25400" tIns="25400" rIns="25400" bIns="25400" rtlCol="0" anchor="t">
            <a:normAutofit/>
          </a:bodyPr>
          <a:lstStyle/>
          <a:p>
            <a:pPr algn="l" indent="0" marL="0">
              <a:lnSpc>
                <a:spcPct val="110000"/>
              </a:lnSpc>
              <a:buNone/>
            </a:pPr>
            <a:r>
              <a:rPr lang="en-US" sz="1800" dirty="0">
                <a:solidFill>
                  <a:srgbClr val="7A2212"/>
                </a:solidFill>
                <a:latin typeface="Arial" pitchFamily="34" charset="0"/>
                <a:ea typeface="Arial" pitchFamily="34" charset="-122"/>
                <a:cs typeface="Arial" pitchFamily="34" charset="-120"/>
              </a:rPr>
              <a:t>clinical</a:t>
            </a:r>
            <a:endParaRPr lang="en-US" sz="1800" dirty="0"/>
          </a:p>
        </p:txBody>
      </p:sp>
      <p:sp>
        <p:nvSpPr>
          <p:cNvPr id="30" name="Shape 28"/>
          <p:cNvSpPr/>
          <p:nvPr/>
        </p:nvSpPr>
        <p:spPr>
          <a:xfrm>
            <a:off x="13798035" y="6052066"/>
            <a:ext cx="930235" cy="381000"/>
          </a:xfrm>
          <a:prstGeom prst="roundRect">
            <a:avLst>
              <a:gd name="adj" fmla="val 10000"/>
            </a:avLst>
          </a:prstGeom>
          <a:solidFill>
            <a:srgbClr val="F3DFD7"/>
          </a:solidFill>
          <a:ln w="7620">
            <a:solidFill>
              <a:srgbClr val="B6351D">
                <a:alpha val="30000"/>
              </a:srgbClr>
            </a:solidFill>
            <a:prstDash val="solid"/>
          </a:ln>
        </p:spPr>
      </p:sp>
      <p:sp>
        <p:nvSpPr>
          <p:cNvPr id="31" name="Text 29"/>
          <p:cNvSpPr/>
          <p:nvPr/>
        </p:nvSpPr>
        <p:spPr>
          <a:xfrm>
            <a:off x="13919955" y="6116836"/>
            <a:ext cx="762595" cy="289560"/>
          </a:xfrm>
          <a:prstGeom prst="rect">
            <a:avLst/>
          </a:prstGeom>
          <a:noFill/>
          <a:ln/>
        </p:spPr>
        <p:txBody>
          <a:bodyPr wrap="square" lIns="25400" tIns="25400" rIns="25400" bIns="25400" rtlCol="0" anchor="t">
            <a:normAutofit/>
          </a:bodyPr>
          <a:lstStyle/>
          <a:p>
            <a:pPr algn="l" indent="0" marL="0">
              <a:lnSpc>
                <a:spcPct val="110000"/>
              </a:lnSpc>
              <a:buNone/>
            </a:pPr>
            <a:r>
              <a:rPr lang="en-US" sz="1800" dirty="0">
                <a:solidFill>
                  <a:srgbClr val="7A2212"/>
                </a:solidFill>
                <a:latin typeface="Arial" pitchFamily="34" charset="0"/>
                <a:ea typeface="Arial" pitchFamily="34" charset="-122"/>
                <a:cs typeface="Arial" pitchFamily="34" charset="-120"/>
              </a:rPr>
              <a:t>patient</a:t>
            </a:r>
            <a:endParaRPr lang="en-US" sz="1800" dirty="0"/>
          </a:p>
        </p:txBody>
      </p:sp>
      <p:sp>
        <p:nvSpPr>
          <p:cNvPr id="32" name="Shape 30"/>
          <p:cNvSpPr/>
          <p:nvPr/>
        </p:nvSpPr>
        <p:spPr>
          <a:xfrm>
            <a:off x="9906000" y="6728222"/>
            <a:ext cx="133350" cy="133350"/>
          </a:xfrm>
          <a:prstGeom prst="roundRect">
            <a:avLst>
              <a:gd name="adj" fmla="val 21429"/>
            </a:avLst>
          </a:prstGeom>
          <a:solidFill>
            <a:srgbClr val="C28B1F"/>
          </a:solidFill>
          <a:ln/>
        </p:spPr>
      </p:sp>
      <p:sp>
        <p:nvSpPr>
          <p:cNvPr id="33" name="Text 31"/>
          <p:cNvSpPr/>
          <p:nvPr/>
        </p:nvSpPr>
        <p:spPr>
          <a:xfrm>
            <a:off x="10134600" y="6657261"/>
            <a:ext cx="1441967" cy="312420"/>
          </a:xfrm>
          <a:prstGeom prst="rect">
            <a:avLst/>
          </a:prstGeom>
          <a:noFill/>
          <a:ln/>
        </p:spPr>
        <p:txBody>
          <a:bodyPr wrap="square" lIns="0" tIns="0" rIns="0" bIns="0" rtlCol="0" anchor="t">
            <a:normAutofit/>
          </a:bodyPr>
          <a:lstStyle/>
          <a:p>
            <a:pPr algn="l" indent="0" marL="0">
              <a:lnSpc>
                <a:spcPct val="142000"/>
              </a:lnSpc>
              <a:buNone/>
            </a:pPr>
            <a:r>
              <a:rPr lang="en-US" sz="1950" spc="39" kern="0" dirty="0">
                <a:solidFill>
                  <a:srgbClr val="3E3A33"/>
                </a:solidFill>
                <a:latin typeface="Arial" pitchFamily="34" charset="0"/>
                <a:ea typeface="Arial" pitchFamily="34" charset="-122"/>
                <a:cs typeface="Arial" pitchFamily="34" charset="-120"/>
              </a:rPr>
              <a:t>MTSamples</a:t>
            </a:r>
            <a:endParaRPr lang="en-US" sz="1950" dirty="0"/>
          </a:p>
        </p:txBody>
      </p:sp>
      <p:sp>
        <p:nvSpPr>
          <p:cNvPr id="34" name="Shape 32"/>
          <p:cNvSpPr/>
          <p:nvPr/>
        </p:nvSpPr>
        <p:spPr>
          <a:xfrm>
            <a:off x="11772900" y="6604516"/>
            <a:ext cx="434578" cy="381000"/>
          </a:xfrm>
          <a:prstGeom prst="roundRect">
            <a:avLst>
              <a:gd name="adj" fmla="val 10000"/>
            </a:avLst>
          </a:prstGeom>
          <a:solidFill>
            <a:srgbClr val="F2E4C5"/>
          </a:solidFill>
          <a:ln w="7620">
            <a:solidFill>
              <a:srgbClr val="C28B1F">
                <a:alpha val="35000"/>
              </a:srgbClr>
            </a:solidFill>
            <a:prstDash val="solid"/>
          </a:ln>
        </p:spPr>
      </p:sp>
      <p:sp>
        <p:nvSpPr>
          <p:cNvPr id="35" name="Text 33"/>
          <p:cNvSpPr/>
          <p:nvPr/>
        </p:nvSpPr>
        <p:spPr>
          <a:xfrm>
            <a:off x="11894820" y="6669286"/>
            <a:ext cx="266938" cy="289560"/>
          </a:xfrm>
          <a:prstGeom prst="rect">
            <a:avLst/>
          </a:prstGeom>
          <a:noFill/>
          <a:ln/>
        </p:spPr>
        <p:txBody>
          <a:bodyPr wrap="square" lIns="25400" tIns="25400" rIns="25400" bIns="25400" rtlCol="0" anchor="t">
            <a:normAutofit/>
          </a:bodyPr>
          <a:lstStyle/>
          <a:p>
            <a:pPr algn="l" indent="0" marL="0">
              <a:lnSpc>
                <a:spcPct val="110000"/>
              </a:lnSpc>
              <a:buNone/>
            </a:pPr>
            <a:r>
              <a:rPr lang="en-US" sz="1800" dirty="0">
                <a:solidFill>
                  <a:srgbClr val="6E4C0E"/>
                </a:solidFill>
                <a:latin typeface="Arial" pitchFamily="34" charset="0"/>
                <a:ea typeface="Arial" pitchFamily="34" charset="-122"/>
                <a:cs typeface="Arial" pitchFamily="34" charset="-120"/>
              </a:rPr>
              <a:t>pt</a:t>
            </a:r>
            <a:endParaRPr lang="en-US" sz="1800" dirty="0"/>
          </a:p>
        </p:txBody>
      </p:sp>
      <p:sp>
        <p:nvSpPr>
          <p:cNvPr id="36" name="Shape 34"/>
          <p:cNvSpPr/>
          <p:nvPr/>
        </p:nvSpPr>
        <p:spPr>
          <a:xfrm>
            <a:off x="12271058" y="6604516"/>
            <a:ext cx="548878" cy="381000"/>
          </a:xfrm>
          <a:prstGeom prst="roundRect">
            <a:avLst>
              <a:gd name="adj" fmla="val 10000"/>
            </a:avLst>
          </a:prstGeom>
          <a:solidFill>
            <a:srgbClr val="F2E4C5"/>
          </a:solidFill>
          <a:ln w="7620">
            <a:solidFill>
              <a:srgbClr val="C28B1F">
                <a:alpha val="35000"/>
              </a:srgbClr>
            </a:solidFill>
            <a:prstDash val="solid"/>
          </a:ln>
        </p:spPr>
      </p:sp>
      <p:sp>
        <p:nvSpPr>
          <p:cNvPr id="37" name="Text 35"/>
          <p:cNvSpPr/>
          <p:nvPr/>
        </p:nvSpPr>
        <p:spPr>
          <a:xfrm>
            <a:off x="12392978" y="6669286"/>
            <a:ext cx="381238" cy="289560"/>
          </a:xfrm>
          <a:prstGeom prst="rect">
            <a:avLst/>
          </a:prstGeom>
          <a:noFill/>
          <a:ln/>
        </p:spPr>
        <p:txBody>
          <a:bodyPr wrap="square" lIns="25400" tIns="25400" rIns="25400" bIns="25400" rtlCol="0" anchor="t">
            <a:normAutofit/>
          </a:bodyPr>
          <a:lstStyle/>
          <a:p>
            <a:pPr algn="l" indent="0" marL="0">
              <a:lnSpc>
                <a:spcPct val="110000"/>
              </a:lnSpc>
              <a:buNone/>
            </a:pPr>
            <a:r>
              <a:rPr lang="en-US" sz="1800" dirty="0">
                <a:solidFill>
                  <a:srgbClr val="6E4C0E"/>
                </a:solidFill>
                <a:latin typeface="Arial" pitchFamily="34" charset="0"/>
                <a:ea typeface="Arial" pitchFamily="34" charset="-122"/>
                <a:cs typeface="Arial" pitchFamily="34" charset="-120"/>
              </a:rPr>
              <a:t>y/o</a:t>
            </a:r>
            <a:endParaRPr lang="en-US" sz="1800" dirty="0"/>
          </a:p>
        </p:txBody>
      </p:sp>
      <p:sp>
        <p:nvSpPr>
          <p:cNvPr id="38" name="Shape 36"/>
          <p:cNvSpPr/>
          <p:nvPr/>
        </p:nvSpPr>
        <p:spPr>
          <a:xfrm>
            <a:off x="12883515" y="6604516"/>
            <a:ext cx="1616392" cy="381000"/>
          </a:xfrm>
          <a:prstGeom prst="roundRect">
            <a:avLst>
              <a:gd name="adj" fmla="val 10000"/>
            </a:avLst>
          </a:prstGeom>
          <a:solidFill>
            <a:srgbClr val="F2E4C5"/>
          </a:solidFill>
          <a:ln w="7620">
            <a:solidFill>
              <a:srgbClr val="C28B1F">
                <a:alpha val="35000"/>
              </a:srgbClr>
            </a:solidFill>
            <a:prstDash val="solid"/>
          </a:ln>
        </p:spPr>
      </p:sp>
      <p:sp>
        <p:nvSpPr>
          <p:cNvPr id="39" name="Text 37"/>
          <p:cNvSpPr/>
          <p:nvPr/>
        </p:nvSpPr>
        <p:spPr>
          <a:xfrm>
            <a:off x="13005435" y="6669286"/>
            <a:ext cx="1448752" cy="289560"/>
          </a:xfrm>
          <a:prstGeom prst="rect">
            <a:avLst/>
          </a:prstGeom>
          <a:noFill/>
          <a:ln/>
        </p:spPr>
        <p:txBody>
          <a:bodyPr wrap="square" lIns="25400" tIns="25400" rIns="25400" bIns="25400" rtlCol="0" anchor="t">
            <a:normAutofit/>
          </a:bodyPr>
          <a:lstStyle/>
          <a:p>
            <a:pPr algn="l" indent="0" marL="0">
              <a:lnSpc>
                <a:spcPct val="110000"/>
              </a:lnSpc>
              <a:buNone/>
            </a:pPr>
            <a:r>
              <a:rPr lang="en-US" sz="1800" dirty="0">
                <a:solidFill>
                  <a:srgbClr val="6E4C0E"/>
                </a:solidFill>
                <a:latin typeface="Arial" pitchFamily="34" charset="0"/>
                <a:ea typeface="Arial" pitchFamily="34" charset="-122"/>
                <a:cs typeface="Arial" pitchFamily="34" charset="-120"/>
              </a:rPr>
              <a:t>postoperative</a:t>
            </a:r>
            <a:endParaRPr lang="en-US" sz="1800" dirty="0"/>
          </a:p>
        </p:txBody>
      </p:sp>
      <p:sp>
        <p:nvSpPr>
          <p:cNvPr id="40" name="Text 38"/>
          <p:cNvSpPr/>
          <p:nvPr/>
        </p:nvSpPr>
        <p:spPr>
          <a:xfrm>
            <a:off x="11772900" y="7195066"/>
            <a:ext cx="3826438" cy="335637"/>
          </a:xfrm>
          <a:prstGeom prst="rect">
            <a:avLst/>
          </a:prstGeom>
          <a:noFill/>
          <a:ln/>
        </p:spPr>
        <p:txBody>
          <a:bodyPr wrap="square" lIns="25400" tIns="25400" rIns="25400" bIns="25400" rtlCol="0" anchor="t">
            <a:normAutofit/>
          </a:bodyPr>
          <a:lstStyle/>
          <a:p>
            <a:pPr algn="l" indent="0" marL="0">
              <a:lnSpc>
                <a:spcPct val="142000"/>
              </a:lnSpc>
              <a:buNone/>
            </a:pPr>
            <a:r>
              <a:rPr lang="en-US" sz="1650" i="1" dirty="0">
                <a:solidFill>
                  <a:srgbClr val="8A8375"/>
                </a:solidFill>
                <a:latin typeface="Arial" pitchFamily="34" charset="0"/>
                <a:ea typeface="Arial" pitchFamily="34" charset="-122"/>
                <a:cs typeface="Arial" pitchFamily="34" charset="-120"/>
              </a:rPr>
              <a:t>all three reach ~9,743 merges at V = 10,000</a:t>
            </a:r>
            <a:endParaRPr lang="en-US" sz="1650" dirty="0"/>
          </a:p>
        </p:txBody>
      </p:sp>
      <p:sp>
        <p:nvSpPr>
          <p:cNvPr id="41" name="Shape 39"/>
          <p:cNvSpPr/>
          <p:nvPr/>
        </p:nvSpPr>
        <p:spPr>
          <a:xfrm>
            <a:off x="9906000" y="7835503"/>
            <a:ext cx="7239000" cy="1535430"/>
          </a:xfrm>
          <a:prstGeom prst="rect">
            <a:avLst/>
          </a:prstGeom>
          <a:solidFill>
            <a:srgbClr val="F2ECDE"/>
          </a:solidFill>
          <a:ln/>
        </p:spPr>
      </p:sp>
      <p:sp>
        <p:nvSpPr>
          <p:cNvPr id="42" name="Shape 40"/>
          <p:cNvSpPr/>
          <p:nvPr/>
        </p:nvSpPr>
        <p:spPr>
          <a:xfrm>
            <a:off x="9906000" y="7835503"/>
            <a:ext cx="38100" cy="1535430"/>
          </a:xfrm>
          <a:prstGeom prst="rect">
            <a:avLst/>
          </a:prstGeom>
          <a:solidFill>
            <a:srgbClr val="1A1A1A"/>
          </a:solidFill>
          <a:ln/>
        </p:spPr>
      </p:sp>
      <p:sp>
        <p:nvSpPr>
          <p:cNvPr id="43" name="Text 41"/>
          <p:cNvSpPr/>
          <p:nvPr/>
        </p:nvSpPr>
        <p:spPr>
          <a:xfrm>
            <a:off x="10248900" y="8083153"/>
            <a:ext cx="6789039" cy="1078230"/>
          </a:xfrm>
          <a:prstGeom prst="rect">
            <a:avLst/>
          </a:prstGeom>
          <a:noFill/>
          <a:ln/>
        </p:spPr>
        <p:txBody>
          <a:bodyPr wrap="square" lIns="25400" tIns="25400" rIns="25400" bIns="25400" rtlCol="0" anchor="t">
            <a:normAutofit/>
          </a:bodyPr>
          <a:lstStyle/>
          <a:p>
            <a:pPr algn="l" indent="0" marL="0">
              <a:lnSpc>
                <a:spcPct val="140000"/>
              </a:lnSpc>
              <a:buNone/>
            </a:pPr>
            <a:r>
              <a:rPr lang="en-US" sz="1950" i="1" dirty="0">
                <a:solidFill>
                  <a:srgbClr val="1A1A1A"/>
                </a:solidFill>
                <a:latin typeface="Arial" pitchFamily="34" charset="0"/>
                <a:ea typeface="Arial" pitchFamily="34" charset="-122"/>
                <a:cs typeface="Arial" pitchFamily="34" charset="-120"/>
              </a:rPr>
              <a:t>“A BPE trained on wikitext sees </a:t>
            </a:r>
            <a:pPr algn="l" indent="0" marL="0">
              <a:lnSpc>
                <a:spcPct val="140000"/>
              </a:lnSpc>
              <a:buNone/>
            </a:pPr>
            <a:r>
              <a:rPr lang="en-US" sz="1950" i="1" dirty="0">
                <a:solidFill>
                  <a:srgbClr val="2457A8"/>
                </a:solidFill>
                <a:latin typeface="Arial" pitchFamily="34" charset="0"/>
                <a:ea typeface="Arial" pitchFamily="34" charset="-122"/>
                <a:cs typeface="Arial" pitchFamily="34" charset="-120"/>
              </a:rPr>
              <a:t>the, and, tion </a:t>
            </a:r>
            <a:pPr algn="l" indent="0" marL="0">
              <a:lnSpc>
                <a:spcPct val="140000"/>
              </a:lnSpc>
              <a:buNone/>
            </a:pPr>
            <a:r>
              <a:rPr lang="en-US" sz="1950" i="1" dirty="0">
                <a:solidFill>
                  <a:srgbClr val="1A1A1A"/>
                </a:solidFill>
                <a:latin typeface="Arial" pitchFamily="34" charset="0"/>
                <a:ea typeface="Arial" pitchFamily="34" charset="-122"/>
                <a:cs typeface="Arial" pitchFamily="34" charset="-120"/>
              </a:rPr>
              <a:t>as high-utility merges; on PubMed, </a:t>
            </a:r>
            <a:pPr algn="l" indent="0" marL="0">
              <a:lnSpc>
                <a:spcPct val="140000"/>
              </a:lnSpc>
              <a:buNone/>
            </a:pPr>
            <a:r>
              <a:rPr lang="en-US" sz="1950" i="1" dirty="0">
                <a:solidFill>
                  <a:srgbClr val="B6351D"/>
                </a:solidFill>
                <a:latin typeface="Arial" pitchFamily="34" charset="0"/>
                <a:ea typeface="Arial" pitchFamily="34" charset="-122"/>
                <a:cs typeface="Arial" pitchFamily="34" charset="-120"/>
              </a:rPr>
              <a:t>cellular, clinical, cholecystectomy </a:t>
            </a:r>
            <a:pPr algn="l" indent="0" marL="0">
              <a:lnSpc>
                <a:spcPct val="140000"/>
              </a:lnSpc>
              <a:buNone/>
            </a:pPr>
            <a:r>
              <a:rPr lang="en-US" sz="1950" i="1" dirty="0">
                <a:solidFill>
                  <a:srgbClr val="1A1A1A"/>
                </a:solidFill>
                <a:latin typeface="Arial" pitchFamily="34" charset="0"/>
                <a:ea typeface="Arial" pitchFamily="34" charset="-122"/>
                <a:cs typeface="Arial" pitchFamily="34" charset="-120"/>
              </a:rPr>
              <a:t>; on MTSamples, </a:t>
            </a:r>
            <a:pPr algn="l" indent="0" marL="0">
              <a:lnSpc>
                <a:spcPct val="140000"/>
              </a:lnSpc>
              <a:buNone/>
            </a:pPr>
            <a:r>
              <a:rPr lang="en-US" sz="1950" i="1" dirty="0">
                <a:solidFill>
                  <a:srgbClr val="C28B1F"/>
                </a:solidFill>
                <a:latin typeface="Arial" pitchFamily="34" charset="0"/>
                <a:ea typeface="Arial" pitchFamily="34" charset="-122"/>
                <a:cs typeface="Arial" pitchFamily="34" charset="-120"/>
              </a:rPr>
              <a:t>pt, y/o, postoperative</a:t>
            </a:r>
            <a:pPr algn="l" indent="0" marL="0">
              <a:lnSpc>
                <a:spcPct val="140000"/>
              </a:lnSpc>
              <a:buNone/>
            </a:pPr>
            <a:r>
              <a:rPr lang="en-US" sz="1950" i="1" dirty="0">
                <a:solidFill>
                  <a:srgbClr val="1A1A1A"/>
                </a:solidFill>
                <a:latin typeface="Arial" pitchFamily="34" charset="0"/>
                <a:ea typeface="Arial" pitchFamily="34" charset="-122"/>
                <a:cs typeface="Arial" pitchFamily="34" charset="-120"/>
              </a:rPr>
              <a:t>.”</a:t>
            </a:r>
            <a:endParaRPr lang="en-US" sz="1950" dirty="0"/>
          </a:p>
        </p:txBody>
      </p:sp>
      <p:sp>
        <p:nvSpPr>
          <p:cNvPr id="44" name="Text 42"/>
          <p:cNvSpPr/>
          <p:nvPr/>
        </p:nvSpPr>
        <p:spPr>
          <a:xfrm>
            <a:off x="16588860" y="9429036"/>
            <a:ext cx="63234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144" kern="0" dirty="0">
                <a:solidFill>
                  <a:srgbClr val="8A8375"/>
                </a:solidFill>
                <a:latin typeface="Arial" pitchFamily="34" charset="0"/>
                <a:ea typeface="Arial" pitchFamily="34" charset="-122"/>
                <a:cs typeface="Arial" pitchFamily="34" charset="-120"/>
              </a:rPr>
              <a:t>S·03</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1143000" y="533400"/>
            <a:ext cx="2168962"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 02 · METHOD</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04 </a:t>
            </a:r>
            <a:pPr algn="l" indent="0" marL="0">
              <a:lnSpc>
                <a:spcPct val="142000"/>
              </a:lnSpc>
              <a:buNone/>
            </a:pPr>
            <a:r>
              <a:rPr lang="en-US" sz="1800" spc="252" kern="0" dirty="0">
                <a:solidFill>
                  <a:srgbClr val="C9BFA8"/>
                </a:solidFill>
                <a:latin typeface="Arial" pitchFamily="34" charset="0"/>
                <a:ea typeface="Arial" pitchFamily="34" charset="-122"/>
                <a:cs typeface="Arial" pitchFamily="34" charset="-120"/>
              </a:rPr>
              <a:t>/ 15</a:t>
            </a:r>
            <a:endParaRPr lang="en-US" sz="1800" dirty="0"/>
          </a:p>
        </p:txBody>
      </p:sp>
      <p:sp>
        <p:nvSpPr>
          <p:cNvPr id="4" name="Shape 2"/>
          <p:cNvSpPr/>
          <p:nvPr/>
        </p:nvSpPr>
        <p:spPr>
          <a:xfrm>
            <a:off x="1143000" y="2095500"/>
            <a:ext cx="914400" cy="9525"/>
          </a:xfrm>
          <a:prstGeom prst="rect">
            <a:avLst/>
          </a:prstGeom>
          <a:solidFill>
            <a:srgbClr val="C9BFA8"/>
          </a:solidFill>
          <a:ln/>
        </p:spPr>
      </p:sp>
      <p:sp>
        <p:nvSpPr>
          <p:cNvPr id="5" name="Text 3"/>
          <p:cNvSpPr/>
          <p:nvPr/>
        </p:nvSpPr>
        <p:spPr>
          <a:xfrm>
            <a:off x="1143000" y="2484120"/>
            <a:ext cx="14716125" cy="696397"/>
          </a:xfrm>
          <a:prstGeom prst="rect">
            <a:avLst/>
          </a:prstGeom>
          <a:noFill/>
          <a:ln/>
        </p:spPr>
        <p:txBody>
          <a:bodyPr wrap="square" lIns="25400" tIns="25400" rIns="25400" bIns="25400" rtlCol="0" anchor="t">
            <a:normAutofit/>
          </a:bodyPr>
          <a:lstStyle/>
          <a:p>
            <a:pPr algn="l" indent="0" marL="0">
              <a:lnSpc>
                <a:spcPct val="108000"/>
              </a:lnSpc>
              <a:buNone/>
            </a:pPr>
            <a:r>
              <a:rPr lang="en-US" sz="4800" spc="-72" kern="0" dirty="0">
                <a:solidFill>
                  <a:srgbClr val="1A1A1A"/>
                </a:solidFill>
                <a:latin typeface="Arial" pitchFamily="34" charset="0"/>
                <a:ea typeface="Arial" pitchFamily="34" charset="-122"/>
                <a:cs typeface="Arial" pitchFamily="34" charset="-120"/>
              </a:rPr>
              <a:t>Experimental design.</a:t>
            </a:r>
            <a:endParaRPr lang="en-US" sz="4800" dirty="0"/>
          </a:p>
        </p:txBody>
      </p:sp>
      <p:sp>
        <p:nvSpPr>
          <p:cNvPr id="6" name="Text 4"/>
          <p:cNvSpPr/>
          <p:nvPr/>
        </p:nvSpPr>
        <p:spPr>
          <a:xfrm>
            <a:off x="1143000" y="3409117"/>
            <a:ext cx="13735050" cy="501015"/>
          </a:xfrm>
          <a:prstGeom prst="rect">
            <a:avLst/>
          </a:prstGeom>
          <a:noFill/>
          <a:ln/>
        </p:spPr>
        <p:txBody>
          <a:bodyPr wrap="square" lIns="25400" tIns="25400" rIns="25400" bIns="25400" rtlCol="0" anchor="t">
            <a:normAutofit/>
          </a:bodyPr>
          <a:lstStyle/>
          <a:p>
            <a:pPr algn="l" indent="0" marL="0">
              <a:lnSpc>
                <a:spcPct val="135000"/>
              </a:lnSpc>
              <a:buNone/>
            </a:pPr>
            <a:r>
              <a:rPr lang="en-US" sz="2700" dirty="0">
                <a:solidFill>
                  <a:srgbClr val="3E3A33"/>
                </a:solidFill>
                <a:latin typeface="Arial" pitchFamily="34" charset="0"/>
                <a:ea typeface="Arial" pitchFamily="34" charset="-122"/>
                <a:cs typeface="Arial" pitchFamily="34" charset="-120"/>
              </a:rPr>
              <a:t>Only the tokenizer changes. Three of them. Everything else held fixed, multi-seed.</a:t>
            </a:r>
            <a:endParaRPr lang="en-US" sz="2700" dirty="0"/>
          </a:p>
        </p:txBody>
      </p:sp>
      <p:sp>
        <p:nvSpPr>
          <p:cNvPr id="7" name="Text 5"/>
          <p:cNvSpPr/>
          <p:nvPr/>
        </p:nvSpPr>
        <p:spPr>
          <a:xfrm>
            <a:off x="1143000" y="4119682"/>
            <a:ext cx="7365176"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HELD FIXED</a:t>
            </a:r>
            <a:endParaRPr lang="en-US" sz="1800" dirty="0"/>
          </a:p>
        </p:txBody>
      </p:sp>
      <p:sp>
        <p:nvSpPr>
          <p:cNvPr id="8" name="Shape 6"/>
          <p:cNvSpPr/>
          <p:nvPr/>
        </p:nvSpPr>
        <p:spPr>
          <a:xfrm>
            <a:off x="1143000" y="5249227"/>
            <a:ext cx="3289221" cy="9525"/>
          </a:xfrm>
          <a:prstGeom prst="rect">
            <a:avLst/>
          </a:prstGeom>
          <a:solidFill>
            <a:srgbClr val="E4DCC6"/>
          </a:solidFill>
          <a:ln/>
        </p:spPr>
      </p:sp>
      <p:sp>
        <p:nvSpPr>
          <p:cNvPr id="9" name="Text 7"/>
          <p:cNvSpPr/>
          <p:nvPr/>
        </p:nvSpPr>
        <p:spPr>
          <a:xfrm>
            <a:off x="1143000" y="4806196"/>
            <a:ext cx="3159297" cy="385882"/>
          </a:xfrm>
          <a:prstGeom prst="rect">
            <a:avLst/>
          </a:prstGeom>
          <a:noFill/>
          <a:ln/>
        </p:spPr>
        <p:txBody>
          <a:bodyPr wrap="square" lIns="25400" tIns="25400" rIns="25400" bIns="25400" rtlCol="0" anchor="t">
            <a:normAutofit/>
          </a:bodyPr>
          <a:lstStyle/>
          <a:p>
            <a:pPr algn="l" indent="0" marL="0">
              <a:lnSpc>
                <a:spcPct val="142000"/>
              </a:lnSpc>
              <a:buNone/>
            </a:pPr>
            <a:r>
              <a:rPr lang="en-US" sz="1950" dirty="0">
                <a:solidFill>
                  <a:srgbClr val="3E3A33"/>
                </a:solidFill>
                <a:latin typeface="Arial" pitchFamily="34" charset="0"/>
                <a:ea typeface="Arial" pitchFamily="34" charset="-122"/>
                <a:cs typeface="Arial" pitchFamily="34" charset="-120"/>
              </a:rPr>
              <a:t>Architecture</a:t>
            </a:r>
            <a:endParaRPr lang="en-US" sz="1950" dirty="0"/>
          </a:p>
        </p:txBody>
      </p:sp>
      <p:sp>
        <p:nvSpPr>
          <p:cNvPr id="10" name="Shape 8"/>
          <p:cNvSpPr/>
          <p:nvPr/>
        </p:nvSpPr>
        <p:spPr>
          <a:xfrm>
            <a:off x="4432221" y="5249227"/>
            <a:ext cx="3861435" cy="9525"/>
          </a:xfrm>
          <a:prstGeom prst="rect">
            <a:avLst/>
          </a:prstGeom>
          <a:solidFill>
            <a:srgbClr val="E4DCC6"/>
          </a:solidFill>
          <a:ln/>
        </p:spPr>
      </p:sp>
      <p:sp>
        <p:nvSpPr>
          <p:cNvPr id="11" name="Text 9"/>
          <p:cNvSpPr/>
          <p:nvPr/>
        </p:nvSpPr>
        <p:spPr>
          <a:xfrm>
            <a:off x="4432221" y="4806196"/>
            <a:ext cx="3977278" cy="385882"/>
          </a:xfrm>
          <a:prstGeom prst="rect">
            <a:avLst/>
          </a:prstGeom>
          <a:noFill/>
          <a:ln/>
        </p:spPr>
        <p:txBody>
          <a:bodyPr wrap="square" lIns="25400" tIns="25400" rIns="25400" bIns="25400" rtlCol="0" anchor="t">
            <a:normAutofit/>
          </a:bodyPr>
          <a:lstStyle/>
          <a:p>
            <a:pPr algn="l" indent="0" marL="0">
              <a:lnSpc>
                <a:spcPct val="142000"/>
              </a:lnSpc>
              <a:buNone/>
            </a:pPr>
            <a:r>
              <a:rPr lang="en-US" sz="1500" b="1" dirty="0">
                <a:solidFill>
                  <a:srgbClr val="1A1A1A"/>
                </a:solidFill>
                <a:latin typeface="Arial" pitchFamily="34" charset="0"/>
                <a:ea typeface="Arial" pitchFamily="34" charset="-122"/>
                <a:cs typeface="Arial" pitchFamily="34" charset="-120"/>
              </a:rPr>
              <a:t>Pre-LN GPT · 6L · 8H · d=512</a:t>
            </a:r>
            <a:endParaRPr lang="en-US" sz="1500" dirty="0"/>
          </a:p>
        </p:txBody>
      </p:sp>
      <p:sp>
        <p:nvSpPr>
          <p:cNvPr id="12" name="Shape 10"/>
          <p:cNvSpPr/>
          <p:nvPr/>
        </p:nvSpPr>
        <p:spPr>
          <a:xfrm>
            <a:off x="1143000" y="5798939"/>
            <a:ext cx="3289221" cy="9525"/>
          </a:xfrm>
          <a:prstGeom prst="rect">
            <a:avLst/>
          </a:prstGeom>
          <a:solidFill>
            <a:srgbClr val="E4DCC6"/>
          </a:solidFill>
          <a:ln/>
        </p:spPr>
      </p:sp>
      <p:sp>
        <p:nvSpPr>
          <p:cNvPr id="13" name="Text 11"/>
          <p:cNvSpPr/>
          <p:nvPr/>
        </p:nvSpPr>
        <p:spPr>
          <a:xfrm>
            <a:off x="1143000" y="5352098"/>
            <a:ext cx="3159297" cy="389692"/>
          </a:xfrm>
          <a:prstGeom prst="rect">
            <a:avLst/>
          </a:prstGeom>
          <a:noFill/>
          <a:ln/>
        </p:spPr>
        <p:txBody>
          <a:bodyPr wrap="square" lIns="25400" tIns="25400" rIns="25400" bIns="25400" rtlCol="0" anchor="t">
            <a:normAutofit/>
          </a:bodyPr>
          <a:lstStyle/>
          <a:p>
            <a:pPr algn="l" indent="0" marL="0">
              <a:lnSpc>
                <a:spcPct val="142000"/>
              </a:lnSpc>
              <a:buNone/>
            </a:pPr>
            <a:r>
              <a:rPr lang="en-US" sz="1950" dirty="0">
                <a:solidFill>
                  <a:srgbClr val="3E3A33"/>
                </a:solidFill>
                <a:latin typeface="Arial" pitchFamily="34" charset="0"/>
                <a:ea typeface="Arial" pitchFamily="34" charset="-122"/>
                <a:cs typeface="Arial" pitchFamily="34" charset="-120"/>
              </a:rPr>
              <a:t>Parameters</a:t>
            </a:r>
            <a:endParaRPr lang="en-US" sz="1950" dirty="0"/>
          </a:p>
        </p:txBody>
      </p:sp>
      <p:sp>
        <p:nvSpPr>
          <p:cNvPr id="14" name="Shape 12"/>
          <p:cNvSpPr/>
          <p:nvPr/>
        </p:nvSpPr>
        <p:spPr>
          <a:xfrm>
            <a:off x="4432221" y="5798939"/>
            <a:ext cx="3861435" cy="9525"/>
          </a:xfrm>
          <a:prstGeom prst="rect">
            <a:avLst/>
          </a:prstGeom>
          <a:solidFill>
            <a:srgbClr val="E4DCC6"/>
          </a:solidFill>
          <a:ln/>
        </p:spPr>
      </p:sp>
      <p:sp>
        <p:nvSpPr>
          <p:cNvPr id="15" name="Text 13"/>
          <p:cNvSpPr/>
          <p:nvPr/>
        </p:nvSpPr>
        <p:spPr>
          <a:xfrm>
            <a:off x="4432221" y="5352098"/>
            <a:ext cx="3977278" cy="389692"/>
          </a:xfrm>
          <a:prstGeom prst="rect">
            <a:avLst/>
          </a:prstGeom>
          <a:noFill/>
          <a:ln/>
        </p:spPr>
        <p:txBody>
          <a:bodyPr wrap="square" lIns="25400" tIns="25400" rIns="25400" bIns="25400" rtlCol="0" anchor="t">
            <a:normAutofit/>
          </a:bodyPr>
          <a:lstStyle/>
          <a:p>
            <a:pPr algn="l" indent="0" marL="0">
              <a:lnSpc>
                <a:spcPct val="142000"/>
              </a:lnSpc>
              <a:buNone/>
            </a:pPr>
            <a:r>
              <a:rPr lang="en-US" sz="1500" b="1" dirty="0">
                <a:solidFill>
                  <a:srgbClr val="1A1A1A"/>
                </a:solidFill>
                <a:latin typeface="Arial" pitchFamily="34" charset="0"/>
                <a:ea typeface="Arial" pitchFamily="34" charset="-122"/>
                <a:cs typeface="Arial" pitchFamily="34" charset="-120"/>
              </a:rPr>
              <a:t>29,283,088</a:t>
            </a:r>
            <a:endParaRPr lang="en-US" sz="1500" dirty="0"/>
          </a:p>
        </p:txBody>
      </p:sp>
      <p:sp>
        <p:nvSpPr>
          <p:cNvPr id="16" name="Shape 14"/>
          <p:cNvSpPr/>
          <p:nvPr/>
        </p:nvSpPr>
        <p:spPr>
          <a:xfrm>
            <a:off x="1143000" y="6348651"/>
            <a:ext cx="3289221" cy="9525"/>
          </a:xfrm>
          <a:prstGeom prst="rect">
            <a:avLst/>
          </a:prstGeom>
          <a:solidFill>
            <a:srgbClr val="E4DCC6"/>
          </a:solidFill>
          <a:ln/>
        </p:spPr>
      </p:sp>
      <p:sp>
        <p:nvSpPr>
          <p:cNvPr id="17" name="Text 15"/>
          <p:cNvSpPr/>
          <p:nvPr/>
        </p:nvSpPr>
        <p:spPr>
          <a:xfrm>
            <a:off x="1143000" y="5901809"/>
            <a:ext cx="3159297" cy="389692"/>
          </a:xfrm>
          <a:prstGeom prst="rect">
            <a:avLst/>
          </a:prstGeom>
          <a:noFill/>
          <a:ln/>
        </p:spPr>
        <p:txBody>
          <a:bodyPr wrap="square" lIns="25400" tIns="25400" rIns="25400" bIns="25400" rtlCol="0" anchor="t">
            <a:normAutofit/>
          </a:bodyPr>
          <a:lstStyle/>
          <a:p>
            <a:pPr algn="l" indent="0" marL="0">
              <a:lnSpc>
                <a:spcPct val="142000"/>
              </a:lnSpc>
              <a:buNone/>
            </a:pPr>
            <a:r>
              <a:rPr lang="en-US" sz="1950" dirty="0">
                <a:solidFill>
                  <a:srgbClr val="3E3A33"/>
                </a:solidFill>
                <a:latin typeface="Arial" pitchFamily="34" charset="0"/>
                <a:ea typeface="Arial" pitchFamily="34" charset="-122"/>
                <a:cs typeface="Arial" pitchFamily="34" charset="-120"/>
              </a:rPr>
              <a:t>Vocab / context</a:t>
            </a:r>
            <a:endParaRPr lang="en-US" sz="1950" dirty="0"/>
          </a:p>
        </p:txBody>
      </p:sp>
      <p:sp>
        <p:nvSpPr>
          <p:cNvPr id="18" name="Shape 16"/>
          <p:cNvSpPr/>
          <p:nvPr/>
        </p:nvSpPr>
        <p:spPr>
          <a:xfrm>
            <a:off x="4432221" y="6348651"/>
            <a:ext cx="3861435" cy="9525"/>
          </a:xfrm>
          <a:prstGeom prst="rect">
            <a:avLst/>
          </a:prstGeom>
          <a:solidFill>
            <a:srgbClr val="E4DCC6"/>
          </a:solidFill>
          <a:ln/>
        </p:spPr>
      </p:sp>
      <p:sp>
        <p:nvSpPr>
          <p:cNvPr id="19" name="Text 17"/>
          <p:cNvSpPr/>
          <p:nvPr/>
        </p:nvSpPr>
        <p:spPr>
          <a:xfrm>
            <a:off x="4432221" y="5901809"/>
            <a:ext cx="3977278" cy="389692"/>
          </a:xfrm>
          <a:prstGeom prst="rect">
            <a:avLst/>
          </a:prstGeom>
          <a:noFill/>
          <a:ln/>
        </p:spPr>
        <p:txBody>
          <a:bodyPr wrap="square" lIns="25400" tIns="25400" rIns="25400" bIns="25400" rtlCol="0" anchor="t">
            <a:normAutofit/>
          </a:bodyPr>
          <a:lstStyle/>
          <a:p>
            <a:pPr algn="l" indent="0" marL="0">
              <a:lnSpc>
                <a:spcPct val="142000"/>
              </a:lnSpc>
              <a:buNone/>
            </a:pPr>
            <a:r>
              <a:rPr lang="en-US" sz="1500" b="1" dirty="0">
                <a:solidFill>
                  <a:srgbClr val="1A1A1A"/>
                </a:solidFill>
                <a:latin typeface="Arial" pitchFamily="34" charset="0"/>
                <a:ea typeface="Arial" pitchFamily="34" charset="-122"/>
                <a:cs typeface="Arial" pitchFamily="34" charset="-120"/>
              </a:rPr>
              <a:t>10,000 · 256 tokens</a:t>
            </a:r>
            <a:endParaRPr lang="en-US" sz="1500" dirty="0"/>
          </a:p>
        </p:txBody>
      </p:sp>
      <p:sp>
        <p:nvSpPr>
          <p:cNvPr id="20" name="Shape 18"/>
          <p:cNvSpPr/>
          <p:nvPr/>
        </p:nvSpPr>
        <p:spPr>
          <a:xfrm>
            <a:off x="1143000" y="6898362"/>
            <a:ext cx="3289221" cy="9525"/>
          </a:xfrm>
          <a:prstGeom prst="rect">
            <a:avLst/>
          </a:prstGeom>
          <a:solidFill>
            <a:srgbClr val="E4DCC6"/>
          </a:solidFill>
          <a:ln/>
        </p:spPr>
      </p:sp>
      <p:sp>
        <p:nvSpPr>
          <p:cNvPr id="21" name="Text 19"/>
          <p:cNvSpPr/>
          <p:nvPr/>
        </p:nvSpPr>
        <p:spPr>
          <a:xfrm>
            <a:off x="1143000" y="6451521"/>
            <a:ext cx="3159297" cy="389692"/>
          </a:xfrm>
          <a:prstGeom prst="rect">
            <a:avLst/>
          </a:prstGeom>
          <a:noFill/>
          <a:ln/>
        </p:spPr>
        <p:txBody>
          <a:bodyPr wrap="square" lIns="25400" tIns="25400" rIns="25400" bIns="25400" rtlCol="0" anchor="t">
            <a:normAutofit/>
          </a:bodyPr>
          <a:lstStyle/>
          <a:p>
            <a:pPr algn="l" indent="0" marL="0">
              <a:lnSpc>
                <a:spcPct val="142000"/>
              </a:lnSpc>
              <a:buNone/>
            </a:pPr>
            <a:r>
              <a:rPr lang="en-US" sz="1950" dirty="0">
                <a:solidFill>
                  <a:srgbClr val="3E3A33"/>
                </a:solidFill>
                <a:latin typeface="Arial" pitchFamily="34" charset="0"/>
                <a:ea typeface="Arial" pitchFamily="34" charset="-122"/>
                <a:cs typeface="Arial" pitchFamily="34" charset="-120"/>
              </a:rPr>
              <a:t>Optimizer</a:t>
            </a:r>
            <a:endParaRPr lang="en-US" sz="1950" dirty="0"/>
          </a:p>
        </p:txBody>
      </p:sp>
      <p:sp>
        <p:nvSpPr>
          <p:cNvPr id="22" name="Shape 20"/>
          <p:cNvSpPr/>
          <p:nvPr/>
        </p:nvSpPr>
        <p:spPr>
          <a:xfrm>
            <a:off x="4432221" y="6898362"/>
            <a:ext cx="3861435" cy="9525"/>
          </a:xfrm>
          <a:prstGeom prst="rect">
            <a:avLst/>
          </a:prstGeom>
          <a:solidFill>
            <a:srgbClr val="E4DCC6"/>
          </a:solidFill>
          <a:ln/>
        </p:spPr>
      </p:sp>
      <p:sp>
        <p:nvSpPr>
          <p:cNvPr id="23" name="Text 21"/>
          <p:cNvSpPr/>
          <p:nvPr/>
        </p:nvSpPr>
        <p:spPr>
          <a:xfrm>
            <a:off x="4432221" y="6451521"/>
            <a:ext cx="3977278" cy="389692"/>
          </a:xfrm>
          <a:prstGeom prst="rect">
            <a:avLst/>
          </a:prstGeom>
          <a:noFill/>
          <a:ln/>
        </p:spPr>
        <p:txBody>
          <a:bodyPr wrap="square" lIns="25400" tIns="25400" rIns="25400" bIns="25400" rtlCol="0" anchor="t">
            <a:normAutofit/>
          </a:bodyPr>
          <a:lstStyle/>
          <a:p>
            <a:pPr algn="l" indent="0" marL="0">
              <a:lnSpc>
                <a:spcPct val="142000"/>
              </a:lnSpc>
              <a:buNone/>
            </a:pPr>
            <a:r>
              <a:rPr lang="en-US" sz="1500" b="1" dirty="0">
                <a:solidFill>
                  <a:srgbClr val="1A1A1A"/>
                </a:solidFill>
                <a:latin typeface="Arial" pitchFamily="34" charset="0"/>
                <a:ea typeface="Arial" pitchFamily="34" charset="-122"/>
                <a:cs typeface="Arial" pitchFamily="34" charset="-120"/>
              </a:rPr>
              <a:t>AdamW · lr = 3·10⁻⁴</a:t>
            </a:r>
            <a:endParaRPr lang="en-US" sz="1500" dirty="0"/>
          </a:p>
        </p:txBody>
      </p:sp>
      <p:sp>
        <p:nvSpPr>
          <p:cNvPr id="24" name="Shape 22"/>
          <p:cNvSpPr/>
          <p:nvPr/>
        </p:nvSpPr>
        <p:spPr>
          <a:xfrm>
            <a:off x="1143000" y="7448074"/>
            <a:ext cx="3289221" cy="9525"/>
          </a:xfrm>
          <a:prstGeom prst="rect">
            <a:avLst/>
          </a:prstGeom>
          <a:solidFill>
            <a:srgbClr val="E4DCC6"/>
          </a:solidFill>
          <a:ln/>
        </p:spPr>
      </p:sp>
      <p:sp>
        <p:nvSpPr>
          <p:cNvPr id="25" name="Text 23"/>
          <p:cNvSpPr/>
          <p:nvPr/>
        </p:nvSpPr>
        <p:spPr>
          <a:xfrm>
            <a:off x="1143000" y="7001233"/>
            <a:ext cx="3159297" cy="389692"/>
          </a:xfrm>
          <a:prstGeom prst="rect">
            <a:avLst/>
          </a:prstGeom>
          <a:noFill/>
          <a:ln/>
        </p:spPr>
        <p:txBody>
          <a:bodyPr wrap="square" lIns="25400" tIns="25400" rIns="25400" bIns="25400" rtlCol="0" anchor="t">
            <a:normAutofit/>
          </a:bodyPr>
          <a:lstStyle/>
          <a:p>
            <a:pPr algn="l" indent="0" marL="0">
              <a:lnSpc>
                <a:spcPct val="142000"/>
              </a:lnSpc>
              <a:buNone/>
            </a:pPr>
            <a:r>
              <a:rPr lang="en-US" sz="1950" dirty="0">
                <a:solidFill>
                  <a:srgbClr val="3E3A33"/>
                </a:solidFill>
                <a:latin typeface="Arial" pitchFamily="34" charset="0"/>
                <a:ea typeface="Arial" pitchFamily="34" charset="-122"/>
                <a:cs typeface="Arial" pitchFamily="34" charset="-120"/>
              </a:rPr>
              <a:t>Schedule</a:t>
            </a:r>
            <a:endParaRPr lang="en-US" sz="1950" dirty="0"/>
          </a:p>
        </p:txBody>
      </p:sp>
      <p:sp>
        <p:nvSpPr>
          <p:cNvPr id="26" name="Shape 24"/>
          <p:cNvSpPr/>
          <p:nvPr/>
        </p:nvSpPr>
        <p:spPr>
          <a:xfrm>
            <a:off x="4432221" y="7448074"/>
            <a:ext cx="3861435" cy="9525"/>
          </a:xfrm>
          <a:prstGeom prst="rect">
            <a:avLst/>
          </a:prstGeom>
          <a:solidFill>
            <a:srgbClr val="E4DCC6"/>
          </a:solidFill>
          <a:ln/>
        </p:spPr>
      </p:sp>
      <p:sp>
        <p:nvSpPr>
          <p:cNvPr id="27" name="Text 25"/>
          <p:cNvSpPr/>
          <p:nvPr/>
        </p:nvSpPr>
        <p:spPr>
          <a:xfrm>
            <a:off x="4432221" y="7001233"/>
            <a:ext cx="3977278" cy="389692"/>
          </a:xfrm>
          <a:prstGeom prst="rect">
            <a:avLst/>
          </a:prstGeom>
          <a:noFill/>
          <a:ln/>
        </p:spPr>
        <p:txBody>
          <a:bodyPr wrap="square" lIns="25400" tIns="25400" rIns="25400" bIns="25400" rtlCol="0" anchor="t">
            <a:normAutofit/>
          </a:bodyPr>
          <a:lstStyle/>
          <a:p>
            <a:pPr algn="l" indent="0" marL="0">
              <a:lnSpc>
                <a:spcPct val="142000"/>
              </a:lnSpc>
              <a:buNone/>
            </a:pPr>
            <a:r>
              <a:rPr lang="en-US" sz="1500" b="1" dirty="0">
                <a:solidFill>
                  <a:srgbClr val="1A1A1A"/>
                </a:solidFill>
                <a:latin typeface="Arial" pitchFamily="34" charset="0"/>
                <a:ea typeface="Arial" pitchFamily="34" charset="-122"/>
                <a:cs typeface="Arial" pitchFamily="34" charset="-120"/>
              </a:rPr>
              <a:t>warmup 500 · cosine → 10%</a:t>
            </a:r>
            <a:endParaRPr lang="en-US" sz="1500" dirty="0"/>
          </a:p>
        </p:txBody>
      </p:sp>
      <p:sp>
        <p:nvSpPr>
          <p:cNvPr id="28" name="Shape 26"/>
          <p:cNvSpPr/>
          <p:nvPr/>
        </p:nvSpPr>
        <p:spPr>
          <a:xfrm>
            <a:off x="1143000" y="7997785"/>
            <a:ext cx="3289221" cy="9525"/>
          </a:xfrm>
          <a:prstGeom prst="rect">
            <a:avLst/>
          </a:prstGeom>
          <a:solidFill>
            <a:srgbClr val="E4DCC6"/>
          </a:solidFill>
          <a:ln/>
        </p:spPr>
      </p:sp>
      <p:sp>
        <p:nvSpPr>
          <p:cNvPr id="29" name="Text 27"/>
          <p:cNvSpPr/>
          <p:nvPr/>
        </p:nvSpPr>
        <p:spPr>
          <a:xfrm>
            <a:off x="1143000" y="7550944"/>
            <a:ext cx="3159297" cy="389692"/>
          </a:xfrm>
          <a:prstGeom prst="rect">
            <a:avLst/>
          </a:prstGeom>
          <a:noFill/>
          <a:ln/>
        </p:spPr>
        <p:txBody>
          <a:bodyPr wrap="square" lIns="25400" tIns="25400" rIns="25400" bIns="25400" rtlCol="0" anchor="t">
            <a:normAutofit/>
          </a:bodyPr>
          <a:lstStyle/>
          <a:p>
            <a:pPr algn="l" indent="0" marL="0">
              <a:lnSpc>
                <a:spcPct val="142000"/>
              </a:lnSpc>
              <a:buNone/>
            </a:pPr>
            <a:r>
              <a:rPr lang="en-US" sz="1950" dirty="0">
                <a:solidFill>
                  <a:srgbClr val="3E3A33"/>
                </a:solidFill>
                <a:latin typeface="Arial" pitchFamily="34" charset="0"/>
                <a:ea typeface="Arial" pitchFamily="34" charset="-122"/>
                <a:cs typeface="Arial" pitchFamily="34" charset="-120"/>
              </a:rPr>
              <a:t>Training corpus</a:t>
            </a:r>
            <a:endParaRPr lang="en-US" sz="1950" dirty="0"/>
          </a:p>
        </p:txBody>
      </p:sp>
      <p:sp>
        <p:nvSpPr>
          <p:cNvPr id="30" name="Shape 28"/>
          <p:cNvSpPr/>
          <p:nvPr/>
        </p:nvSpPr>
        <p:spPr>
          <a:xfrm>
            <a:off x="4432221" y="7997785"/>
            <a:ext cx="3861435" cy="9525"/>
          </a:xfrm>
          <a:prstGeom prst="rect">
            <a:avLst/>
          </a:prstGeom>
          <a:solidFill>
            <a:srgbClr val="E4DCC6"/>
          </a:solidFill>
          <a:ln/>
        </p:spPr>
      </p:sp>
      <p:sp>
        <p:nvSpPr>
          <p:cNvPr id="31" name="Text 29"/>
          <p:cNvSpPr/>
          <p:nvPr/>
        </p:nvSpPr>
        <p:spPr>
          <a:xfrm>
            <a:off x="4432221" y="7550944"/>
            <a:ext cx="3977278" cy="389692"/>
          </a:xfrm>
          <a:prstGeom prst="rect">
            <a:avLst/>
          </a:prstGeom>
          <a:noFill/>
          <a:ln/>
        </p:spPr>
        <p:txBody>
          <a:bodyPr wrap="square" lIns="25400" tIns="25400" rIns="25400" bIns="25400" rtlCol="0" anchor="t">
            <a:normAutofit/>
          </a:bodyPr>
          <a:lstStyle/>
          <a:p>
            <a:pPr algn="l" indent="0" marL="0">
              <a:lnSpc>
                <a:spcPct val="142000"/>
              </a:lnSpc>
              <a:buNone/>
            </a:pPr>
            <a:r>
              <a:rPr lang="en-US" sz="1500" b="1" dirty="0">
                <a:solidFill>
                  <a:srgbClr val="1A1A1A"/>
                </a:solidFill>
                <a:latin typeface="Arial" pitchFamily="34" charset="0"/>
                <a:ea typeface="Arial" pitchFamily="34" charset="-122"/>
                <a:cs typeface="Arial" pitchFamily="34" charset="-120"/>
              </a:rPr>
              <a:t>100k PubMed abstracts</a:t>
            </a:r>
            <a:endParaRPr lang="en-US" sz="1500" dirty="0"/>
          </a:p>
        </p:txBody>
      </p:sp>
      <p:sp>
        <p:nvSpPr>
          <p:cNvPr id="32" name="Shape 30"/>
          <p:cNvSpPr/>
          <p:nvPr/>
        </p:nvSpPr>
        <p:spPr>
          <a:xfrm>
            <a:off x="1143000" y="8547497"/>
            <a:ext cx="3289221" cy="9525"/>
          </a:xfrm>
          <a:prstGeom prst="rect">
            <a:avLst/>
          </a:prstGeom>
          <a:solidFill>
            <a:srgbClr val="E4DCC6"/>
          </a:solidFill>
          <a:ln/>
        </p:spPr>
      </p:sp>
      <p:sp>
        <p:nvSpPr>
          <p:cNvPr id="33" name="Text 31"/>
          <p:cNvSpPr/>
          <p:nvPr/>
        </p:nvSpPr>
        <p:spPr>
          <a:xfrm>
            <a:off x="1143000" y="8100656"/>
            <a:ext cx="3159297" cy="389692"/>
          </a:xfrm>
          <a:prstGeom prst="rect">
            <a:avLst/>
          </a:prstGeom>
          <a:noFill/>
          <a:ln/>
        </p:spPr>
        <p:txBody>
          <a:bodyPr wrap="square" lIns="25400" tIns="25400" rIns="25400" bIns="25400" rtlCol="0" anchor="t">
            <a:normAutofit/>
          </a:bodyPr>
          <a:lstStyle/>
          <a:p>
            <a:pPr algn="l" indent="0" marL="0">
              <a:lnSpc>
                <a:spcPct val="142000"/>
              </a:lnSpc>
              <a:buNone/>
            </a:pPr>
            <a:r>
              <a:rPr lang="en-US" sz="1950" dirty="0">
                <a:solidFill>
                  <a:srgbClr val="3E3A33"/>
                </a:solidFill>
                <a:latin typeface="Arial" pitchFamily="34" charset="0"/>
                <a:ea typeface="Arial" pitchFamily="34" charset="-122"/>
                <a:cs typeface="Arial" pitchFamily="34" charset="-120"/>
              </a:rPr>
              <a:t>Epochs</a:t>
            </a:r>
            <a:endParaRPr lang="en-US" sz="1950" dirty="0"/>
          </a:p>
        </p:txBody>
      </p:sp>
      <p:sp>
        <p:nvSpPr>
          <p:cNvPr id="34" name="Shape 32"/>
          <p:cNvSpPr/>
          <p:nvPr/>
        </p:nvSpPr>
        <p:spPr>
          <a:xfrm>
            <a:off x="4432221" y="8547497"/>
            <a:ext cx="3861435" cy="9525"/>
          </a:xfrm>
          <a:prstGeom prst="rect">
            <a:avLst/>
          </a:prstGeom>
          <a:solidFill>
            <a:srgbClr val="E4DCC6"/>
          </a:solidFill>
          <a:ln/>
        </p:spPr>
      </p:sp>
      <p:sp>
        <p:nvSpPr>
          <p:cNvPr id="35" name="Text 33"/>
          <p:cNvSpPr/>
          <p:nvPr/>
        </p:nvSpPr>
        <p:spPr>
          <a:xfrm>
            <a:off x="4432221" y="8100656"/>
            <a:ext cx="3977278" cy="389692"/>
          </a:xfrm>
          <a:prstGeom prst="rect">
            <a:avLst/>
          </a:prstGeom>
          <a:noFill/>
          <a:ln/>
        </p:spPr>
        <p:txBody>
          <a:bodyPr wrap="square" lIns="25400" tIns="25400" rIns="25400" bIns="25400" rtlCol="0" anchor="t">
            <a:normAutofit/>
          </a:bodyPr>
          <a:lstStyle/>
          <a:p>
            <a:pPr algn="l" indent="0" marL="0">
              <a:lnSpc>
                <a:spcPct val="142000"/>
              </a:lnSpc>
              <a:buNone/>
            </a:pPr>
            <a:r>
              <a:rPr lang="en-US" sz="1500" b="1" dirty="0">
                <a:solidFill>
                  <a:srgbClr val="1A1A1A"/>
                </a:solidFill>
                <a:latin typeface="Arial" pitchFamily="34" charset="0"/>
                <a:ea typeface="Arial" pitchFamily="34" charset="-122"/>
                <a:cs typeface="Arial" pitchFamily="34" charset="-120"/>
              </a:rPr>
              <a:t>2</a:t>
            </a:r>
            <a:endParaRPr lang="en-US" sz="1500" dirty="0"/>
          </a:p>
        </p:txBody>
      </p:sp>
      <p:sp>
        <p:nvSpPr>
          <p:cNvPr id="36" name="Shape 34"/>
          <p:cNvSpPr/>
          <p:nvPr/>
        </p:nvSpPr>
        <p:spPr>
          <a:xfrm>
            <a:off x="1143000" y="9282827"/>
            <a:ext cx="3289221" cy="15240"/>
          </a:xfrm>
          <a:prstGeom prst="rect">
            <a:avLst/>
          </a:prstGeom>
          <a:solidFill>
            <a:srgbClr val="1A1A1A"/>
          </a:solidFill>
          <a:ln/>
        </p:spPr>
      </p:sp>
      <p:sp>
        <p:nvSpPr>
          <p:cNvPr id="37" name="Text 35"/>
          <p:cNvSpPr/>
          <p:nvPr/>
        </p:nvSpPr>
        <p:spPr>
          <a:xfrm>
            <a:off x="1143000" y="8650367"/>
            <a:ext cx="3159297" cy="575310"/>
          </a:xfrm>
          <a:prstGeom prst="rect">
            <a:avLst/>
          </a:prstGeom>
          <a:noFill/>
          <a:ln/>
        </p:spPr>
        <p:txBody>
          <a:bodyPr wrap="square" lIns="25400" tIns="25400" rIns="25400" bIns="25400" rtlCol="0" anchor="t">
            <a:normAutofit/>
          </a:bodyPr>
          <a:lstStyle/>
          <a:p>
            <a:pPr algn="l" indent="0" marL="0">
              <a:lnSpc>
                <a:spcPct val="142000"/>
              </a:lnSpc>
              <a:buNone/>
            </a:pPr>
            <a:r>
              <a:rPr lang="en-US" sz="1950" dirty="0">
                <a:solidFill>
                  <a:srgbClr val="3E3A33"/>
                </a:solidFill>
                <a:latin typeface="Arial" pitchFamily="34" charset="0"/>
                <a:ea typeface="Arial" pitchFamily="34" charset="-122"/>
                <a:cs typeface="Arial" pitchFamily="34" charset="-120"/>
              </a:rPr>
              <a:t>Seeds</a:t>
            </a:r>
            <a:endParaRPr lang="en-US" sz="1950" dirty="0"/>
          </a:p>
        </p:txBody>
      </p:sp>
      <p:sp>
        <p:nvSpPr>
          <p:cNvPr id="38" name="Shape 36"/>
          <p:cNvSpPr/>
          <p:nvPr/>
        </p:nvSpPr>
        <p:spPr>
          <a:xfrm>
            <a:off x="4432221" y="9282827"/>
            <a:ext cx="3861435" cy="15240"/>
          </a:xfrm>
          <a:prstGeom prst="rect">
            <a:avLst/>
          </a:prstGeom>
          <a:solidFill>
            <a:srgbClr val="1A1A1A"/>
          </a:solidFill>
          <a:ln/>
        </p:spPr>
      </p:sp>
      <p:sp>
        <p:nvSpPr>
          <p:cNvPr id="39" name="Text 37"/>
          <p:cNvSpPr/>
          <p:nvPr/>
        </p:nvSpPr>
        <p:spPr>
          <a:xfrm>
            <a:off x="4432221" y="8650367"/>
            <a:ext cx="3977278" cy="575310"/>
          </a:xfrm>
          <a:prstGeom prst="rect">
            <a:avLst/>
          </a:prstGeom>
          <a:noFill/>
          <a:ln/>
        </p:spPr>
        <p:txBody>
          <a:bodyPr wrap="square" lIns="25400" tIns="25400" rIns="25400" bIns="25400" rtlCol="0" anchor="t">
            <a:normAutofit/>
          </a:bodyPr>
          <a:lstStyle/>
          <a:p>
            <a:pPr algn="l" indent="0" marL="0">
              <a:lnSpc>
                <a:spcPct val="142000"/>
              </a:lnSpc>
              <a:buNone/>
            </a:pPr>
            <a:r>
              <a:rPr lang="en-US" sz="1500" b="1" dirty="0">
                <a:solidFill>
                  <a:srgbClr val="1A1A1A"/>
                </a:solidFill>
                <a:latin typeface="Arial" pitchFamily="34" charset="0"/>
                <a:ea typeface="Arial" pitchFamily="34" charset="-122"/>
                <a:cs typeface="Arial" pitchFamily="34" charset="-120"/>
              </a:rPr>
              <a:t>5 / 5 / 3 · paired t-tests, 95% CIs</a:t>
            </a:r>
            <a:endParaRPr lang="en-US" sz="1500" dirty="0"/>
          </a:p>
        </p:txBody>
      </p:sp>
      <p:sp>
        <p:nvSpPr>
          <p:cNvPr id="40" name="Text 38"/>
          <p:cNvSpPr/>
          <p:nvPr/>
        </p:nvSpPr>
        <p:spPr>
          <a:xfrm>
            <a:off x="8865156" y="4119682"/>
            <a:ext cx="852824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VARIED · ONE VARIABLE, THREE TOKENIZERS</a:t>
            </a:r>
            <a:endParaRPr lang="en-US" sz="1800" dirty="0"/>
          </a:p>
        </p:txBody>
      </p:sp>
      <p:sp>
        <p:nvSpPr>
          <p:cNvPr id="41" name="Shape 39"/>
          <p:cNvSpPr/>
          <p:nvPr/>
        </p:nvSpPr>
        <p:spPr>
          <a:xfrm>
            <a:off x="8865156" y="4710946"/>
            <a:ext cx="8279845" cy="1109424"/>
          </a:xfrm>
          <a:prstGeom prst="rect">
            <a:avLst/>
          </a:prstGeom>
          <a:solidFill>
            <a:srgbClr val="FFFDF7"/>
          </a:solidFill>
          <a:ln/>
        </p:spPr>
      </p:sp>
      <p:sp>
        <p:nvSpPr>
          <p:cNvPr id="42" name="Shape 40"/>
          <p:cNvSpPr/>
          <p:nvPr/>
        </p:nvSpPr>
        <p:spPr>
          <a:xfrm>
            <a:off x="8865156" y="5812750"/>
            <a:ext cx="8279845" cy="9525"/>
          </a:xfrm>
          <a:prstGeom prst="rect">
            <a:avLst/>
          </a:prstGeom>
          <a:solidFill>
            <a:srgbClr val="E4DCC6"/>
          </a:solidFill>
          <a:ln/>
        </p:spPr>
      </p:sp>
      <p:sp>
        <p:nvSpPr>
          <p:cNvPr id="43" name="Shape 41"/>
          <p:cNvSpPr/>
          <p:nvPr/>
        </p:nvSpPr>
        <p:spPr>
          <a:xfrm>
            <a:off x="8865156" y="4710946"/>
            <a:ext cx="8279845" cy="9525"/>
          </a:xfrm>
          <a:prstGeom prst="rect">
            <a:avLst/>
          </a:prstGeom>
          <a:solidFill>
            <a:srgbClr val="E4DCC6"/>
          </a:solidFill>
          <a:ln/>
        </p:spPr>
      </p:sp>
      <p:sp>
        <p:nvSpPr>
          <p:cNvPr id="44" name="Shape 42"/>
          <p:cNvSpPr/>
          <p:nvPr/>
        </p:nvSpPr>
        <p:spPr>
          <a:xfrm>
            <a:off x="8865156" y="4710946"/>
            <a:ext cx="45720" cy="1109424"/>
          </a:xfrm>
          <a:prstGeom prst="rect">
            <a:avLst/>
          </a:prstGeom>
          <a:solidFill>
            <a:srgbClr val="2457A8"/>
          </a:solidFill>
          <a:ln/>
        </p:spPr>
      </p:sp>
      <p:sp>
        <p:nvSpPr>
          <p:cNvPr id="45" name="Shape 43"/>
          <p:cNvSpPr/>
          <p:nvPr/>
        </p:nvSpPr>
        <p:spPr>
          <a:xfrm>
            <a:off x="17137381" y="4710946"/>
            <a:ext cx="9525" cy="1109424"/>
          </a:xfrm>
          <a:prstGeom prst="rect">
            <a:avLst/>
          </a:prstGeom>
          <a:solidFill>
            <a:srgbClr val="E4DCC6"/>
          </a:solidFill>
          <a:ln/>
        </p:spPr>
      </p:sp>
      <p:sp>
        <p:nvSpPr>
          <p:cNvPr id="46" name="Text 44"/>
          <p:cNvSpPr/>
          <p:nvPr/>
        </p:nvSpPr>
        <p:spPr>
          <a:xfrm>
            <a:off x="9177576" y="4928116"/>
            <a:ext cx="90916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dirty="0">
                <a:solidFill>
                  <a:srgbClr val="2457A8"/>
                </a:solidFill>
                <a:latin typeface="Arial" pitchFamily="34" charset="0"/>
                <a:ea typeface="Arial" pitchFamily="34" charset="-122"/>
                <a:cs typeface="Arial" pitchFamily="34" charset="-120"/>
              </a:rPr>
              <a:t>general</a:t>
            </a:r>
            <a:endParaRPr lang="en-US" sz="1800" dirty="0"/>
          </a:p>
        </p:txBody>
      </p:sp>
      <p:sp>
        <p:nvSpPr>
          <p:cNvPr id="47" name="Text 45"/>
          <p:cNvSpPr/>
          <p:nvPr/>
        </p:nvSpPr>
        <p:spPr>
          <a:xfrm>
            <a:off x="15102840" y="4996696"/>
            <a:ext cx="1844040" cy="281464"/>
          </a:xfrm>
          <a:prstGeom prst="rect">
            <a:avLst/>
          </a:prstGeom>
          <a:noFill/>
          <a:ln/>
        </p:spPr>
        <p:txBody>
          <a:bodyPr wrap="square" lIns="25400" tIns="25400" rIns="25400" bIns="25400" rtlCol="0" anchor="t">
            <a:normAutofit/>
          </a:bodyPr>
          <a:lstStyle/>
          <a:p>
            <a:pPr algn="l" indent="0" marL="0">
              <a:lnSpc>
                <a:spcPct val="142000"/>
              </a:lnSpc>
              <a:buNone/>
            </a:pPr>
            <a:r>
              <a:rPr lang="en-US" sz="1350" dirty="0">
                <a:solidFill>
                  <a:srgbClr val="8A8375"/>
                </a:solidFill>
                <a:latin typeface="Arial" pitchFamily="34" charset="0"/>
                <a:ea typeface="Arial" pitchFamily="34" charset="-122"/>
                <a:cs typeface="Arial" pitchFamily="34" charset="-120"/>
              </a:rPr>
              <a:t>byte-level BPE · V=10k</a:t>
            </a:r>
            <a:endParaRPr lang="en-US" sz="1350" dirty="0"/>
          </a:p>
        </p:txBody>
      </p:sp>
      <p:sp>
        <p:nvSpPr>
          <p:cNvPr id="48" name="Text 46"/>
          <p:cNvSpPr/>
          <p:nvPr/>
        </p:nvSpPr>
        <p:spPr>
          <a:xfrm>
            <a:off x="9177576" y="5309831"/>
            <a:ext cx="7923897" cy="33147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1A1A1A"/>
                </a:solidFill>
                <a:latin typeface="Arial" pitchFamily="34" charset="0"/>
                <a:ea typeface="Arial" pitchFamily="34" charset="-122"/>
                <a:cs typeface="Arial" pitchFamily="34" charset="-120"/>
              </a:rPr>
              <a:t>Trained on </a:t>
            </a:r>
            <a:pPr algn="l" indent="0" marL="0">
              <a:lnSpc>
                <a:spcPct val="140000"/>
              </a:lnSpc>
              <a:buNone/>
            </a:pPr>
            <a:r>
              <a:rPr lang="en-US" sz="1650" b="1" dirty="0">
                <a:solidFill>
                  <a:srgbClr val="1A1A1A"/>
                </a:solidFill>
                <a:latin typeface="Arial" pitchFamily="34" charset="0"/>
                <a:ea typeface="Arial" pitchFamily="34" charset="-122"/>
                <a:cs typeface="Arial" pitchFamily="34" charset="-120"/>
              </a:rPr>
              <a:t>wikitext-103 </a:t>
            </a:r>
            <a:pPr algn="l" indent="0" marL="0">
              <a:lnSpc>
                <a:spcPct val="140000"/>
              </a:lnSpc>
              <a:buNone/>
            </a:pPr>
            <a:r>
              <a:rPr lang="en-US" sz="1650" dirty="0">
                <a:solidFill>
                  <a:srgbClr val="1A1A1A"/>
                </a:solidFill>
                <a:latin typeface="Arial" pitchFamily="34" charset="0"/>
                <a:ea typeface="Arial" pitchFamily="34" charset="-122"/>
                <a:cs typeface="Arial" pitchFamily="34" charset="-120"/>
              </a:rPr>
              <a:t>(129k lines). General-purpose web-text vocabulary.</a:t>
            </a:r>
            <a:endParaRPr lang="en-US" sz="1650" dirty="0"/>
          </a:p>
        </p:txBody>
      </p:sp>
      <p:sp>
        <p:nvSpPr>
          <p:cNvPr id="49" name="Shape 47"/>
          <p:cNvSpPr/>
          <p:nvPr/>
        </p:nvSpPr>
        <p:spPr>
          <a:xfrm>
            <a:off x="8865156" y="5972770"/>
            <a:ext cx="8279845" cy="1109424"/>
          </a:xfrm>
          <a:prstGeom prst="rect">
            <a:avLst/>
          </a:prstGeom>
          <a:solidFill>
            <a:srgbClr val="FFFDF7"/>
          </a:solidFill>
          <a:ln/>
        </p:spPr>
      </p:sp>
      <p:sp>
        <p:nvSpPr>
          <p:cNvPr id="50" name="Shape 48"/>
          <p:cNvSpPr/>
          <p:nvPr/>
        </p:nvSpPr>
        <p:spPr>
          <a:xfrm>
            <a:off x="8865156" y="7074575"/>
            <a:ext cx="8279845" cy="9525"/>
          </a:xfrm>
          <a:prstGeom prst="rect">
            <a:avLst/>
          </a:prstGeom>
          <a:solidFill>
            <a:srgbClr val="E4DCC6"/>
          </a:solidFill>
          <a:ln/>
        </p:spPr>
      </p:sp>
      <p:sp>
        <p:nvSpPr>
          <p:cNvPr id="51" name="Shape 49"/>
          <p:cNvSpPr/>
          <p:nvPr/>
        </p:nvSpPr>
        <p:spPr>
          <a:xfrm>
            <a:off x="8865156" y="5972770"/>
            <a:ext cx="8279845" cy="9525"/>
          </a:xfrm>
          <a:prstGeom prst="rect">
            <a:avLst/>
          </a:prstGeom>
          <a:solidFill>
            <a:srgbClr val="E4DCC6"/>
          </a:solidFill>
          <a:ln/>
        </p:spPr>
      </p:sp>
      <p:sp>
        <p:nvSpPr>
          <p:cNvPr id="52" name="Shape 50"/>
          <p:cNvSpPr/>
          <p:nvPr/>
        </p:nvSpPr>
        <p:spPr>
          <a:xfrm>
            <a:off x="8865156" y="5972770"/>
            <a:ext cx="45720" cy="1109424"/>
          </a:xfrm>
          <a:prstGeom prst="rect">
            <a:avLst/>
          </a:prstGeom>
          <a:solidFill>
            <a:srgbClr val="B6351D"/>
          </a:solidFill>
          <a:ln/>
        </p:spPr>
      </p:sp>
      <p:sp>
        <p:nvSpPr>
          <p:cNvPr id="53" name="Shape 51"/>
          <p:cNvSpPr/>
          <p:nvPr/>
        </p:nvSpPr>
        <p:spPr>
          <a:xfrm>
            <a:off x="17137381" y="5972770"/>
            <a:ext cx="9525" cy="1109424"/>
          </a:xfrm>
          <a:prstGeom prst="rect">
            <a:avLst/>
          </a:prstGeom>
          <a:solidFill>
            <a:srgbClr val="E4DCC6"/>
          </a:solidFill>
          <a:ln/>
        </p:spPr>
      </p:sp>
      <p:sp>
        <p:nvSpPr>
          <p:cNvPr id="54" name="Text 52"/>
          <p:cNvSpPr/>
          <p:nvPr/>
        </p:nvSpPr>
        <p:spPr>
          <a:xfrm>
            <a:off x="9177576" y="6189940"/>
            <a:ext cx="94619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dirty="0">
                <a:solidFill>
                  <a:srgbClr val="B6351D"/>
                </a:solidFill>
                <a:latin typeface="Arial" pitchFamily="34" charset="0"/>
                <a:ea typeface="Arial" pitchFamily="34" charset="-122"/>
                <a:cs typeface="Arial" pitchFamily="34" charset="-120"/>
              </a:rPr>
              <a:t>medical</a:t>
            </a:r>
            <a:endParaRPr lang="en-US" sz="1800" dirty="0"/>
          </a:p>
        </p:txBody>
      </p:sp>
      <p:sp>
        <p:nvSpPr>
          <p:cNvPr id="55" name="Text 53"/>
          <p:cNvSpPr/>
          <p:nvPr/>
        </p:nvSpPr>
        <p:spPr>
          <a:xfrm>
            <a:off x="15102840" y="6258520"/>
            <a:ext cx="1844040" cy="281464"/>
          </a:xfrm>
          <a:prstGeom prst="rect">
            <a:avLst/>
          </a:prstGeom>
          <a:noFill/>
          <a:ln/>
        </p:spPr>
        <p:txBody>
          <a:bodyPr wrap="square" lIns="25400" tIns="25400" rIns="25400" bIns="25400" rtlCol="0" anchor="t">
            <a:normAutofit/>
          </a:bodyPr>
          <a:lstStyle/>
          <a:p>
            <a:pPr algn="l" indent="0" marL="0">
              <a:lnSpc>
                <a:spcPct val="142000"/>
              </a:lnSpc>
              <a:buNone/>
            </a:pPr>
            <a:r>
              <a:rPr lang="en-US" sz="1350" dirty="0">
                <a:solidFill>
                  <a:srgbClr val="8A8375"/>
                </a:solidFill>
                <a:latin typeface="Arial" pitchFamily="34" charset="0"/>
                <a:ea typeface="Arial" pitchFamily="34" charset="-122"/>
                <a:cs typeface="Arial" pitchFamily="34" charset="-120"/>
              </a:rPr>
              <a:t>byte-level BPE · V=10k</a:t>
            </a:r>
            <a:endParaRPr lang="en-US" sz="1350" dirty="0"/>
          </a:p>
        </p:txBody>
      </p:sp>
      <p:sp>
        <p:nvSpPr>
          <p:cNvPr id="56" name="Text 54"/>
          <p:cNvSpPr/>
          <p:nvPr/>
        </p:nvSpPr>
        <p:spPr>
          <a:xfrm>
            <a:off x="9177576" y="6571655"/>
            <a:ext cx="7923897" cy="33147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1A1A1A"/>
                </a:solidFill>
                <a:latin typeface="Arial" pitchFamily="34" charset="0"/>
                <a:ea typeface="Arial" pitchFamily="34" charset="-122"/>
                <a:cs typeface="Arial" pitchFamily="34" charset="-120"/>
              </a:rPr>
              <a:t>Trained on </a:t>
            </a:r>
            <a:pPr algn="l" indent="0" marL="0">
              <a:lnSpc>
                <a:spcPct val="140000"/>
              </a:lnSpc>
              <a:buNone/>
            </a:pPr>
            <a:r>
              <a:rPr lang="en-US" sz="1650" b="1" dirty="0">
                <a:solidFill>
                  <a:srgbClr val="1A1A1A"/>
                </a:solidFill>
                <a:latin typeface="Arial" pitchFamily="34" charset="0"/>
                <a:ea typeface="Arial" pitchFamily="34" charset="-122"/>
                <a:cs typeface="Arial" pitchFamily="34" charset="-120"/>
              </a:rPr>
              <a:t>100k PubMed abstracts </a:t>
            </a:r>
            <a:pPr algn="l" indent="0" marL="0">
              <a:lnSpc>
                <a:spcPct val="140000"/>
              </a:lnSpc>
              <a:buNone/>
            </a:pPr>
            <a:r>
              <a:rPr lang="en-US" sz="1650" dirty="0">
                <a:solidFill>
                  <a:srgbClr val="1A1A1A"/>
                </a:solidFill>
                <a:latin typeface="Arial" pitchFamily="34" charset="0"/>
                <a:ea typeface="Arial" pitchFamily="34" charset="-122"/>
                <a:cs typeface="Arial" pitchFamily="34" charset="-120"/>
              </a:rPr>
              <a:t>— formal academic medical prose.</a:t>
            </a:r>
            <a:endParaRPr lang="en-US" sz="1650" dirty="0"/>
          </a:p>
        </p:txBody>
      </p:sp>
      <p:sp>
        <p:nvSpPr>
          <p:cNvPr id="57" name="Shape 55"/>
          <p:cNvSpPr/>
          <p:nvPr/>
        </p:nvSpPr>
        <p:spPr>
          <a:xfrm>
            <a:off x="8865156" y="7234595"/>
            <a:ext cx="8279845" cy="1402794"/>
          </a:xfrm>
          <a:prstGeom prst="rect">
            <a:avLst/>
          </a:prstGeom>
          <a:solidFill>
            <a:srgbClr val="FFFDF7"/>
          </a:solidFill>
          <a:ln/>
        </p:spPr>
      </p:sp>
      <p:sp>
        <p:nvSpPr>
          <p:cNvPr id="58" name="Shape 56"/>
          <p:cNvSpPr/>
          <p:nvPr/>
        </p:nvSpPr>
        <p:spPr>
          <a:xfrm>
            <a:off x="8865156" y="8629769"/>
            <a:ext cx="8279845" cy="9525"/>
          </a:xfrm>
          <a:prstGeom prst="rect">
            <a:avLst/>
          </a:prstGeom>
          <a:solidFill>
            <a:srgbClr val="E4DCC6"/>
          </a:solidFill>
          <a:ln/>
        </p:spPr>
      </p:sp>
      <p:sp>
        <p:nvSpPr>
          <p:cNvPr id="59" name="Shape 57"/>
          <p:cNvSpPr/>
          <p:nvPr/>
        </p:nvSpPr>
        <p:spPr>
          <a:xfrm>
            <a:off x="8865156" y="7234595"/>
            <a:ext cx="8279845" cy="9525"/>
          </a:xfrm>
          <a:prstGeom prst="rect">
            <a:avLst/>
          </a:prstGeom>
          <a:solidFill>
            <a:srgbClr val="E4DCC6"/>
          </a:solidFill>
          <a:ln/>
        </p:spPr>
      </p:sp>
      <p:sp>
        <p:nvSpPr>
          <p:cNvPr id="60" name="Shape 58"/>
          <p:cNvSpPr/>
          <p:nvPr/>
        </p:nvSpPr>
        <p:spPr>
          <a:xfrm>
            <a:off x="8865156" y="7234595"/>
            <a:ext cx="45720" cy="1402794"/>
          </a:xfrm>
          <a:prstGeom prst="rect">
            <a:avLst/>
          </a:prstGeom>
          <a:solidFill>
            <a:srgbClr val="C28B1F"/>
          </a:solidFill>
          <a:ln/>
        </p:spPr>
      </p:sp>
      <p:sp>
        <p:nvSpPr>
          <p:cNvPr id="61" name="Shape 59"/>
          <p:cNvSpPr/>
          <p:nvPr/>
        </p:nvSpPr>
        <p:spPr>
          <a:xfrm>
            <a:off x="17137381" y="7234595"/>
            <a:ext cx="9525" cy="1402794"/>
          </a:xfrm>
          <a:prstGeom prst="rect">
            <a:avLst/>
          </a:prstGeom>
          <a:solidFill>
            <a:srgbClr val="E4DCC6"/>
          </a:solidFill>
          <a:ln/>
        </p:spPr>
      </p:sp>
      <p:sp>
        <p:nvSpPr>
          <p:cNvPr id="62" name="Text 60"/>
          <p:cNvSpPr/>
          <p:nvPr/>
        </p:nvSpPr>
        <p:spPr>
          <a:xfrm>
            <a:off x="9177576" y="7451765"/>
            <a:ext cx="1286827"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dirty="0">
                <a:solidFill>
                  <a:srgbClr val="C28B1F"/>
                </a:solidFill>
                <a:latin typeface="Arial" pitchFamily="34" charset="0"/>
                <a:ea typeface="Arial" pitchFamily="34" charset="-122"/>
                <a:cs typeface="Arial" pitchFamily="34" charset="-120"/>
              </a:rPr>
              <a:t>mtsamples</a:t>
            </a:r>
            <a:endParaRPr lang="en-US" sz="1800" dirty="0"/>
          </a:p>
        </p:txBody>
      </p:sp>
      <p:sp>
        <p:nvSpPr>
          <p:cNvPr id="63" name="Text 61"/>
          <p:cNvSpPr/>
          <p:nvPr/>
        </p:nvSpPr>
        <p:spPr>
          <a:xfrm>
            <a:off x="15102840" y="7520345"/>
            <a:ext cx="1844040" cy="281464"/>
          </a:xfrm>
          <a:prstGeom prst="rect">
            <a:avLst/>
          </a:prstGeom>
          <a:noFill/>
          <a:ln/>
        </p:spPr>
        <p:txBody>
          <a:bodyPr wrap="square" lIns="25400" tIns="25400" rIns="25400" bIns="25400" rtlCol="0" anchor="t">
            <a:normAutofit/>
          </a:bodyPr>
          <a:lstStyle/>
          <a:p>
            <a:pPr algn="l" indent="0" marL="0">
              <a:lnSpc>
                <a:spcPct val="142000"/>
              </a:lnSpc>
              <a:buNone/>
            </a:pPr>
            <a:r>
              <a:rPr lang="en-US" sz="1350" dirty="0">
                <a:solidFill>
                  <a:srgbClr val="8A8375"/>
                </a:solidFill>
                <a:latin typeface="Arial" pitchFamily="34" charset="0"/>
                <a:ea typeface="Arial" pitchFamily="34" charset="-122"/>
                <a:cs typeface="Arial" pitchFamily="34" charset="-120"/>
              </a:rPr>
              <a:t>byte-level BPE · V=10k</a:t>
            </a:r>
            <a:endParaRPr lang="en-US" sz="1350" dirty="0"/>
          </a:p>
        </p:txBody>
      </p:sp>
      <p:sp>
        <p:nvSpPr>
          <p:cNvPr id="64" name="Text 62"/>
          <p:cNvSpPr/>
          <p:nvPr/>
        </p:nvSpPr>
        <p:spPr>
          <a:xfrm>
            <a:off x="9177576" y="7833479"/>
            <a:ext cx="7923897" cy="6248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1A1A1A"/>
                </a:solidFill>
                <a:latin typeface="Arial" pitchFamily="34" charset="0"/>
                <a:ea typeface="Arial" pitchFamily="34" charset="-122"/>
                <a:cs typeface="Arial" pitchFamily="34" charset="-120"/>
              </a:rPr>
              <a:t>Trained on </a:t>
            </a:r>
            <a:pPr algn="l" indent="0" marL="0">
              <a:lnSpc>
                <a:spcPct val="140000"/>
              </a:lnSpc>
              <a:buNone/>
            </a:pPr>
            <a:r>
              <a:rPr lang="en-US" sz="1650" b="1" dirty="0">
                <a:solidFill>
                  <a:srgbClr val="1A1A1A"/>
                </a:solidFill>
                <a:latin typeface="Arial" pitchFamily="34" charset="0"/>
                <a:ea typeface="Arial" pitchFamily="34" charset="-122"/>
                <a:cs typeface="Arial" pitchFamily="34" charset="-120"/>
              </a:rPr>
              <a:t>4,966 MTSamples clinical transcripts </a:t>
            </a:r>
            <a:pPr algn="l" indent="0" marL="0">
              <a:lnSpc>
                <a:spcPct val="140000"/>
              </a:lnSpc>
              <a:buNone/>
            </a:pPr>
            <a:r>
              <a:rPr lang="en-US" sz="1650" dirty="0">
                <a:solidFill>
                  <a:srgbClr val="1A1A1A"/>
                </a:solidFill>
                <a:latin typeface="Arial" pitchFamily="34" charset="0"/>
                <a:ea typeface="Arial" pitchFamily="34" charset="-122"/>
                <a:cs typeface="Arial" pitchFamily="34" charset="-120"/>
              </a:rPr>
              <a:t>— SOAP notes, op reports, dictation.</a:t>
            </a:r>
            <a:endParaRPr lang="en-US" sz="1650" dirty="0"/>
          </a:p>
        </p:txBody>
      </p:sp>
      <p:sp>
        <p:nvSpPr>
          <p:cNvPr id="65" name="Text 63"/>
          <p:cNvSpPr/>
          <p:nvPr/>
        </p:nvSpPr>
        <p:spPr>
          <a:xfrm>
            <a:off x="8865156" y="8808839"/>
            <a:ext cx="852824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EVALUATED ON</a:t>
            </a:r>
            <a:endParaRPr lang="en-US" sz="1800" dirty="0"/>
          </a:p>
        </p:txBody>
      </p:sp>
      <p:sp>
        <p:nvSpPr>
          <p:cNvPr id="66" name="Text 64"/>
          <p:cNvSpPr/>
          <p:nvPr/>
        </p:nvSpPr>
        <p:spPr>
          <a:xfrm>
            <a:off x="8865156" y="9190554"/>
            <a:ext cx="8528240" cy="323850"/>
          </a:xfrm>
          <a:prstGeom prst="rect">
            <a:avLst/>
          </a:prstGeom>
          <a:noFill/>
          <a:ln/>
        </p:spPr>
        <p:txBody>
          <a:bodyPr wrap="square" lIns="25400" tIns="25400" rIns="25400" bIns="25400" rtlCol="0" anchor="t">
            <a:normAutofit/>
          </a:bodyPr>
          <a:lstStyle/>
          <a:p>
            <a:pPr algn="l" indent="0" marL="0">
              <a:lnSpc>
                <a:spcPct val="150000"/>
              </a:lnSpc>
              <a:buNone/>
            </a:pPr>
            <a:r>
              <a:rPr lang="en-US" sz="1500" b="1" dirty="0">
                <a:solidFill>
                  <a:srgbClr val="3E3A33"/>
                </a:solidFill>
                <a:latin typeface="Arial" pitchFamily="34" charset="0"/>
                <a:ea typeface="Arial" pitchFamily="34" charset="-122"/>
                <a:cs typeface="Arial" pitchFamily="34" charset="-120"/>
              </a:rPr>
              <a:t>PubMed </a:t>
            </a:r>
            <a:pPr algn="l" indent="0" marL="0">
              <a:lnSpc>
                <a:spcPct val="150000"/>
              </a:lnSpc>
              <a:buNone/>
            </a:pPr>
            <a:r>
              <a:rPr lang="en-US" sz="1500" dirty="0">
                <a:solidFill>
                  <a:srgbClr val="3E3A33"/>
                </a:solidFill>
                <a:latin typeface="Arial" pitchFamily="34" charset="0"/>
                <a:ea typeface="Arial" pitchFamily="34" charset="-122"/>
                <a:cs typeface="Arial" pitchFamily="34" charset="-120"/>
              </a:rPr>
              <a:t>(in-domain) · </a:t>
            </a:r>
            <a:pPr algn="l" indent="0" marL="0">
              <a:lnSpc>
                <a:spcPct val="150000"/>
              </a:lnSpc>
              <a:buNone/>
            </a:pPr>
            <a:r>
              <a:rPr lang="en-US" sz="1500" b="1" dirty="0">
                <a:solidFill>
                  <a:srgbClr val="3E3A33"/>
                </a:solidFill>
                <a:latin typeface="Arial" pitchFamily="34" charset="0"/>
                <a:ea typeface="Arial" pitchFamily="34" charset="-122"/>
                <a:cs typeface="Arial" pitchFamily="34" charset="-120"/>
              </a:rPr>
              <a:t>Wikitext </a:t>
            </a:r>
            <a:pPr algn="l" indent="0" marL="0">
              <a:lnSpc>
                <a:spcPct val="150000"/>
              </a:lnSpc>
              <a:buNone/>
            </a:pPr>
            <a:r>
              <a:rPr lang="en-US" sz="1500" dirty="0">
                <a:solidFill>
                  <a:srgbClr val="3E3A33"/>
                </a:solidFill>
                <a:latin typeface="Arial" pitchFamily="34" charset="0"/>
                <a:ea typeface="Arial" pitchFamily="34" charset="-122"/>
                <a:cs typeface="Arial" pitchFamily="34" charset="-120"/>
              </a:rPr>
              <a:t>(out-of-domain) · </a:t>
            </a:r>
            <a:pPr algn="l" indent="0" marL="0">
              <a:lnSpc>
                <a:spcPct val="150000"/>
              </a:lnSpc>
              <a:buNone/>
            </a:pPr>
            <a:r>
              <a:rPr lang="en-US" sz="1500" b="1" dirty="0">
                <a:solidFill>
                  <a:srgbClr val="3E3A33"/>
                </a:solidFill>
                <a:latin typeface="Arial" pitchFamily="34" charset="0"/>
                <a:ea typeface="Arial" pitchFamily="34" charset="-122"/>
                <a:cs typeface="Arial" pitchFamily="34" charset="-120"/>
              </a:rPr>
              <a:t>MTSamples </a:t>
            </a:r>
            <a:pPr algn="l" indent="0" marL="0">
              <a:lnSpc>
                <a:spcPct val="150000"/>
              </a:lnSpc>
              <a:buNone/>
            </a:pPr>
            <a:r>
              <a:rPr lang="en-US" sz="1500" dirty="0">
                <a:solidFill>
                  <a:srgbClr val="3E3A33"/>
                </a:solidFill>
                <a:latin typeface="Arial" pitchFamily="34" charset="0"/>
                <a:ea typeface="Arial" pitchFamily="34" charset="-122"/>
                <a:cs typeface="Arial" pitchFamily="34" charset="-120"/>
              </a:rPr>
              <a:t>(cross-register medical)</a:t>
            </a:r>
            <a:endParaRPr lang="en-US" sz="1500" dirty="0"/>
          </a:p>
        </p:txBody>
      </p:sp>
      <p:sp>
        <p:nvSpPr>
          <p:cNvPr id="67" name="Text 65"/>
          <p:cNvSpPr/>
          <p:nvPr/>
        </p:nvSpPr>
        <p:spPr>
          <a:xfrm>
            <a:off x="16588860" y="9429036"/>
            <a:ext cx="63234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144" kern="0" dirty="0">
                <a:solidFill>
                  <a:srgbClr val="8A8375"/>
                </a:solidFill>
                <a:latin typeface="Arial" pitchFamily="34" charset="0"/>
                <a:ea typeface="Arial" pitchFamily="34" charset="-122"/>
                <a:cs typeface="Arial" pitchFamily="34" charset="-120"/>
              </a:rPr>
              <a:t>S·04</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1143000" y="533400"/>
            <a:ext cx="2168962"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 02 · METHOD</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05 </a:t>
            </a:r>
            <a:pPr algn="l" indent="0" marL="0">
              <a:lnSpc>
                <a:spcPct val="142000"/>
              </a:lnSpc>
              <a:buNone/>
            </a:pPr>
            <a:r>
              <a:rPr lang="en-US" sz="1800" spc="252" kern="0" dirty="0">
                <a:solidFill>
                  <a:srgbClr val="C9BFA8"/>
                </a:solidFill>
                <a:latin typeface="Arial" pitchFamily="34" charset="0"/>
                <a:ea typeface="Arial" pitchFamily="34" charset="-122"/>
                <a:cs typeface="Arial" pitchFamily="34" charset="-120"/>
              </a:rPr>
              <a:t>/ 15</a:t>
            </a:r>
            <a:endParaRPr lang="en-US" sz="1800" dirty="0"/>
          </a:p>
        </p:txBody>
      </p:sp>
      <p:sp>
        <p:nvSpPr>
          <p:cNvPr id="4" name="Shape 2"/>
          <p:cNvSpPr/>
          <p:nvPr/>
        </p:nvSpPr>
        <p:spPr>
          <a:xfrm>
            <a:off x="1143000" y="2286000"/>
            <a:ext cx="914400" cy="9525"/>
          </a:xfrm>
          <a:prstGeom prst="rect">
            <a:avLst/>
          </a:prstGeom>
          <a:solidFill>
            <a:srgbClr val="C9BFA8"/>
          </a:solidFill>
          <a:ln/>
        </p:spPr>
      </p:sp>
      <p:sp>
        <p:nvSpPr>
          <p:cNvPr id="5" name="Text 3"/>
          <p:cNvSpPr/>
          <p:nvPr/>
        </p:nvSpPr>
        <p:spPr>
          <a:xfrm>
            <a:off x="1143000" y="2674620"/>
            <a:ext cx="14716125" cy="696397"/>
          </a:xfrm>
          <a:prstGeom prst="rect">
            <a:avLst/>
          </a:prstGeom>
          <a:noFill/>
          <a:ln/>
        </p:spPr>
        <p:txBody>
          <a:bodyPr wrap="square" lIns="25400" tIns="25400" rIns="25400" bIns="25400" rtlCol="0" anchor="t">
            <a:normAutofit/>
          </a:bodyPr>
          <a:lstStyle/>
          <a:p>
            <a:pPr algn="l" indent="0" marL="0">
              <a:lnSpc>
                <a:spcPct val="108000"/>
              </a:lnSpc>
              <a:buNone/>
            </a:pPr>
            <a:r>
              <a:rPr lang="en-US" sz="4800" spc="-72" kern="0" dirty="0">
                <a:solidFill>
                  <a:srgbClr val="1A1A1A"/>
                </a:solidFill>
                <a:latin typeface="Arial" pitchFamily="34" charset="0"/>
                <a:ea typeface="Arial" pitchFamily="34" charset="-122"/>
                <a:cs typeface="Arial" pitchFamily="34" charset="-120"/>
              </a:rPr>
              <a:t>Bits per character: the only fair metric.</a:t>
            </a:r>
            <a:endParaRPr lang="en-US" sz="4800" dirty="0"/>
          </a:p>
        </p:txBody>
      </p:sp>
      <p:sp>
        <p:nvSpPr>
          <p:cNvPr id="6" name="Text 4"/>
          <p:cNvSpPr/>
          <p:nvPr/>
        </p:nvSpPr>
        <p:spPr>
          <a:xfrm>
            <a:off x="1143000" y="3790117"/>
            <a:ext cx="13735050" cy="501015"/>
          </a:xfrm>
          <a:prstGeom prst="rect">
            <a:avLst/>
          </a:prstGeom>
          <a:noFill/>
          <a:ln/>
        </p:spPr>
        <p:txBody>
          <a:bodyPr wrap="square" lIns="25400" tIns="25400" rIns="25400" bIns="25400" rtlCol="0" anchor="t">
            <a:normAutofit/>
          </a:bodyPr>
          <a:lstStyle/>
          <a:p>
            <a:pPr algn="l" indent="0" marL="0">
              <a:lnSpc>
                <a:spcPct val="135000"/>
              </a:lnSpc>
              <a:buNone/>
            </a:pPr>
            <a:r>
              <a:rPr lang="en-US" sz="2700" dirty="0">
                <a:solidFill>
                  <a:srgbClr val="3E3A33"/>
                </a:solidFill>
                <a:latin typeface="Arial" pitchFamily="34" charset="0"/>
                <a:ea typeface="Arial" pitchFamily="34" charset="-122"/>
                <a:cs typeface="Arial" pitchFamily="34" charset="-120"/>
              </a:rPr>
              <a:t>Per-token perplexity cannot compare tokenizers—the token itself is different.</a:t>
            </a:r>
            <a:endParaRPr lang="en-US" sz="2700" dirty="0"/>
          </a:p>
        </p:txBody>
      </p:sp>
      <p:sp>
        <p:nvSpPr>
          <p:cNvPr id="7" name="Text 5"/>
          <p:cNvSpPr/>
          <p:nvPr/>
        </p:nvSpPr>
        <p:spPr>
          <a:xfrm>
            <a:off x="1143000" y="4900732"/>
            <a:ext cx="784860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THE PROBLEM</a:t>
            </a:r>
            <a:endParaRPr lang="en-US" sz="1800" dirty="0"/>
          </a:p>
        </p:txBody>
      </p:sp>
      <p:sp>
        <p:nvSpPr>
          <p:cNvPr id="8" name="Text 6"/>
          <p:cNvSpPr/>
          <p:nvPr/>
        </p:nvSpPr>
        <p:spPr>
          <a:xfrm>
            <a:off x="1143000" y="5491996"/>
            <a:ext cx="6278880" cy="1584960"/>
          </a:xfrm>
          <a:prstGeom prst="rect">
            <a:avLst/>
          </a:prstGeom>
          <a:noFill/>
          <a:ln/>
        </p:spPr>
        <p:txBody>
          <a:bodyPr wrap="square" lIns="25400" tIns="25400" rIns="25400" bIns="25400" rtlCol="0" anchor="t">
            <a:normAutofit/>
          </a:bodyPr>
          <a:lstStyle/>
          <a:p>
            <a:pPr algn="l" indent="0" marL="0">
              <a:lnSpc>
                <a:spcPct val="145000"/>
              </a:lnSpc>
              <a:buNone/>
            </a:pPr>
            <a:r>
              <a:rPr lang="en-US" sz="2100" dirty="0">
                <a:solidFill>
                  <a:srgbClr val="3E3A33"/>
                </a:solidFill>
                <a:latin typeface="Arial" pitchFamily="34" charset="0"/>
                <a:ea typeface="Arial" pitchFamily="34" charset="-122"/>
                <a:cs typeface="Arial" pitchFamily="34" charset="-120"/>
              </a:rPr>
              <a:t>If tokenizer A represents a doc in 100 tokens and tokenizer B in 200, a per-token loss of </a:t>
            </a:r>
            <a:pPr algn="l" indent="0" marL="0">
              <a:lnSpc>
                <a:spcPct val="145000"/>
              </a:lnSpc>
              <a:buNone/>
            </a:pPr>
            <a:r>
              <a:rPr lang="en-US" sz="2100" i="1" dirty="0">
                <a:solidFill>
                  <a:srgbClr val="3E3A33"/>
                </a:solidFill>
                <a:latin typeface="Arial" pitchFamily="34" charset="0"/>
                <a:ea typeface="Arial" pitchFamily="34" charset="-122"/>
                <a:cs typeface="Arial" pitchFamily="34" charset="-120"/>
              </a:rPr>
              <a:t>ℓ </a:t>
            </a:r>
            <a:pPr algn="l" indent="0" marL="0">
              <a:lnSpc>
                <a:spcPct val="145000"/>
              </a:lnSpc>
              <a:buNone/>
            </a:pPr>
            <a:r>
              <a:rPr lang="en-US" sz="2100" dirty="0">
                <a:solidFill>
                  <a:srgbClr val="3E3A33"/>
                </a:solidFill>
                <a:latin typeface="Arial" pitchFamily="34" charset="0"/>
                <a:ea typeface="Arial" pitchFamily="34" charset="-122"/>
                <a:cs typeface="Arial" pitchFamily="34" charset="-120"/>
              </a:rPr>
              <a:t>means very different things in each case. B's tokens are </a:t>
            </a:r>
            <a:pPr algn="l" indent="0" marL="0">
              <a:lnSpc>
                <a:spcPct val="145000"/>
              </a:lnSpc>
              <a:buNone/>
            </a:pPr>
            <a:r>
              <a:rPr lang="en-US" sz="2100" i="1" dirty="0">
                <a:solidFill>
                  <a:srgbClr val="3E3A33"/>
                </a:solidFill>
                <a:latin typeface="Arial" pitchFamily="34" charset="0"/>
                <a:ea typeface="Arial" pitchFamily="34" charset="-122"/>
                <a:cs typeface="Arial" pitchFamily="34" charset="-120"/>
              </a:rPr>
              <a:t>easier to predict </a:t>
            </a:r>
            <a:pPr algn="l" indent="0" marL="0">
              <a:lnSpc>
                <a:spcPct val="145000"/>
              </a:lnSpc>
              <a:buNone/>
            </a:pPr>
            <a:r>
              <a:rPr lang="en-US" sz="2100" dirty="0">
                <a:solidFill>
                  <a:srgbClr val="3E3A33"/>
                </a:solidFill>
                <a:latin typeface="Arial" pitchFamily="34" charset="0"/>
                <a:ea typeface="Arial" pitchFamily="34" charset="-122"/>
                <a:cs typeface="Arial" pitchFamily="34" charset="-120"/>
              </a:rPr>
              <a:t>—each one carries less information.</a:t>
            </a:r>
            <a:endParaRPr lang="en-US" sz="2100" dirty="0"/>
          </a:p>
        </p:txBody>
      </p:sp>
      <p:sp>
        <p:nvSpPr>
          <p:cNvPr id="9" name="Text 7"/>
          <p:cNvSpPr/>
          <p:nvPr/>
        </p:nvSpPr>
        <p:spPr>
          <a:xfrm>
            <a:off x="1143000" y="7305556"/>
            <a:ext cx="6278880" cy="424815"/>
          </a:xfrm>
          <a:prstGeom prst="rect">
            <a:avLst/>
          </a:prstGeom>
          <a:noFill/>
          <a:ln/>
        </p:spPr>
        <p:txBody>
          <a:bodyPr wrap="square" lIns="25400" tIns="25400" rIns="25400" bIns="25400" rtlCol="0" anchor="t">
            <a:normAutofit/>
          </a:bodyPr>
          <a:lstStyle/>
          <a:p>
            <a:pPr algn="l" indent="0" marL="0">
              <a:lnSpc>
                <a:spcPct val="145000"/>
              </a:lnSpc>
              <a:buNone/>
            </a:pPr>
            <a:r>
              <a:rPr lang="en-US" sz="2100" i="1" dirty="0">
                <a:solidFill>
                  <a:srgbClr val="1A1A1A"/>
                </a:solidFill>
                <a:latin typeface="Arial" pitchFamily="34" charset="0"/>
                <a:ea typeface="Arial" pitchFamily="34" charset="-122"/>
                <a:cs typeface="Arial" pitchFamily="34" charset="-120"/>
              </a:rPr>
              <a:t>We need a unit that doesn't depend on the tokenizer.</a:t>
            </a:r>
            <a:endParaRPr lang="en-US" sz="2100" dirty="0"/>
          </a:p>
        </p:txBody>
      </p:sp>
      <p:sp>
        <p:nvSpPr>
          <p:cNvPr id="10" name="Text 8"/>
          <p:cNvSpPr/>
          <p:nvPr/>
        </p:nvSpPr>
        <p:spPr>
          <a:xfrm>
            <a:off x="9525000" y="4900732"/>
            <a:ext cx="784860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THE FIX — NORMALIZE TO CHARACTERS</a:t>
            </a:r>
            <a:endParaRPr lang="en-US" sz="1800" dirty="0"/>
          </a:p>
        </p:txBody>
      </p:sp>
      <p:sp>
        <p:nvSpPr>
          <p:cNvPr id="11" name="Shape 9"/>
          <p:cNvSpPr/>
          <p:nvPr/>
        </p:nvSpPr>
        <p:spPr>
          <a:xfrm>
            <a:off x="9525000" y="5491996"/>
            <a:ext cx="7620000" cy="2152650"/>
          </a:xfrm>
          <a:prstGeom prst="rect">
            <a:avLst/>
          </a:prstGeom>
          <a:solidFill>
            <a:srgbClr val="F2ECDE"/>
          </a:solidFill>
          <a:ln/>
        </p:spPr>
      </p:sp>
      <p:sp>
        <p:nvSpPr>
          <p:cNvPr id="12" name="Shape 10"/>
          <p:cNvSpPr/>
          <p:nvPr/>
        </p:nvSpPr>
        <p:spPr>
          <a:xfrm>
            <a:off x="9525000" y="7629406"/>
            <a:ext cx="7620000" cy="15240"/>
          </a:xfrm>
          <a:prstGeom prst="rect">
            <a:avLst/>
          </a:prstGeom>
          <a:solidFill>
            <a:srgbClr val="1A1A1A"/>
          </a:solidFill>
          <a:ln/>
        </p:spPr>
      </p:sp>
      <p:sp>
        <p:nvSpPr>
          <p:cNvPr id="13" name="Shape 11"/>
          <p:cNvSpPr/>
          <p:nvPr/>
        </p:nvSpPr>
        <p:spPr>
          <a:xfrm>
            <a:off x="9525000" y="5491996"/>
            <a:ext cx="7620000" cy="15240"/>
          </a:xfrm>
          <a:prstGeom prst="rect">
            <a:avLst/>
          </a:prstGeom>
          <a:solidFill>
            <a:srgbClr val="1A1A1A"/>
          </a:solidFill>
          <a:ln/>
        </p:spPr>
      </p:sp>
      <p:sp>
        <p:nvSpPr>
          <p:cNvPr id="14" name="Text 12"/>
          <p:cNvSpPr/>
          <p:nvPr/>
        </p:nvSpPr>
        <p:spPr>
          <a:xfrm>
            <a:off x="10990184" y="5888236"/>
            <a:ext cx="727234" cy="563880"/>
          </a:xfrm>
          <a:prstGeom prst="rect">
            <a:avLst/>
          </a:prstGeom>
          <a:noFill/>
          <a:ln/>
        </p:spPr>
        <p:txBody>
          <a:bodyPr wrap="square" lIns="25400" tIns="25400" rIns="25400" bIns="25400" rtlCol="0" anchor="t">
            <a:normAutofit/>
          </a:bodyPr>
          <a:lstStyle/>
          <a:p>
            <a:pPr algn="ctr" indent="0" marL="0">
              <a:lnSpc>
                <a:spcPct val="140000"/>
              </a:lnSpc>
              <a:buNone/>
            </a:pPr>
            <a:r>
              <a:rPr lang="en-US" sz="3000" i="1" spc="30" kern="0" dirty="0">
                <a:solidFill>
                  <a:srgbClr val="1A1A1A"/>
                </a:solidFill>
                <a:latin typeface="Arial" pitchFamily="34" charset="0"/>
                <a:ea typeface="Arial" pitchFamily="34" charset="-122"/>
                <a:cs typeface="Arial" pitchFamily="34" charset="-120"/>
              </a:rPr>
              <a:t>BPC</a:t>
            </a:r>
            <a:endParaRPr lang="en-US" sz="3000" dirty="0"/>
          </a:p>
        </p:txBody>
      </p:sp>
      <p:sp>
        <p:nvSpPr>
          <p:cNvPr id="15" name="Text 13"/>
          <p:cNvSpPr/>
          <p:nvPr/>
        </p:nvSpPr>
        <p:spPr>
          <a:xfrm>
            <a:off x="11804690" y="5941576"/>
            <a:ext cx="302538" cy="464820"/>
          </a:xfrm>
          <a:prstGeom prst="rect">
            <a:avLst/>
          </a:prstGeom>
          <a:noFill/>
          <a:ln/>
        </p:spPr>
        <p:txBody>
          <a:bodyPr wrap="square" lIns="25400" tIns="25400" rIns="25400" bIns="25400" rtlCol="0" anchor="t">
            <a:normAutofit/>
          </a:bodyPr>
          <a:lstStyle/>
          <a:p>
            <a:pPr algn="ctr" indent="0" marL="0">
              <a:lnSpc>
                <a:spcPct val="140000"/>
              </a:lnSpc>
              <a:buNone/>
            </a:pPr>
            <a:r>
              <a:rPr lang="en-US" sz="3000" spc="30" kern="0" dirty="0">
                <a:solidFill>
                  <a:srgbClr val="1A1A1A"/>
                </a:solidFill>
                <a:latin typeface="Arial" pitchFamily="34" charset="0"/>
                <a:ea typeface="Arial" pitchFamily="34" charset="-122"/>
                <a:cs typeface="Arial" pitchFamily="34" charset="-120"/>
              </a:rPr>
              <a:t>=</a:t>
            </a:r>
            <a:endParaRPr lang="en-US" sz="3000" dirty="0"/>
          </a:p>
        </p:txBody>
      </p:sp>
      <p:sp>
        <p:nvSpPr>
          <p:cNvPr id="16" name="Shape 14"/>
          <p:cNvSpPr/>
          <p:nvPr/>
        </p:nvSpPr>
        <p:spPr>
          <a:xfrm>
            <a:off x="12289751" y="6650236"/>
            <a:ext cx="3294817" cy="9525"/>
          </a:xfrm>
          <a:prstGeom prst="rect">
            <a:avLst/>
          </a:prstGeom>
          <a:solidFill>
            <a:srgbClr val="1A1A1A"/>
          </a:solidFill>
          <a:ln/>
        </p:spPr>
      </p:sp>
      <p:sp>
        <p:nvSpPr>
          <p:cNvPr id="17" name="Text 15"/>
          <p:cNvSpPr/>
          <p:nvPr/>
        </p:nvSpPr>
        <p:spPr>
          <a:xfrm>
            <a:off x="12373679" y="6059686"/>
            <a:ext cx="3126961" cy="609600"/>
          </a:xfrm>
          <a:prstGeom prst="rect">
            <a:avLst/>
          </a:prstGeom>
          <a:noFill/>
          <a:ln/>
        </p:spPr>
        <p:txBody>
          <a:bodyPr wrap="square" lIns="25400" tIns="25400" rIns="25400" bIns="25400" rtlCol="0" anchor="t">
            <a:normAutofit/>
          </a:bodyPr>
          <a:lstStyle/>
          <a:p>
            <a:pPr algn="ctr" indent="0" marL="0">
              <a:lnSpc>
                <a:spcPct val="140000"/>
              </a:lnSpc>
              <a:buNone/>
            </a:pPr>
            <a:r>
              <a:rPr lang="en-US" sz="3000" i="1" spc="30" kern="0" dirty="0">
                <a:solidFill>
                  <a:srgbClr val="1A1A1A"/>
                </a:solidFill>
                <a:latin typeface="Arial" pitchFamily="34" charset="0"/>
                <a:ea typeface="Arial" pitchFamily="34" charset="-122"/>
                <a:cs typeface="Arial" pitchFamily="34" charset="-120"/>
              </a:rPr>
              <a:t>log</a:t>
            </a:r>
            <a:pPr algn="ctr" indent="0" marL="0">
              <a:lnSpc>
                <a:spcPct val="140000"/>
              </a:lnSpc>
              <a:buNone/>
            </a:pPr>
            <a:r>
              <a:rPr lang="en-US" sz="2100" baseline="-40000" spc="30" kern="0" dirty="0">
                <a:solidFill>
                  <a:srgbClr val="1A1A1A"/>
                </a:solidFill>
                <a:latin typeface="Arial" pitchFamily="34" charset="0"/>
                <a:ea typeface="Arial" pitchFamily="34" charset="-122"/>
                <a:cs typeface="Arial" pitchFamily="34" charset="-120"/>
              </a:rPr>
              <a:t>2 </a:t>
            </a:r>
            <a:pPr algn="ctr" indent="0" marL="0">
              <a:lnSpc>
                <a:spcPct val="140000"/>
              </a:lnSpc>
              <a:buNone/>
            </a:pPr>
            <a:r>
              <a:rPr lang="en-US" sz="3000" i="1" spc="30" kern="0" dirty="0">
                <a:solidFill>
                  <a:srgbClr val="1A1A1A"/>
                </a:solidFill>
                <a:latin typeface="Arial" pitchFamily="34" charset="0"/>
                <a:ea typeface="Arial" pitchFamily="34" charset="-122"/>
                <a:cs typeface="Arial" pitchFamily="34" charset="-120"/>
              </a:rPr>
              <a:t>(e) </a:t>
            </a:r>
            <a:pPr algn="ctr" indent="0" marL="0">
              <a:lnSpc>
                <a:spcPct val="140000"/>
              </a:lnSpc>
              <a:buNone/>
            </a:pPr>
            <a:r>
              <a:rPr lang="en-US" sz="3000" spc="30" kern="0" dirty="0">
                <a:solidFill>
                  <a:srgbClr val="1A1A1A"/>
                </a:solidFill>
                <a:latin typeface="Arial" pitchFamily="34" charset="0"/>
                <a:ea typeface="Arial" pitchFamily="34" charset="-122"/>
                <a:cs typeface="Arial" pitchFamily="34" charset="-120"/>
              </a:rPr>
              <a:t>· </a:t>
            </a:r>
            <a:pPr algn="ctr" indent="0" marL="0">
              <a:lnSpc>
                <a:spcPct val="140000"/>
              </a:lnSpc>
              <a:buNone/>
            </a:pPr>
            <a:r>
              <a:rPr lang="en-US" sz="3000" i="1" spc="30" kern="0" dirty="0">
                <a:solidFill>
                  <a:srgbClr val="1A1A1A"/>
                </a:solidFill>
                <a:latin typeface="Arial" pitchFamily="34" charset="0"/>
                <a:ea typeface="Arial" pitchFamily="34" charset="-122"/>
                <a:cs typeface="Arial" pitchFamily="34" charset="-120"/>
              </a:rPr>
              <a:t>CE </a:t>
            </a:r>
            <a:pPr algn="ctr" indent="0" marL="0">
              <a:lnSpc>
                <a:spcPct val="140000"/>
              </a:lnSpc>
              <a:buNone/>
            </a:pPr>
            <a:r>
              <a:rPr lang="en-US" sz="3000" spc="30" kern="0" dirty="0">
                <a:solidFill>
                  <a:srgbClr val="1A1A1A"/>
                </a:solidFill>
                <a:latin typeface="Arial" pitchFamily="34" charset="0"/>
                <a:ea typeface="Arial" pitchFamily="34" charset="-122"/>
                <a:cs typeface="Arial" pitchFamily="34" charset="-120"/>
              </a:rPr>
              <a:t>· </a:t>
            </a:r>
            <a:pPr algn="ctr" indent="0" marL="0">
              <a:lnSpc>
                <a:spcPct val="140000"/>
              </a:lnSpc>
              <a:buNone/>
            </a:pPr>
            <a:r>
              <a:rPr lang="en-US" sz="3000" i="1" spc="30" kern="0" dirty="0">
                <a:solidFill>
                  <a:srgbClr val="1A1A1A"/>
                </a:solidFill>
                <a:latin typeface="Arial" pitchFamily="34" charset="0"/>
                <a:ea typeface="Arial" pitchFamily="34" charset="-122"/>
                <a:cs typeface="Arial" pitchFamily="34" charset="-120"/>
              </a:rPr>
              <a:t>N</a:t>
            </a:r>
            <a:pPr algn="ctr" indent="0" marL="0">
              <a:lnSpc>
                <a:spcPct val="140000"/>
              </a:lnSpc>
              <a:buNone/>
            </a:pPr>
            <a:r>
              <a:rPr lang="en-US" sz="2100" baseline="-40000" spc="30" kern="0" dirty="0">
                <a:solidFill>
                  <a:srgbClr val="1A1A1A"/>
                </a:solidFill>
                <a:latin typeface="Arial" pitchFamily="34" charset="0"/>
                <a:ea typeface="Arial" pitchFamily="34" charset="-122"/>
                <a:cs typeface="Arial" pitchFamily="34" charset="-120"/>
              </a:rPr>
              <a:t>tok</a:t>
            </a:r>
            <a:endParaRPr lang="en-US" sz="3000" dirty="0"/>
          </a:p>
        </p:txBody>
      </p:sp>
      <p:sp>
        <p:nvSpPr>
          <p:cNvPr id="18" name="Text 16"/>
          <p:cNvSpPr/>
          <p:nvPr/>
        </p:nvSpPr>
        <p:spPr>
          <a:xfrm>
            <a:off x="12373679" y="6676906"/>
            <a:ext cx="3126961" cy="609600"/>
          </a:xfrm>
          <a:prstGeom prst="rect">
            <a:avLst/>
          </a:prstGeom>
          <a:noFill/>
          <a:ln/>
        </p:spPr>
        <p:txBody>
          <a:bodyPr wrap="square" lIns="25400" tIns="25400" rIns="25400" bIns="25400" rtlCol="0" anchor="t">
            <a:normAutofit/>
          </a:bodyPr>
          <a:lstStyle/>
          <a:p>
            <a:pPr algn="ctr" indent="0" marL="0">
              <a:lnSpc>
                <a:spcPct val="140000"/>
              </a:lnSpc>
              <a:buNone/>
            </a:pPr>
            <a:r>
              <a:rPr lang="en-US" sz="3000" i="1" spc="30" kern="0" dirty="0">
                <a:solidFill>
                  <a:srgbClr val="1A1A1A"/>
                </a:solidFill>
                <a:latin typeface="Arial" pitchFamily="34" charset="0"/>
                <a:ea typeface="Arial" pitchFamily="34" charset="-122"/>
                <a:cs typeface="Arial" pitchFamily="34" charset="-120"/>
              </a:rPr>
              <a:t>N</a:t>
            </a:r>
            <a:pPr algn="ctr" indent="0" marL="0">
              <a:lnSpc>
                <a:spcPct val="140000"/>
              </a:lnSpc>
              <a:buNone/>
            </a:pPr>
            <a:r>
              <a:rPr lang="en-US" sz="2100" baseline="-40000" spc="30" kern="0" dirty="0">
                <a:solidFill>
                  <a:srgbClr val="1A1A1A"/>
                </a:solidFill>
                <a:latin typeface="Arial" pitchFamily="34" charset="0"/>
                <a:ea typeface="Arial" pitchFamily="34" charset="-122"/>
                <a:cs typeface="Arial" pitchFamily="34" charset="-120"/>
              </a:rPr>
              <a:t>chars</a:t>
            </a:r>
            <a:endParaRPr lang="en-US" sz="3000" dirty="0"/>
          </a:p>
        </p:txBody>
      </p:sp>
      <p:sp>
        <p:nvSpPr>
          <p:cNvPr id="19" name="Text 17"/>
          <p:cNvSpPr/>
          <p:nvPr/>
        </p:nvSpPr>
        <p:spPr>
          <a:xfrm>
            <a:off x="9525000" y="7873246"/>
            <a:ext cx="668060" cy="308610"/>
          </a:xfrm>
          <a:prstGeom prst="rect">
            <a:avLst/>
          </a:prstGeom>
          <a:noFill/>
          <a:ln/>
        </p:spPr>
        <p:txBody>
          <a:bodyPr wrap="square" lIns="25400" tIns="25400" rIns="25400" bIns="25400" rtlCol="0" anchor="t">
            <a:normAutofit/>
          </a:bodyPr>
          <a:lstStyle/>
          <a:p>
            <a:pPr algn="l" indent="0" marL="0">
              <a:lnSpc>
                <a:spcPct val="142000"/>
              </a:lnSpc>
              <a:buNone/>
            </a:pPr>
            <a:r>
              <a:rPr lang="en-US" sz="1500" dirty="0">
                <a:solidFill>
                  <a:srgbClr val="1A1A1A"/>
                </a:solidFill>
                <a:latin typeface="Arial" pitchFamily="34" charset="0"/>
                <a:ea typeface="Arial" pitchFamily="34" charset="-122"/>
                <a:cs typeface="Arial" pitchFamily="34" charset="-120"/>
              </a:rPr>
              <a:t>CE</a:t>
            </a:r>
            <a:endParaRPr lang="en-US" sz="1500" dirty="0"/>
          </a:p>
        </p:txBody>
      </p:sp>
      <p:sp>
        <p:nvSpPr>
          <p:cNvPr id="20" name="Text 18"/>
          <p:cNvSpPr/>
          <p:nvPr/>
        </p:nvSpPr>
        <p:spPr>
          <a:xfrm>
            <a:off x="10345460" y="7873246"/>
            <a:ext cx="5237591" cy="308610"/>
          </a:xfrm>
          <a:prstGeom prst="rect">
            <a:avLst/>
          </a:prstGeom>
          <a:noFill/>
          <a:ln/>
        </p:spPr>
        <p:txBody>
          <a:bodyPr wrap="square" lIns="25400" tIns="25400" rIns="25400" bIns="25400" rtlCol="0" anchor="t">
            <a:normAutofit/>
          </a:bodyPr>
          <a:lstStyle/>
          <a:p>
            <a:pPr algn="l" indent="0" marL="0">
              <a:lnSpc>
                <a:spcPct val="142000"/>
              </a:lnSpc>
              <a:buNone/>
            </a:pPr>
            <a:r>
              <a:rPr lang="en-US" sz="1500" dirty="0">
                <a:solidFill>
                  <a:srgbClr val="3E3A33"/>
                </a:solidFill>
                <a:latin typeface="Arial" pitchFamily="34" charset="0"/>
                <a:ea typeface="Arial" pitchFamily="34" charset="-122"/>
                <a:cs typeface="Arial" pitchFamily="34" charset="-120"/>
              </a:rPr>
              <a:t>average cross-entropy in nats (per token)</a:t>
            </a:r>
            <a:endParaRPr lang="en-US" sz="1500" dirty="0"/>
          </a:p>
        </p:txBody>
      </p:sp>
      <p:sp>
        <p:nvSpPr>
          <p:cNvPr id="21" name="Text 19"/>
          <p:cNvSpPr/>
          <p:nvPr/>
        </p:nvSpPr>
        <p:spPr>
          <a:xfrm>
            <a:off x="9525000" y="8258056"/>
            <a:ext cx="668060" cy="339566"/>
          </a:xfrm>
          <a:prstGeom prst="rect">
            <a:avLst/>
          </a:prstGeom>
          <a:noFill/>
          <a:ln/>
        </p:spPr>
        <p:txBody>
          <a:bodyPr wrap="square" lIns="25400" tIns="25400" rIns="25400" bIns="25400" rtlCol="0" anchor="t">
            <a:normAutofit/>
          </a:bodyPr>
          <a:lstStyle/>
          <a:p>
            <a:pPr algn="l" indent="0" marL="0">
              <a:lnSpc>
                <a:spcPct val="142000"/>
              </a:lnSpc>
              <a:buNone/>
            </a:pPr>
            <a:r>
              <a:rPr lang="en-US" sz="1500" dirty="0">
                <a:solidFill>
                  <a:srgbClr val="1A1A1A"/>
                </a:solidFill>
                <a:latin typeface="Arial" pitchFamily="34" charset="0"/>
                <a:ea typeface="Arial" pitchFamily="34" charset="-122"/>
                <a:cs typeface="Arial" pitchFamily="34" charset="-120"/>
              </a:rPr>
              <a:t>N</a:t>
            </a:r>
            <a:pPr algn="l" indent="0" marL="0">
              <a:lnSpc>
                <a:spcPct val="142000"/>
              </a:lnSpc>
              <a:buNone/>
            </a:pPr>
            <a:r>
              <a:rPr lang="en-US" sz="1250" baseline="-40000" dirty="0">
                <a:solidFill>
                  <a:srgbClr val="1A1A1A"/>
                </a:solidFill>
                <a:latin typeface="Arial" pitchFamily="34" charset="0"/>
                <a:ea typeface="Arial" pitchFamily="34" charset="-122"/>
                <a:cs typeface="Arial" pitchFamily="34" charset="-120"/>
              </a:rPr>
              <a:t>tok</a:t>
            </a:r>
            <a:endParaRPr lang="en-US" sz="1500" dirty="0"/>
          </a:p>
        </p:txBody>
      </p:sp>
      <p:sp>
        <p:nvSpPr>
          <p:cNvPr id="22" name="Text 20"/>
          <p:cNvSpPr/>
          <p:nvPr/>
        </p:nvSpPr>
        <p:spPr>
          <a:xfrm>
            <a:off x="10345460" y="8258056"/>
            <a:ext cx="5237591" cy="339566"/>
          </a:xfrm>
          <a:prstGeom prst="rect">
            <a:avLst/>
          </a:prstGeom>
          <a:noFill/>
          <a:ln/>
        </p:spPr>
        <p:txBody>
          <a:bodyPr wrap="square" lIns="25400" tIns="25400" rIns="25400" bIns="25400" rtlCol="0" anchor="t">
            <a:normAutofit/>
          </a:bodyPr>
          <a:lstStyle/>
          <a:p>
            <a:pPr algn="l" indent="0" marL="0">
              <a:lnSpc>
                <a:spcPct val="142000"/>
              </a:lnSpc>
              <a:buNone/>
            </a:pPr>
            <a:r>
              <a:rPr lang="en-US" sz="1500" dirty="0">
                <a:solidFill>
                  <a:srgbClr val="3E3A33"/>
                </a:solidFill>
                <a:latin typeface="Arial" pitchFamily="34" charset="0"/>
                <a:ea typeface="Arial" pitchFamily="34" charset="-122"/>
                <a:cs typeface="Arial" pitchFamily="34" charset="-120"/>
              </a:rPr>
              <a:t>tokens in the evaluation corpus</a:t>
            </a:r>
            <a:endParaRPr lang="en-US" sz="1500" dirty="0"/>
          </a:p>
        </p:txBody>
      </p:sp>
      <p:sp>
        <p:nvSpPr>
          <p:cNvPr id="23" name="Text 21"/>
          <p:cNvSpPr/>
          <p:nvPr/>
        </p:nvSpPr>
        <p:spPr>
          <a:xfrm>
            <a:off x="9525000" y="8673822"/>
            <a:ext cx="668060" cy="339566"/>
          </a:xfrm>
          <a:prstGeom prst="rect">
            <a:avLst/>
          </a:prstGeom>
          <a:noFill/>
          <a:ln/>
        </p:spPr>
        <p:txBody>
          <a:bodyPr wrap="square" lIns="25400" tIns="25400" rIns="25400" bIns="25400" rtlCol="0" anchor="t">
            <a:normAutofit/>
          </a:bodyPr>
          <a:lstStyle/>
          <a:p>
            <a:pPr algn="l" indent="0" marL="0">
              <a:lnSpc>
                <a:spcPct val="142000"/>
              </a:lnSpc>
              <a:buNone/>
            </a:pPr>
            <a:r>
              <a:rPr lang="en-US" sz="1500" dirty="0">
                <a:solidFill>
                  <a:srgbClr val="1A1A1A"/>
                </a:solidFill>
                <a:latin typeface="Arial" pitchFamily="34" charset="0"/>
                <a:ea typeface="Arial" pitchFamily="34" charset="-122"/>
                <a:cs typeface="Arial" pitchFamily="34" charset="-120"/>
              </a:rPr>
              <a:t>N</a:t>
            </a:r>
            <a:pPr algn="l" indent="0" marL="0">
              <a:lnSpc>
                <a:spcPct val="142000"/>
              </a:lnSpc>
              <a:buNone/>
            </a:pPr>
            <a:r>
              <a:rPr lang="en-US" sz="1250" baseline="-40000" dirty="0">
                <a:solidFill>
                  <a:srgbClr val="1A1A1A"/>
                </a:solidFill>
                <a:latin typeface="Arial" pitchFamily="34" charset="0"/>
                <a:ea typeface="Arial" pitchFamily="34" charset="-122"/>
                <a:cs typeface="Arial" pitchFamily="34" charset="-120"/>
              </a:rPr>
              <a:t>chars</a:t>
            </a:r>
            <a:endParaRPr lang="en-US" sz="1500" dirty="0"/>
          </a:p>
        </p:txBody>
      </p:sp>
      <p:sp>
        <p:nvSpPr>
          <p:cNvPr id="24" name="Text 22"/>
          <p:cNvSpPr/>
          <p:nvPr/>
        </p:nvSpPr>
        <p:spPr>
          <a:xfrm>
            <a:off x="10345460" y="8673822"/>
            <a:ext cx="5237591" cy="339566"/>
          </a:xfrm>
          <a:prstGeom prst="rect">
            <a:avLst/>
          </a:prstGeom>
          <a:noFill/>
          <a:ln/>
        </p:spPr>
        <p:txBody>
          <a:bodyPr wrap="square" lIns="25400" tIns="25400" rIns="25400" bIns="25400" rtlCol="0" anchor="t">
            <a:normAutofit/>
          </a:bodyPr>
          <a:lstStyle/>
          <a:p>
            <a:pPr algn="l" indent="0" marL="0">
              <a:lnSpc>
                <a:spcPct val="142000"/>
              </a:lnSpc>
              <a:buNone/>
            </a:pPr>
            <a:r>
              <a:rPr lang="en-US" sz="1500" dirty="0">
                <a:solidFill>
                  <a:srgbClr val="3E3A33"/>
                </a:solidFill>
                <a:latin typeface="Arial" pitchFamily="34" charset="0"/>
                <a:ea typeface="Arial" pitchFamily="34" charset="-122"/>
                <a:cs typeface="Arial" pitchFamily="34" charset="-120"/>
              </a:rPr>
              <a:t>raw characters in the same text</a:t>
            </a:r>
            <a:endParaRPr lang="en-US" sz="1500" dirty="0"/>
          </a:p>
        </p:txBody>
      </p:sp>
      <p:sp>
        <p:nvSpPr>
          <p:cNvPr id="25" name="Text 23"/>
          <p:cNvSpPr/>
          <p:nvPr/>
        </p:nvSpPr>
        <p:spPr>
          <a:xfrm>
            <a:off x="9525000" y="9089589"/>
            <a:ext cx="668060" cy="308610"/>
          </a:xfrm>
          <a:prstGeom prst="rect">
            <a:avLst/>
          </a:prstGeom>
          <a:noFill/>
          <a:ln/>
        </p:spPr>
        <p:txBody>
          <a:bodyPr wrap="square" lIns="25400" tIns="25400" rIns="25400" bIns="25400" rtlCol="0" anchor="t">
            <a:normAutofit/>
          </a:bodyPr>
          <a:lstStyle/>
          <a:p>
            <a:pPr algn="l" indent="0" marL="0">
              <a:lnSpc>
                <a:spcPct val="142000"/>
              </a:lnSpc>
              <a:buNone/>
            </a:pPr>
            <a:r>
              <a:rPr lang="en-US" sz="1500" dirty="0">
                <a:solidFill>
                  <a:srgbClr val="1A1A1A"/>
                </a:solidFill>
                <a:latin typeface="Arial" pitchFamily="34" charset="0"/>
                <a:ea typeface="Arial" pitchFamily="34" charset="-122"/>
                <a:cs typeface="Arial" pitchFamily="34" charset="-120"/>
              </a:rPr>
              <a:t>log₂(e)</a:t>
            </a:r>
            <a:endParaRPr lang="en-US" sz="1500" dirty="0"/>
          </a:p>
        </p:txBody>
      </p:sp>
      <p:sp>
        <p:nvSpPr>
          <p:cNvPr id="26" name="Text 24"/>
          <p:cNvSpPr/>
          <p:nvPr/>
        </p:nvSpPr>
        <p:spPr>
          <a:xfrm>
            <a:off x="10345460" y="9089589"/>
            <a:ext cx="5237591" cy="308610"/>
          </a:xfrm>
          <a:prstGeom prst="rect">
            <a:avLst/>
          </a:prstGeom>
          <a:noFill/>
          <a:ln/>
        </p:spPr>
        <p:txBody>
          <a:bodyPr wrap="square" lIns="25400" tIns="25400" rIns="25400" bIns="25400" rtlCol="0" anchor="t">
            <a:normAutofit/>
          </a:bodyPr>
          <a:lstStyle/>
          <a:p>
            <a:pPr algn="l" indent="0" marL="0">
              <a:lnSpc>
                <a:spcPct val="142000"/>
              </a:lnSpc>
              <a:buNone/>
            </a:pPr>
            <a:r>
              <a:rPr lang="en-US" sz="1500" dirty="0">
                <a:solidFill>
                  <a:srgbClr val="3E3A33"/>
                </a:solidFill>
                <a:latin typeface="Arial" pitchFamily="34" charset="0"/>
                <a:ea typeface="Arial" pitchFamily="34" charset="-122"/>
                <a:cs typeface="Arial" pitchFamily="34" charset="-120"/>
              </a:rPr>
              <a:t>convert nats → bits ( ≈ 1.4427 )</a:t>
            </a:r>
            <a:endParaRPr lang="en-US" sz="1500" dirty="0"/>
          </a:p>
        </p:txBody>
      </p:sp>
      <p:sp>
        <p:nvSpPr>
          <p:cNvPr id="27" name="Text 25"/>
          <p:cNvSpPr/>
          <p:nvPr/>
        </p:nvSpPr>
        <p:spPr>
          <a:xfrm>
            <a:off x="16588860" y="9429036"/>
            <a:ext cx="63234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144" kern="0" dirty="0">
                <a:solidFill>
                  <a:srgbClr val="8A8375"/>
                </a:solidFill>
                <a:latin typeface="Arial" pitchFamily="34" charset="0"/>
                <a:ea typeface="Arial" pitchFamily="34" charset="-122"/>
                <a:cs typeface="Arial" pitchFamily="34" charset="-120"/>
              </a:rPr>
              <a:t>S·05</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1143000" y="533400"/>
            <a:ext cx="2168962"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 02 · METHOD</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06 </a:t>
            </a:r>
            <a:pPr algn="l" indent="0" marL="0">
              <a:lnSpc>
                <a:spcPct val="142000"/>
              </a:lnSpc>
              <a:buNone/>
            </a:pPr>
            <a:r>
              <a:rPr lang="en-US" sz="1800" spc="252" kern="0" dirty="0">
                <a:solidFill>
                  <a:srgbClr val="C9BFA8"/>
                </a:solidFill>
                <a:latin typeface="Arial" pitchFamily="34" charset="0"/>
                <a:ea typeface="Arial" pitchFamily="34" charset="-122"/>
                <a:cs typeface="Arial" pitchFamily="34" charset="-120"/>
              </a:rPr>
              <a:t>/ 15</a:t>
            </a:r>
            <a:endParaRPr lang="en-US" sz="1800" dirty="0"/>
          </a:p>
        </p:txBody>
      </p:sp>
      <p:sp>
        <p:nvSpPr>
          <p:cNvPr id="4" name="Shape 2"/>
          <p:cNvSpPr/>
          <p:nvPr/>
        </p:nvSpPr>
        <p:spPr>
          <a:xfrm>
            <a:off x="1143000" y="2286000"/>
            <a:ext cx="914400" cy="9525"/>
          </a:xfrm>
          <a:prstGeom prst="rect">
            <a:avLst/>
          </a:prstGeom>
          <a:solidFill>
            <a:srgbClr val="C9BFA8"/>
          </a:solidFill>
          <a:ln/>
        </p:spPr>
      </p:sp>
      <p:sp>
        <p:nvSpPr>
          <p:cNvPr id="5" name="Text 3"/>
          <p:cNvSpPr/>
          <p:nvPr/>
        </p:nvSpPr>
        <p:spPr>
          <a:xfrm>
            <a:off x="1143000" y="2674620"/>
            <a:ext cx="14716125" cy="696397"/>
          </a:xfrm>
          <a:prstGeom prst="rect">
            <a:avLst/>
          </a:prstGeom>
          <a:noFill/>
          <a:ln/>
        </p:spPr>
        <p:txBody>
          <a:bodyPr wrap="square" lIns="25400" tIns="25400" rIns="25400" bIns="25400" rtlCol="0" anchor="t">
            <a:normAutofit/>
          </a:bodyPr>
          <a:lstStyle/>
          <a:p>
            <a:pPr algn="l" indent="0" marL="0">
              <a:lnSpc>
                <a:spcPct val="108000"/>
              </a:lnSpc>
              <a:buNone/>
            </a:pPr>
            <a:r>
              <a:rPr lang="en-US" sz="4800" spc="-72" kern="0" dirty="0">
                <a:solidFill>
                  <a:srgbClr val="1A1A1A"/>
                </a:solidFill>
                <a:latin typeface="Arial" pitchFamily="34" charset="0"/>
                <a:ea typeface="Arial" pitchFamily="34" charset="-122"/>
                <a:cs typeface="Arial" pitchFamily="34" charset="-120"/>
              </a:rPr>
              <a:t>The fairness problem.</a:t>
            </a:r>
            <a:endParaRPr lang="en-US" sz="4800" dirty="0"/>
          </a:p>
        </p:txBody>
      </p:sp>
      <p:sp>
        <p:nvSpPr>
          <p:cNvPr id="6" name="Text 4"/>
          <p:cNvSpPr/>
          <p:nvPr/>
        </p:nvSpPr>
        <p:spPr>
          <a:xfrm>
            <a:off x="1143000" y="3790117"/>
            <a:ext cx="15697200" cy="963930"/>
          </a:xfrm>
          <a:prstGeom prst="rect">
            <a:avLst/>
          </a:prstGeom>
          <a:noFill/>
          <a:ln/>
        </p:spPr>
        <p:txBody>
          <a:bodyPr wrap="square" lIns="25400" tIns="25400" rIns="25400" bIns="25400" rtlCol="0" anchor="t">
            <a:normAutofit/>
          </a:bodyPr>
          <a:lstStyle/>
          <a:p>
            <a:pPr algn="l" indent="0" marL="0">
              <a:lnSpc>
                <a:spcPct val="135000"/>
              </a:lnSpc>
              <a:buNone/>
            </a:pPr>
            <a:r>
              <a:rPr lang="en-US" sz="2700" dirty="0">
                <a:solidFill>
                  <a:srgbClr val="3E3A33"/>
                </a:solidFill>
                <a:latin typeface="Arial" pitchFamily="34" charset="0"/>
                <a:ea typeface="Arial" pitchFamily="34" charset="-122"/>
                <a:cs typeface="Arial" pitchFamily="34" charset="-120"/>
              </a:rPr>
              <a:t>Different compression ratios → different tokens-per-epoch. You can't hold compute, tokens, and text constant simultaneously.</a:t>
            </a:r>
            <a:endParaRPr lang="en-US" sz="2700" dirty="0"/>
          </a:p>
        </p:txBody>
      </p:sp>
      <p:sp>
        <p:nvSpPr>
          <p:cNvPr id="7" name="Shape 5"/>
          <p:cNvSpPr/>
          <p:nvPr/>
        </p:nvSpPr>
        <p:spPr>
          <a:xfrm>
            <a:off x="1143000" y="5363646"/>
            <a:ext cx="7658100" cy="3234690"/>
          </a:xfrm>
          <a:prstGeom prst="rect">
            <a:avLst/>
          </a:prstGeom>
          <a:solidFill>
            <a:srgbClr val="FFFDF7"/>
          </a:solidFill>
          <a:ln w="7620">
            <a:solidFill>
              <a:srgbClr val="C9BFA8"/>
            </a:solidFill>
            <a:prstDash val="solid"/>
          </a:ln>
        </p:spPr>
      </p:sp>
      <p:sp>
        <p:nvSpPr>
          <p:cNvPr id="8" name="Shape 6"/>
          <p:cNvSpPr/>
          <p:nvPr/>
        </p:nvSpPr>
        <p:spPr>
          <a:xfrm>
            <a:off x="1607820" y="5889427"/>
            <a:ext cx="1278969" cy="346710"/>
          </a:xfrm>
          <a:prstGeom prst="rect">
            <a:avLst/>
          </a:prstGeom>
          <a:solidFill>
            <a:srgbClr val="1A1A1A"/>
          </a:solidFill>
          <a:ln/>
        </p:spPr>
      </p:sp>
      <p:sp>
        <p:nvSpPr>
          <p:cNvPr id="9" name="Text 7"/>
          <p:cNvSpPr/>
          <p:nvPr/>
        </p:nvSpPr>
        <p:spPr>
          <a:xfrm>
            <a:off x="1722120" y="5927527"/>
            <a:ext cx="1126569" cy="308610"/>
          </a:xfrm>
          <a:prstGeom prst="rect">
            <a:avLst/>
          </a:prstGeom>
          <a:noFill/>
          <a:ln/>
        </p:spPr>
        <p:txBody>
          <a:bodyPr wrap="square" lIns="25400" tIns="25400" rIns="25400" bIns="25400" rtlCol="0" anchor="t">
            <a:normAutofit/>
          </a:bodyPr>
          <a:lstStyle/>
          <a:p>
            <a:pPr algn="l" indent="0" marL="0">
              <a:lnSpc>
                <a:spcPct val="142000"/>
              </a:lnSpc>
              <a:buNone/>
            </a:pPr>
            <a:r>
              <a:rPr lang="en-US" sz="1500" b="1" spc="180" kern="0" dirty="0">
                <a:solidFill>
                  <a:srgbClr val="F5EFDF"/>
                </a:solidFill>
                <a:latin typeface="Arial" pitchFamily="34" charset="0"/>
                <a:ea typeface="Arial" pitchFamily="34" charset="-122"/>
                <a:cs typeface="Arial" pitchFamily="34" charset="-120"/>
              </a:rPr>
              <a:t>OPTION 1</a:t>
            </a:r>
            <a:endParaRPr lang="en-US" sz="1500" dirty="0"/>
          </a:p>
        </p:txBody>
      </p:sp>
      <p:sp>
        <p:nvSpPr>
          <p:cNvPr id="10" name="Text 8"/>
          <p:cNvSpPr/>
          <p:nvPr/>
        </p:nvSpPr>
        <p:spPr>
          <a:xfrm>
            <a:off x="3172539" y="5828467"/>
            <a:ext cx="1719977" cy="443865"/>
          </a:xfrm>
          <a:prstGeom prst="rect">
            <a:avLst/>
          </a:prstGeom>
          <a:noFill/>
          <a:ln/>
        </p:spPr>
        <p:txBody>
          <a:bodyPr wrap="square" lIns="25400" tIns="25400" rIns="25400" bIns="25400" rtlCol="0" anchor="t">
            <a:normAutofit/>
          </a:bodyPr>
          <a:lstStyle/>
          <a:p>
            <a:pPr algn="l" indent="0" marL="0">
              <a:lnSpc>
                <a:spcPct val="142000"/>
              </a:lnSpc>
              <a:buNone/>
            </a:pPr>
            <a:r>
              <a:rPr lang="en-US" sz="2250" i="1" dirty="0">
                <a:solidFill>
                  <a:srgbClr val="1A1A1A"/>
                </a:solidFill>
                <a:latin typeface="Arial" pitchFamily="34" charset="0"/>
                <a:ea typeface="Arial" pitchFamily="34" charset="-122"/>
                <a:cs typeface="Arial" pitchFamily="34" charset="-120"/>
              </a:rPr>
              <a:t>same compute</a:t>
            </a:r>
            <a:endParaRPr lang="en-US" sz="2250" dirty="0"/>
          </a:p>
        </p:txBody>
      </p:sp>
      <p:sp>
        <p:nvSpPr>
          <p:cNvPr id="11" name="Text 9"/>
          <p:cNvSpPr/>
          <p:nvPr/>
        </p:nvSpPr>
        <p:spPr>
          <a:xfrm>
            <a:off x="1607820" y="6464737"/>
            <a:ext cx="6930314"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1A1A1A"/>
                </a:solidFill>
                <a:latin typeface="Arial" pitchFamily="34" charset="0"/>
                <a:ea typeface="Arial" pitchFamily="34" charset="-122"/>
                <a:cs typeface="Arial" pitchFamily="34" charset="-120"/>
              </a:rPr>
              <a:t>Match total gradient updates. Compare at step 6,141 .</a:t>
            </a:r>
            <a:endParaRPr lang="en-US" sz="2250" dirty="0"/>
          </a:p>
        </p:txBody>
      </p:sp>
      <p:sp>
        <p:nvSpPr>
          <p:cNvPr id="12" name="Text 10"/>
          <p:cNvSpPr/>
          <p:nvPr/>
        </p:nvSpPr>
        <p:spPr>
          <a:xfrm>
            <a:off x="1607820" y="7493437"/>
            <a:ext cx="6930314" cy="678180"/>
          </a:xfrm>
          <a:prstGeom prst="rect">
            <a:avLst/>
          </a:prstGeom>
          <a:noFill/>
          <a:ln/>
        </p:spPr>
        <p:txBody>
          <a:bodyPr wrap="square" lIns="25400" tIns="25400" rIns="25400" bIns="25400" rtlCol="0" anchor="t">
            <a:normAutofit/>
          </a:bodyPr>
          <a:lstStyle/>
          <a:p>
            <a:pPr algn="l" indent="0" marL="0">
              <a:lnSpc>
                <a:spcPct val="140000"/>
              </a:lnSpc>
              <a:buNone/>
            </a:pPr>
            <a:r>
              <a:rPr lang="en-US" sz="1800" i="1" dirty="0">
                <a:solidFill>
                  <a:srgbClr val="8A8375"/>
                </a:solidFill>
                <a:latin typeface="Arial" pitchFamily="34" charset="0"/>
                <a:ea typeface="Arial" pitchFamily="34" charset="-122"/>
                <a:cs typeface="Arial" pitchFamily="34" charset="-120"/>
              </a:rPr>
              <a:t>Specialist tokenizers see more raw text per step — fair at a matched compute budget.</a:t>
            </a:r>
            <a:endParaRPr lang="en-US" sz="1800" dirty="0"/>
          </a:p>
        </p:txBody>
      </p:sp>
      <p:sp>
        <p:nvSpPr>
          <p:cNvPr id="13" name="Shape 11"/>
          <p:cNvSpPr/>
          <p:nvPr/>
        </p:nvSpPr>
        <p:spPr>
          <a:xfrm>
            <a:off x="9486900" y="5363646"/>
            <a:ext cx="7658100" cy="3234690"/>
          </a:xfrm>
          <a:prstGeom prst="rect">
            <a:avLst/>
          </a:prstGeom>
          <a:solidFill>
            <a:srgbClr val="FFFDF7"/>
          </a:solidFill>
          <a:ln w="7620">
            <a:solidFill>
              <a:srgbClr val="C9BFA8"/>
            </a:solidFill>
            <a:prstDash val="solid"/>
          </a:ln>
        </p:spPr>
      </p:sp>
      <p:sp>
        <p:nvSpPr>
          <p:cNvPr id="14" name="Shape 12"/>
          <p:cNvSpPr/>
          <p:nvPr/>
        </p:nvSpPr>
        <p:spPr>
          <a:xfrm>
            <a:off x="9951720" y="5889427"/>
            <a:ext cx="1317069" cy="346710"/>
          </a:xfrm>
          <a:prstGeom prst="rect">
            <a:avLst/>
          </a:prstGeom>
          <a:solidFill>
            <a:srgbClr val="1A1A1A"/>
          </a:solidFill>
          <a:ln/>
        </p:spPr>
      </p:sp>
      <p:sp>
        <p:nvSpPr>
          <p:cNvPr id="15" name="Text 13"/>
          <p:cNvSpPr/>
          <p:nvPr/>
        </p:nvSpPr>
        <p:spPr>
          <a:xfrm>
            <a:off x="10066020" y="5927527"/>
            <a:ext cx="1164669" cy="308610"/>
          </a:xfrm>
          <a:prstGeom prst="rect">
            <a:avLst/>
          </a:prstGeom>
          <a:noFill/>
          <a:ln/>
        </p:spPr>
        <p:txBody>
          <a:bodyPr wrap="square" lIns="25400" tIns="25400" rIns="25400" bIns="25400" rtlCol="0" anchor="t">
            <a:normAutofit/>
          </a:bodyPr>
          <a:lstStyle/>
          <a:p>
            <a:pPr algn="l" indent="0" marL="0">
              <a:lnSpc>
                <a:spcPct val="142000"/>
              </a:lnSpc>
              <a:buNone/>
            </a:pPr>
            <a:r>
              <a:rPr lang="en-US" sz="1500" b="1" spc="180" kern="0" dirty="0">
                <a:solidFill>
                  <a:srgbClr val="F5EFDF"/>
                </a:solidFill>
                <a:latin typeface="Arial" pitchFamily="34" charset="0"/>
                <a:ea typeface="Arial" pitchFamily="34" charset="-122"/>
                <a:cs typeface="Arial" pitchFamily="34" charset="-120"/>
              </a:rPr>
              <a:t>OPTION 2</a:t>
            </a:r>
            <a:endParaRPr lang="en-US" sz="1500" dirty="0"/>
          </a:p>
        </p:txBody>
      </p:sp>
      <p:sp>
        <p:nvSpPr>
          <p:cNvPr id="16" name="Text 14"/>
          <p:cNvSpPr/>
          <p:nvPr/>
        </p:nvSpPr>
        <p:spPr>
          <a:xfrm>
            <a:off x="11554540" y="5828467"/>
            <a:ext cx="2265759" cy="443865"/>
          </a:xfrm>
          <a:prstGeom prst="rect">
            <a:avLst/>
          </a:prstGeom>
          <a:noFill/>
          <a:ln/>
        </p:spPr>
        <p:txBody>
          <a:bodyPr wrap="square" lIns="25400" tIns="25400" rIns="25400" bIns="25400" rtlCol="0" anchor="t">
            <a:normAutofit/>
          </a:bodyPr>
          <a:lstStyle/>
          <a:p>
            <a:pPr algn="l" indent="0" marL="0">
              <a:lnSpc>
                <a:spcPct val="142000"/>
              </a:lnSpc>
              <a:buNone/>
            </a:pPr>
            <a:r>
              <a:rPr lang="en-US" sz="2250" i="1" dirty="0">
                <a:solidFill>
                  <a:srgbClr val="1A1A1A"/>
                </a:solidFill>
                <a:latin typeface="Arial" pitchFamily="34" charset="0"/>
                <a:ea typeface="Arial" pitchFamily="34" charset="-122"/>
                <a:cs typeface="Arial" pitchFamily="34" charset="-120"/>
              </a:rPr>
              <a:t>same text exposure</a:t>
            </a:r>
            <a:endParaRPr lang="en-US" sz="2250" dirty="0"/>
          </a:p>
        </p:txBody>
      </p:sp>
      <p:sp>
        <p:nvSpPr>
          <p:cNvPr id="17" name="Text 15"/>
          <p:cNvSpPr/>
          <p:nvPr/>
        </p:nvSpPr>
        <p:spPr>
          <a:xfrm>
            <a:off x="9951720" y="6464737"/>
            <a:ext cx="6930314"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1A1A1A"/>
                </a:solidFill>
                <a:latin typeface="Arial" pitchFamily="34" charset="0"/>
                <a:ea typeface="Arial" pitchFamily="34" charset="-122"/>
                <a:cs typeface="Arial" pitchFamily="34" charset="-120"/>
              </a:rPr>
              <a:t>Each runs to its own 2-epoch endpoint — general at 7,784, medical at 6,142, mtsamples at 7,672.</a:t>
            </a:r>
            <a:endParaRPr lang="en-US" sz="2250" dirty="0"/>
          </a:p>
        </p:txBody>
      </p:sp>
      <p:sp>
        <p:nvSpPr>
          <p:cNvPr id="18" name="Text 16"/>
          <p:cNvSpPr/>
          <p:nvPr/>
        </p:nvSpPr>
        <p:spPr>
          <a:xfrm>
            <a:off x="9951720" y="7493437"/>
            <a:ext cx="6930314" cy="678180"/>
          </a:xfrm>
          <a:prstGeom prst="rect">
            <a:avLst/>
          </a:prstGeom>
          <a:noFill/>
          <a:ln/>
        </p:spPr>
        <p:txBody>
          <a:bodyPr wrap="square" lIns="25400" tIns="25400" rIns="25400" bIns="25400" rtlCol="0" anchor="t">
            <a:normAutofit/>
          </a:bodyPr>
          <a:lstStyle/>
          <a:p>
            <a:pPr algn="l" indent="0" marL="0">
              <a:lnSpc>
                <a:spcPct val="140000"/>
              </a:lnSpc>
              <a:buNone/>
            </a:pPr>
            <a:r>
              <a:rPr lang="en-US" sz="1800" i="1" dirty="0">
                <a:solidFill>
                  <a:srgbClr val="8A8375"/>
                </a:solidFill>
                <a:latin typeface="Arial" pitchFamily="34" charset="0"/>
                <a:ea typeface="Arial" pitchFamily="34" charset="-122"/>
                <a:cs typeface="Arial" pitchFamily="34" charset="-120"/>
              </a:rPr>
              <a:t>General does more gradient updates — fair at matched data exposure.</a:t>
            </a:r>
            <a:endParaRPr lang="en-US" sz="1800" dirty="0"/>
          </a:p>
        </p:txBody>
      </p:sp>
      <p:sp>
        <p:nvSpPr>
          <p:cNvPr id="19" name="Text 17"/>
          <p:cNvSpPr/>
          <p:nvPr/>
        </p:nvSpPr>
        <p:spPr>
          <a:xfrm>
            <a:off x="1143000" y="9055537"/>
            <a:ext cx="12753975" cy="866775"/>
          </a:xfrm>
          <a:prstGeom prst="rect">
            <a:avLst/>
          </a:prstGeom>
          <a:noFill/>
          <a:ln/>
        </p:spPr>
        <p:txBody>
          <a:bodyPr wrap="square" lIns="25400" tIns="25400" rIns="25400" bIns="25400" rtlCol="0" anchor="t">
            <a:normAutofit/>
          </a:bodyPr>
          <a:lstStyle/>
          <a:p>
            <a:pPr algn="l" indent="0" marL="0">
              <a:lnSpc>
                <a:spcPct val="145000"/>
              </a:lnSpc>
              <a:buNone/>
            </a:pPr>
            <a:r>
              <a:rPr lang="en-US" sz="2250" i="1" dirty="0">
                <a:solidFill>
                  <a:srgbClr val="1A1A1A"/>
                </a:solidFill>
                <a:latin typeface="Arial" pitchFamily="34" charset="0"/>
                <a:ea typeface="Arial" pitchFamily="34" charset="-122"/>
                <a:cs typeface="Arial" pitchFamily="34" charset="-120"/>
              </a:rPr>
              <a:t>For medical and mtsamples these collapse to the same checkpoint; the frames diverge meaningfully only for general (step 7,784 vs 6,141).</a:t>
            </a:r>
            <a:endParaRPr lang="en-US" sz="2250" dirty="0"/>
          </a:p>
        </p:txBody>
      </p:sp>
      <p:sp>
        <p:nvSpPr>
          <p:cNvPr id="20" name="Text 18"/>
          <p:cNvSpPr/>
          <p:nvPr/>
        </p:nvSpPr>
        <p:spPr>
          <a:xfrm>
            <a:off x="16588860" y="9429036"/>
            <a:ext cx="63234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144" kern="0" dirty="0">
                <a:solidFill>
                  <a:srgbClr val="8A8375"/>
                </a:solidFill>
                <a:latin typeface="Arial" pitchFamily="34" charset="0"/>
                <a:ea typeface="Arial" pitchFamily="34" charset="-122"/>
                <a:cs typeface="Arial" pitchFamily="34" charset="-120"/>
              </a:rPr>
              <a:t>S·06</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1143000" y="533400"/>
            <a:ext cx="2204323"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 03 · RESULTS</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07 </a:t>
            </a:r>
            <a:pPr algn="l" indent="0" marL="0">
              <a:lnSpc>
                <a:spcPct val="142000"/>
              </a:lnSpc>
              <a:buNone/>
            </a:pPr>
            <a:r>
              <a:rPr lang="en-US" sz="1800" spc="252" kern="0" dirty="0">
                <a:solidFill>
                  <a:srgbClr val="C9BFA8"/>
                </a:solidFill>
                <a:latin typeface="Arial" pitchFamily="34" charset="0"/>
                <a:ea typeface="Arial" pitchFamily="34" charset="-122"/>
                <a:cs typeface="Arial" pitchFamily="34" charset="-120"/>
              </a:rPr>
              <a:t>/ 15</a:t>
            </a:r>
            <a:endParaRPr lang="en-US" sz="1800" dirty="0"/>
          </a:p>
        </p:txBody>
      </p:sp>
      <p:sp>
        <p:nvSpPr>
          <p:cNvPr id="4" name="Shape 2"/>
          <p:cNvSpPr/>
          <p:nvPr/>
        </p:nvSpPr>
        <p:spPr>
          <a:xfrm>
            <a:off x="1143000" y="2286000"/>
            <a:ext cx="914400" cy="9525"/>
          </a:xfrm>
          <a:prstGeom prst="rect">
            <a:avLst/>
          </a:prstGeom>
          <a:solidFill>
            <a:srgbClr val="C9BFA8"/>
          </a:solidFill>
          <a:ln/>
        </p:spPr>
      </p:sp>
      <p:sp>
        <p:nvSpPr>
          <p:cNvPr id="5" name="Text 3"/>
          <p:cNvSpPr/>
          <p:nvPr/>
        </p:nvSpPr>
        <p:spPr>
          <a:xfrm>
            <a:off x="1143000" y="2674620"/>
            <a:ext cx="14716125" cy="696397"/>
          </a:xfrm>
          <a:prstGeom prst="rect">
            <a:avLst/>
          </a:prstGeom>
          <a:noFill/>
          <a:ln/>
        </p:spPr>
        <p:txBody>
          <a:bodyPr wrap="square" lIns="25400" tIns="25400" rIns="25400" bIns="25400" rtlCol="0" anchor="t">
            <a:normAutofit/>
          </a:bodyPr>
          <a:lstStyle/>
          <a:p>
            <a:pPr algn="l" indent="0" marL="0">
              <a:lnSpc>
                <a:spcPct val="108000"/>
              </a:lnSpc>
              <a:buNone/>
            </a:pPr>
            <a:r>
              <a:rPr lang="en-US" sz="4800" spc="-72" kern="0" dirty="0">
                <a:solidFill>
                  <a:srgbClr val="1A1A1A"/>
                </a:solidFill>
                <a:latin typeface="Arial" pitchFamily="34" charset="0"/>
                <a:ea typeface="Arial" pitchFamily="34" charset="-122"/>
                <a:cs typeface="Arial" pitchFamily="34" charset="-120"/>
              </a:rPr>
              <a:t>Compression — diagonal wins, before any training.</a:t>
            </a:r>
            <a:endParaRPr lang="en-US" sz="4800" dirty="0"/>
          </a:p>
        </p:txBody>
      </p:sp>
      <p:sp>
        <p:nvSpPr>
          <p:cNvPr id="6" name="Text 4"/>
          <p:cNvSpPr/>
          <p:nvPr/>
        </p:nvSpPr>
        <p:spPr>
          <a:xfrm>
            <a:off x="1143000" y="3790117"/>
            <a:ext cx="13735050" cy="501015"/>
          </a:xfrm>
          <a:prstGeom prst="rect">
            <a:avLst/>
          </a:prstGeom>
          <a:noFill/>
          <a:ln/>
        </p:spPr>
        <p:txBody>
          <a:bodyPr wrap="square" lIns="25400" tIns="25400" rIns="25400" bIns="25400" rtlCol="0" anchor="t">
            <a:normAutofit/>
          </a:bodyPr>
          <a:lstStyle/>
          <a:p>
            <a:pPr algn="l" indent="0" marL="0">
              <a:lnSpc>
                <a:spcPct val="135000"/>
              </a:lnSpc>
              <a:buNone/>
            </a:pPr>
            <a:r>
              <a:rPr lang="en-US" sz="2700" dirty="0">
                <a:solidFill>
                  <a:srgbClr val="3E3A33"/>
                </a:solidFill>
                <a:latin typeface="Arial" pitchFamily="34" charset="0"/>
                <a:ea typeface="Arial" pitchFamily="34" charset="-122"/>
                <a:cs typeface="Arial" pitchFamily="34" charset="-120"/>
              </a:rPr>
              <a:t>Each tokenizer wins on its training register. The MTSamples bar is the largest.</a:t>
            </a:r>
            <a:endParaRPr lang="en-US" sz="2700" dirty="0"/>
          </a:p>
        </p:txBody>
      </p:sp>
      <p:pic>
        <p:nvPicPr>
          <p:cNvPr id="7" name="Image 0" descr="preencoded.png">    </p:cNvPr>
          <p:cNvPicPr>
            <a:picLocks noChangeAspect="1"/>
          </p:cNvPicPr>
          <p:nvPr/>
        </p:nvPicPr>
        <p:blipFill>
          <a:blip r:embed="rId1"/>
          <a:stretch>
            <a:fillRect/>
          </a:stretch>
        </p:blipFill>
        <p:spPr>
          <a:xfrm>
            <a:off x="1143000" y="4519732"/>
            <a:ext cx="16002000" cy="3647837"/>
          </a:xfrm>
          <a:prstGeom prst="rect">
            <a:avLst/>
          </a:prstGeom>
        </p:spPr>
      </p:pic>
      <p:sp>
        <p:nvSpPr>
          <p:cNvPr id="8" name="Shape 5"/>
          <p:cNvSpPr/>
          <p:nvPr/>
        </p:nvSpPr>
        <p:spPr>
          <a:xfrm>
            <a:off x="12858750" y="8276630"/>
            <a:ext cx="133350" cy="133350"/>
          </a:xfrm>
          <a:prstGeom prst="roundRect">
            <a:avLst>
              <a:gd name="adj" fmla="val 21429"/>
            </a:avLst>
          </a:prstGeom>
          <a:solidFill>
            <a:srgbClr val="2457A8"/>
          </a:solidFill>
          <a:ln/>
        </p:spPr>
      </p:sp>
      <p:sp>
        <p:nvSpPr>
          <p:cNvPr id="9" name="Text 6"/>
          <p:cNvSpPr/>
          <p:nvPr/>
        </p:nvSpPr>
        <p:spPr>
          <a:xfrm>
            <a:off x="13087350" y="8205668"/>
            <a:ext cx="937022" cy="312420"/>
          </a:xfrm>
          <a:prstGeom prst="rect">
            <a:avLst/>
          </a:prstGeom>
          <a:noFill/>
          <a:ln/>
        </p:spPr>
        <p:txBody>
          <a:bodyPr wrap="square" lIns="0" tIns="0" rIns="0" bIns="0" rtlCol="0" anchor="t">
            <a:normAutofit/>
          </a:bodyPr>
          <a:lstStyle/>
          <a:p>
            <a:pPr algn="l" indent="0" marL="0">
              <a:lnSpc>
                <a:spcPct val="142000"/>
              </a:lnSpc>
              <a:buNone/>
            </a:pPr>
            <a:r>
              <a:rPr lang="en-US" sz="1950" spc="39" kern="0" dirty="0">
                <a:solidFill>
                  <a:srgbClr val="3E3A33"/>
                </a:solidFill>
                <a:latin typeface="Arial" pitchFamily="34" charset="0"/>
                <a:ea typeface="Arial" pitchFamily="34" charset="-122"/>
                <a:cs typeface="Arial" pitchFamily="34" charset="-120"/>
              </a:rPr>
              <a:t>general</a:t>
            </a:r>
            <a:endParaRPr lang="en-US" sz="1950" dirty="0"/>
          </a:p>
        </p:txBody>
      </p:sp>
      <p:sp>
        <p:nvSpPr>
          <p:cNvPr id="10" name="Shape 7"/>
          <p:cNvSpPr/>
          <p:nvPr/>
        </p:nvSpPr>
        <p:spPr>
          <a:xfrm>
            <a:off x="14252972" y="8276630"/>
            <a:ext cx="133350" cy="133350"/>
          </a:xfrm>
          <a:prstGeom prst="roundRect">
            <a:avLst>
              <a:gd name="adj" fmla="val 21429"/>
            </a:avLst>
          </a:prstGeom>
          <a:solidFill>
            <a:srgbClr val="B6351D"/>
          </a:solidFill>
          <a:ln/>
        </p:spPr>
      </p:sp>
      <p:sp>
        <p:nvSpPr>
          <p:cNvPr id="11" name="Text 8"/>
          <p:cNvSpPr/>
          <p:nvPr/>
        </p:nvSpPr>
        <p:spPr>
          <a:xfrm>
            <a:off x="14481572" y="8205668"/>
            <a:ext cx="964288" cy="312420"/>
          </a:xfrm>
          <a:prstGeom prst="rect">
            <a:avLst/>
          </a:prstGeom>
          <a:noFill/>
          <a:ln/>
        </p:spPr>
        <p:txBody>
          <a:bodyPr wrap="square" lIns="0" tIns="0" rIns="0" bIns="0" rtlCol="0" anchor="t">
            <a:normAutofit/>
          </a:bodyPr>
          <a:lstStyle/>
          <a:p>
            <a:pPr algn="l" indent="0" marL="0">
              <a:lnSpc>
                <a:spcPct val="142000"/>
              </a:lnSpc>
              <a:buNone/>
            </a:pPr>
            <a:r>
              <a:rPr lang="en-US" sz="1950" spc="39" kern="0" dirty="0">
                <a:solidFill>
                  <a:srgbClr val="3E3A33"/>
                </a:solidFill>
                <a:latin typeface="Arial" pitchFamily="34" charset="0"/>
                <a:ea typeface="Arial" pitchFamily="34" charset="-122"/>
                <a:cs typeface="Arial" pitchFamily="34" charset="-120"/>
              </a:rPr>
              <a:t>medical</a:t>
            </a:r>
            <a:endParaRPr lang="en-US" sz="1950" dirty="0"/>
          </a:p>
        </p:txBody>
      </p:sp>
      <p:sp>
        <p:nvSpPr>
          <p:cNvPr id="12" name="Shape 9"/>
          <p:cNvSpPr/>
          <p:nvPr/>
        </p:nvSpPr>
        <p:spPr>
          <a:xfrm>
            <a:off x="15674460" y="8276630"/>
            <a:ext cx="133350" cy="133350"/>
          </a:xfrm>
          <a:prstGeom prst="roundRect">
            <a:avLst>
              <a:gd name="adj" fmla="val 21429"/>
            </a:avLst>
          </a:prstGeom>
          <a:solidFill>
            <a:srgbClr val="C28B1F"/>
          </a:solidFill>
          <a:ln/>
        </p:spPr>
      </p:sp>
      <p:sp>
        <p:nvSpPr>
          <p:cNvPr id="13" name="Text 10"/>
          <p:cNvSpPr/>
          <p:nvPr/>
        </p:nvSpPr>
        <p:spPr>
          <a:xfrm>
            <a:off x="15903060" y="8205668"/>
            <a:ext cx="1318140" cy="312420"/>
          </a:xfrm>
          <a:prstGeom prst="rect">
            <a:avLst/>
          </a:prstGeom>
          <a:noFill/>
          <a:ln/>
        </p:spPr>
        <p:txBody>
          <a:bodyPr wrap="square" lIns="0" tIns="0" rIns="0" bIns="0" rtlCol="0" anchor="t">
            <a:normAutofit/>
          </a:bodyPr>
          <a:lstStyle/>
          <a:p>
            <a:pPr algn="l" indent="0" marL="0">
              <a:lnSpc>
                <a:spcPct val="142000"/>
              </a:lnSpc>
              <a:buNone/>
            </a:pPr>
            <a:r>
              <a:rPr lang="en-US" sz="1950" spc="39" kern="0" dirty="0">
                <a:solidFill>
                  <a:srgbClr val="3E3A33"/>
                </a:solidFill>
                <a:latin typeface="Arial" pitchFamily="34" charset="0"/>
                <a:ea typeface="Arial" pitchFamily="34" charset="-122"/>
                <a:cs typeface="Arial" pitchFamily="34" charset="-120"/>
              </a:rPr>
              <a:t>mtsamples</a:t>
            </a:r>
            <a:endParaRPr lang="en-US" sz="1950" dirty="0"/>
          </a:p>
        </p:txBody>
      </p:sp>
      <p:sp>
        <p:nvSpPr>
          <p:cNvPr id="14" name="Text 11"/>
          <p:cNvSpPr/>
          <p:nvPr/>
        </p:nvSpPr>
        <p:spPr>
          <a:xfrm>
            <a:off x="1143000" y="8633460"/>
            <a:ext cx="14716125" cy="739140"/>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A1A1A"/>
                </a:solidFill>
                <a:latin typeface="Arial" pitchFamily="34" charset="0"/>
                <a:ea typeface="Arial" pitchFamily="34" charset="-122"/>
                <a:cs typeface="Arial" pitchFamily="34" charset="-120"/>
              </a:rPr>
              <a:t>Figure 1. </a:t>
            </a:r>
            <a:pPr algn="l" indent="0" marL="0">
              <a:lnSpc>
                <a:spcPct val="140000"/>
              </a:lnSpc>
              <a:buNone/>
            </a:pPr>
            <a:r>
              <a:rPr lang="en-US" sz="1950" dirty="0">
                <a:solidFill>
                  <a:srgbClr val="8A8375"/>
                </a:solidFill>
                <a:latin typeface="Arial" pitchFamily="34" charset="0"/>
                <a:ea typeface="Arial" pitchFamily="34" charset="-122"/>
                <a:cs typeface="Arial" pitchFamily="34" charset="-120"/>
              </a:rPr>
              <a:t>Characters per token on each held-out corpus. Higher is better for that tokenizer. Each tokenizer wins on the corpus that matches its training register; the size of those wins differs sharply.</a:t>
            </a:r>
            <a:endParaRPr lang="en-US" sz="1950" dirty="0"/>
          </a:p>
        </p:txBody>
      </p:sp>
      <p:sp>
        <p:nvSpPr>
          <p:cNvPr id="15" name="Text 12"/>
          <p:cNvSpPr/>
          <p:nvPr/>
        </p:nvSpPr>
        <p:spPr>
          <a:xfrm>
            <a:off x="16588860" y="9429036"/>
            <a:ext cx="63234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144" kern="0" dirty="0">
                <a:solidFill>
                  <a:srgbClr val="8A8375"/>
                </a:solidFill>
                <a:latin typeface="Arial" pitchFamily="34" charset="0"/>
                <a:ea typeface="Arial" pitchFamily="34" charset="-122"/>
                <a:cs typeface="Arial" pitchFamily="34" charset="-120"/>
              </a:rPr>
              <a:t>S·07</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1143000" y="533400"/>
            <a:ext cx="2204323"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 03 · RESULTS</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08 </a:t>
            </a:r>
            <a:pPr algn="l" indent="0" marL="0">
              <a:lnSpc>
                <a:spcPct val="142000"/>
              </a:lnSpc>
              <a:buNone/>
            </a:pPr>
            <a:r>
              <a:rPr lang="en-US" sz="1800" spc="252" kern="0" dirty="0">
                <a:solidFill>
                  <a:srgbClr val="C9BFA8"/>
                </a:solidFill>
                <a:latin typeface="Arial" pitchFamily="34" charset="0"/>
                <a:ea typeface="Arial" pitchFamily="34" charset="-122"/>
                <a:cs typeface="Arial" pitchFamily="34" charset="-120"/>
              </a:rPr>
              <a:t>/ 15</a:t>
            </a:r>
            <a:endParaRPr lang="en-US" sz="1800" dirty="0"/>
          </a:p>
        </p:txBody>
      </p:sp>
      <p:sp>
        <p:nvSpPr>
          <p:cNvPr id="4" name="Shape 2"/>
          <p:cNvSpPr/>
          <p:nvPr/>
        </p:nvSpPr>
        <p:spPr>
          <a:xfrm>
            <a:off x="1143000" y="2095500"/>
            <a:ext cx="914400" cy="9525"/>
          </a:xfrm>
          <a:prstGeom prst="rect">
            <a:avLst/>
          </a:prstGeom>
          <a:solidFill>
            <a:srgbClr val="C9BFA8"/>
          </a:solidFill>
          <a:ln/>
        </p:spPr>
      </p:sp>
      <p:sp>
        <p:nvSpPr>
          <p:cNvPr id="5" name="Text 3"/>
          <p:cNvSpPr/>
          <p:nvPr/>
        </p:nvSpPr>
        <p:spPr>
          <a:xfrm>
            <a:off x="1143000" y="2484120"/>
            <a:ext cx="14716125" cy="696397"/>
          </a:xfrm>
          <a:prstGeom prst="rect">
            <a:avLst/>
          </a:prstGeom>
          <a:noFill/>
          <a:ln/>
        </p:spPr>
        <p:txBody>
          <a:bodyPr wrap="square" lIns="25400" tIns="25400" rIns="25400" bIns="25400" rtlCol="0" anchor="t">
            <a:normAutofit/>
          </a:bodyPr>
          <a:lstStyle/>
          <a:p>
            <a:pPr algn="l" indent="0" marL="0">
              <a:lnSpc>
                <a:spcPct val="108000"/>
              </a:lnSpc>
              <a:buNone/>
            </a:pPr>
            <a:r>
              <a:rPr lang="en-US" sz="4800" spc="-72" kern="0" dirty="0">
                <a:solidFill>
                  <a:srgbClr val="1A1A1A"/>
                </a:solidFill>
                <a:latin typeface="Arial" pitchFamily="34" charset="0"/>
                <a:ea typeface="Arial" pitchFamily="34" charset="-122"/>
                <a:cs typeface="Arial" pitchFamily="34" charset="-120"/>
              </a:rPr>
              <a:t>A methodological detour—the 1-epoch trap.</a:t>
            </a:r>
            <a:endParaRPr lang="en-US" sz="4800" dirty="0"/>
          </a:p>
        </p:txBody>
      </p:sp>
      <p:sp>
        <p:nvSpPr>
          <p:cNvPr id="6" name="Text 4"/>
          <p:cNvSpPr/>
          <p:nvPr/>
        </p:nvSpPr>
        <p:spPr>
          <a:xfrm>
            <a:off x="1143000" y="3332917"/>
            <a:ext cx="16482060" cy="501015"/>
          </a:xfrm>
          <a:prstGeom prst="rect">
            <a:avLst/>
          </a:prstGeom>
          <a:noFill/>
          <a:ln/>
        </p:spPr>
        <p:txBody>
          <a:bodyPr wrap="square" lIns="25400" tIns="25400" rIns="25400" bIns="25400" rtlCol="0" anchor="t">
            <a:normAutofit/>
          </a:bodyPr>
          <a:lstStyle/>
          <a:p>
            <a:pPr algn="l" indent="0" marL="0">
              <a:lnSpc>
                <a:spcPct val="135000"/>
              </a:lnSpc>
              <a:buNone/>
            </a:pPr>
            <a:r>
              <a:rPr lang="en-US" sz="2700" dirty="0">
                <a:solidFill>
                  <a:srgbClr val="3E3A33"/>
                </a:solidFill>
                <a:latin typeface="Arial" pitchFamily="34" charset="0"/>
                <a:ea typeface="Arial" pitchFamily="34" charset="-122"/>
                <a:cs typeface="Arial" pitchFamily="34" charset="-120"/>
              </a:rPr>
              <a:t>The pilot's “plateau” was the cosine LR schedule collapsing to its floor. Not convergence.</a:t>
            </a:r>
            <a:endParaRPr lang="en-US" sz="2700" dirty="0"/>
          </a:p>
        </p:txBody>
      </p:sp>
      <p:pic>
        <p:nvPicPr>
          <p:cNvPr id="7" name="Image 0" descr="preencoded.png">    </p:cNvPr>
          <p:cNvPicPr>
            <a:picLocks noChangeAspect="1"/>
          </p:cNvPicPr>
          <p:nvPr/>
        </p:nvPicPr>
        <p:blipFill>
          <a:blip r:embed="rId1"/>
          <a:stretch>
            <a:fillRect/>
          </a:stretch>
        </p:blipFill>
        <p:spPr>
          <a:xfrm>
            <a:off x="1143000" y="3872032"/>
            <a:ext cx="16002000" cy="4287917"/>
          </a:xfrm>
          <a:prstGeom prst="rect">
            <a:avLst/>
          </a:prstGeom>
        </p:spPr>
      </p:pic>
      <p:sp>
        <p:nvSpPr>
          <p:cNvPr id="8" name="Shape 5"/>
          <p:cNvSpPr/>
          <p:nvPr/>
        </p:nvSpPr>
        <p:spPr>
          <a:xfrm>
            <a:off x="13592413" y="8269010"/>
            <a:ext cx="133350" cy="133350"/>
          </a:xfrm>
          <a:prstGeom prst="roundRect">
            <a:avLst>
              <a:gd name="adj" fmla="val 21429"/>
            </a:avLst>
          </a:prstGeom>
          <a:solidFill>
            <a:srgbClr val="1A1A1A">
              <a:alpha val="45000"/>
            </a:srgbClr>
          </a:solidFill>
          <a:ln/>
        </p:spPr>
      </p:sp>
      <p:sp>
        <p:nvSpPr>
          <p:cNvPr id="9" name="Text 6"/>
          <p:cNvSpPr/>
          <p:nvPr/>
        </p:nvSpPr>
        <p:spPr>
          <a:xfrm>
            <a:off x="13821013" y="8198048"/>
            <a:ext cx="1452444" cy="312420"/>
          </a:xfrm>
          <a:prstGeom prst="rect">
            <a:avLst/>
          </a:prstGeom>
          <a:noFill/>
          <a:ln/>
        </p:spPr>
        <p:txBody>
          <a:bodyPr wrap="square" lIns="0" tIns="0" rIns="0" bIns="0" rtlCol="0" anchor="t">
            <a:normAutofit/>
          </a:bodyPr>
          <a:lstStyle/>
          <a:p>
            <a:pPr algn="l" indent="0" marL="0">
              <a:lnSpc>
                <a:spcPct val="142000"/>
              </a:lnSpc>
              <a:buNone/>
            </a:pPr>
            <a:r>
              <a:rPr lang="en-US" sz="1950" spc="39" kern="0" dirty="0">
                <a:solidFill>
                  <a:srgbClr val="3E3A33"/>
                </a:solidFill>
                <a:latin typeface="Arial" pitchFamily="34" charset="0"/>
                <a:ea typeface="Arial" pitchFamily="34" charset="-122"/>
                <a:cs typeface="Arial" pitchFamily="34" charset="-120"/>
              </a:rPr>
              <a:t>1-epoch run</a:t>
            </a:r>
            <a:endParaRPr lang="en-US" sz="1950" dirty="0"/>
          </a:p>
        </p:txBody>
      </p:sp>
      <p:sp>
        <p:nvSpPr>
          <p:cNvPr id="10" name="Shape 7"/>
          <p:cNvSpPr/>
          <p:nvPr/>
        </p:nvSpPr>
        <p:spPr>
          <a:xfrm>
            <a:off x="15540157" y="8269010"/>
            <a:ext cx="133350" cy="133350"/>
          </a:xfrm>
          <a:prstGeom prst="roundRect">
            <a:avLst>
              <a:gd name="adj" fmla="val 21429"/>
            </a:avLst>
          </a:prstGeom>
          <a:solidFill>
            <a:srgbClr val="1A1A1A"/>
          </a:solidFill>
          <a:ln/>
        </p:spPr>
      </p:sp>
      <p:sp>
        <p:nvSpPr>
          <p:cNvPr id="11" name="Text 8"/>
          <p:cNvSpPr/>
          <p:nvPr/>
        </p:nvSpPr>
        <p:spPr>
          <a:xfrm>
            <a:off x="15768757" y="8198048"/>
            <a:ext cx="1452443" cy="312420"/>
          </a:xfrm>
          <a:prstGeom prst="rect">
            <a:avLst/>
          </a:prstGeom>
          <a:noFill/>
          <a:ln/>
        </p:spPr>
        <p:txBody>
          <a:bodyPr wrap="square" lIns="0" tIns="0" rIns="0" bIns="0" rtlCol="0" anchor="t">
            <a:normAutofit/>
          </a:bodyPr>
          <a:lstStyle/>
          <a:p>
            <a:pPr algn="l" indent="0" marL="0">
              <a:lnSpc>
                <a:spcPct val="142000"/>
              </a:lnSpc>
              <a:buNone/>
            </a:pPr>
            <a:r>
              <a:rPr lang="en-US" sz="1950" spc="39" kern="0" dirty="0">
                <a:solidFill>
                  <a:srgbClr val="3E3A33"/>
                </a:solidFill>
                <a:latin typeface="Arial" pitchFamily="34" charset="0"/>
                <a:ea typeface="Arial" pitchFamily="34" charset="-122"/>
                <a:cs typeface="Arial" pitchFamily="34" charset="-120"/>
              </a:rPr>
              <a:t>2-epoch run</a:t>
            </a:r>
            <a:endParaRPr lang="en-US" sz="1950" dirty="0"/>
          </a:p>
        </p:txBody>
      </p:sp>
      <p:sp>
        <p:nvSpPr>
          <p:cNvPr id="12" name="Text 9"/>
          <p:cNvSpPr/>
          <p:nvPr/>
        </p:nvSpPr>
        <p:spPr>
          <a:xfrm>
            <a:off x="1143000" y="8625840"/>
            <a:ext cx="14716125" cy="746760"/>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A1A1A"/>
                </a:solidFill>
                <a:latin typeface="Arial" pitchFamily="34" charset="0"/>
                <a:ea typeface="Arial" pitchFamily="34" charset="-122"/>
                <a:cs typeface="Arial" pitchFamily="34" charset="-120"/>
              </a:rPr>
              <a:t>Figure 3. </a:t>
            </a:r>
            <a:pPr algn="l" indent="0" marL="0">
              <a:lnSpc>
                <a:spcPct val="140000"/>
              </a:lnSpc>
              <a:buNone/>
            </a:pPr>
            <a:r>
              <a:rPr lang="en-US" sz="1950" dirty="0">
                <a:solidFill>
                  <a:srgbClr val="8A8375"/>
                </a:solidFill>
                <a:latin typeface="Arial" pitchFamily="34" charset="0"/>
                <a:ea typeface="Arial" pitchFamily="34" charset="-122"/>
                <a:cs typeface="Arial" pitchFamily="34" charset="-120"/>
              </a:rPr>
              <a:t>1-epoch (dashed) vs 2-epoch (solid). When the schedule spans the full 2-epoch horizon, general keeps learning ~0.4 nats past where it appeared to plateau. </a:t>
            </a:r>
            <a:pPr algn="l" indent="0" marL="0">
              <a:lnSpc>
                <a:spcPct val="140000"/>
              </a:lnSpc>
              <a:buNone/>
            </a:pPr>
            <a:r>
              <a:rPr lang="en-US" sz="1950" b="1" dirty="0">
                <a:solidFill>
                  <a:srgbClr val="1A1A1A"/>
                </a:solidFill>
                <a:latin typeface="Arial" pitchFamily="34" charset="0"/>
                <a:ea typeface="Arial" pitchFamily="34" charset="-122"/>
                <a:cs typeface="Arial" pitchFamily="34" charset="-120"/>
              </a:rPr>
              <a:t>Under-training can mask the effect you're studying.</a:t>
            </a:r>
            <a:endParaRPr lang="en-US" sz="1950" dirty="0"/>
          </a:p>
        </p:txBody>
      </p:sp>
      <p:sp>
        <p:nvSpPr>
          <p:cNvPr id="13" name="Text 10"/>
          <p:cNvSpPr/>
          <p:nvPr/>
        </p:nvSpPr>
        <p:spPr>
          <a:xfrm>
            <a:off x="16588860" y="9429036"/>
            <a:ext cx="63234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144" kern="0" dirty="0">
                <a:solidFill>
                  <a:srgbClr val="8A8375"/>
                </a:solidFill>
                <a:latin typeface="Arial" pitchFamily="34" charset="0"/>
                <a:ea typeface="Arial" pitchFamily="34" charset="-122"/>
                <a:cs typeface="Arial" pitchFamily="34" charset="-120"/>
              </a:rPr>
              <a:t>S·08</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1143000" y="533400"/>
            <a:ext cx="4087159"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 03 · RESULTS — HEADLINE</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09 </a:t>
            </a:r>
            <a:pPr algn="l" indent="0" marL="0">
              <a:lnSpc>
                <a:spcPct val="142000"/>
              </a:lnSpc>
              <a:buNone/>
            </a:pPr>
            <a:r>
              <a:rPr lang="en-US" sz="1800" spc="252" kern="0" dirty="0">
                <a:solidFill>
                  <a:srgbClr val="C9BFA8"/>
                </a:solidFill>
                <a:latin typeface="Arial" pitchFamily="34" charset="0"/>
                <a:ea typeface="Arial" pitchFamily="34" charset="-122"/>
                <a:cs typeface="Arial" pitchFamily="34" charset="-120"/>
              </a:rPr>
              <a:t>/ 15</a:t>
            </a:r>
            <a:endParaRPr lang="en-US" sz="1800" dirty="0"/>
          </a:p>
        </p:txBody>
      </p:sp>
      <p:sp>
        <p:nvSpPr>
          <p:cNvPr id="4" name="Shape 2"/>
          <p:cNvSpPr/>
          <p:nvPr/>
        </p:nvSpPr>
        <p:spPr>
          <a:xfrm>
            <a:off x="1143000" y="2190750"/>
            <a:ext cx="914400" cy="9525"/>
          </a:xfrm>
          <a:prstGeom prst="rect">
            <a:avLst/>
          </a:prstGeom>
          <a:solidFill>
            <a:srgbClr val="C9BFA8"/>
          </a:solidFill>
          <a:ln/>
        </p:spPr>
      </p:sp>
      <p:sp>
        <p:nvSpPr>
          <p:cNvPr id="5" name="Text 3"/>
          <p:cNvSpPr/>
          <p:nvPr/>
        </p:nvSpPr>
        <p:spPr>
          <a:xfrm>
            <a:off x="1143000" y="2579370"/>
            <a:ext cx="14716125" cy="1354693"/>
          </a:xfrm>
          <a:prstGeom prst="rect">
            <a:avLst/>
          </a:prstGeom>
          <a:noFill/>
          <a:ln/>
        </p:spPr>
        <p:txBody>
          <a:bodyPr wrap="square" lIns="25400" tIns="25400" rIns="25400" bIns="25400" rtlCol="0" anchor="t">
            <a:normAutofit/>
          </a:bodyPr>
          <a:lstStyle/>
          <a:p>
            <a:pPr algn="l" indent="0" marL="0">
              <a:lnSpc>
                <a:spcPct val="108000"/>
              </a:lnSpc>
              <a:buNone/>
            </a:pPr>
            <a:r>
              <a:rPr lang="en-US" sz="4800" spc="-72" kern="0" dirty="0">
                <a:solidFill>
                  <a:srgbClr val="1A1A1A"/>
                </a:solidFill>
                <a:latin typeface="Arial" pitchFamily="34" charset="0"/>
                <a:ea typeface="Arial" pitchFamily="34" charset="-122"/>
                <a:cs typeface="Arial" pitchFamily="34" charset="-120"/>
              </a:rPr>
              <a:t>Held-out BPC—each tokenizer wins on its training register.</a:t>
            </a:r>
            <a:endParaRPr lang="en-US" sz="4800" dirty="0"/>
          </a:p>
        </p:txBody>
      </p:sp>
      <p:pic>
        <p:nvPicPr>
          <p:cNvPr id="6" name="Image 0" descr="preencoded.png">    </p:cNvPr>
          <p:cNvPicPr>
            <a:picLocks noChangeAspect="1"/>
          </p:cNvPicPr>
          <p:nvPr/>
        </p:nvPicPr>
        <p:blipFill>
          <a:blip r:embed="rId1"/>
          <a:stretch>
            <a:fillRect/>
          </a:stretch>
        </p:blipFill>
        <p:spPr>
          <a:xfrm>
            <a:off x="1143000" y="4353163"/>
            <a:ext cx="16002000" cy="3543895"/>
          </a:xfrm>
          <a:prstGeom prst="rect">
            <a:avLst/>
          </a:prstGeom>
        </p:spPr>
      </p:pic>
      <p:sp>
        <p:nvSpPr>
          <p:cNvPr id="7" name="Shape 4"/>
          <p:cNvSpPr/>
          <p:nvPr/>
        </p:nvSpPr>
        <p:spPr>
          <a:xfrm>
            <a:off x="12858750" y="7929920"/>
            <a:ext cx="133350" cy="133350"/>
          </a:xfrm>
          <a:prstGeom prst="roundRect">
            <a:avLst>
              <a:gd name="adj" fmla="val 21429"/>
            </a:avLst>
          </a:prstGeom>
          <a:solidFill>
            <a:srgbClr val="2457A8"/>
          </a:solidFill>
          <a:ln/>
        </p:spPr>
      </p:sp>
      <p:sp>
        <p:nvSpPr>
          <p:cNvPr id="8" name="Text 5"/>
          <p:cNvSpPr/>
          <p:nvPr/>
        </p:nvSpPr>
        <p:spPr>
          <a:xfrm>
            <a:off x="13087350" y="7858959"/>
            <a:ext cx="937022" cy="312420"/>
          </a:xfrm>
          <a:prstGeom prst="rect">
            <a:avLst/>
          </a:prstGeom>
          <a:noFill/>
          <a:ln/>
        </p:spPr>
        <p:txBody>
          <a:bodyPr wrap="square" lIns="0" tIns="0" rIns="0" bIns="0" rtlCol="0" anchor="t">
            <a:normAutofit/>
          </a:bodyPr>
          <a:lstStyle/>
          <a:p>
            <a:pPr algn="l" indent="0" marL="0">
              <a:lnSpc>
                <a:spcPct val="142000"/>
              </a:lnSpc>
              <a:buNone/>
            </a:pPr>
            <a:r>
              <a:rPr lang="en-US" sz="1950" spc="39" kern="0" dirty="0">
                <a:solidFill>
                  <a:srgbClr val="3E3A33"/>
                </a:solidFill>
                <a:latin typeface="Arial" pitchFamily="34" charset="0"/>
                <a:ea typeface="Arial" pitchFamily="34" charset="-122"/>
                <a:cs typeface="Arial" pitchFamily="34" charset="-120"/>
              </a:rPr>
              <a:t>general</a:t>
            </a:r>
            <a:endParaRPr lang="en-US" sz="1950" dirty="0"/>
          </a:p>
        </p:txBody>
      </p:sp>
      <p:sp>
        <p:nvSpPr>
          <p:cNvPr id="9" name="Shape 6"/>
          <p:cNvSpPr/>
          <p:nvPr/>
        </p:nvSpPr>
        <p:spPr>
          <a:xfrm>
            <a:off x="14252972" y="7929920"/>
            <a:ext cx="133350" cy="133350"/>
          </a:xfrm>
          <a:prstGeom prst="roundRect">
            <a:avLst>
              <a:gd name="adj" fmla="val 21429"/>
            </a:avLst>
          </a:prstGeom>
          <a:solidFill>
            <a:srgbClr val="B6351D"/>
          </a:solidFill>
          <a:ln/>
        </p:spPr>
      </p:sp>
      <p:sp>
        <p:nvSpPr>
          <p:cNvPr id="10" name="Text 7"/>
          <p:cNvSpPr/>
          <p:nvPr/>
        </p:nvSpPr>
        <p:spPr>
          <a:xfrm>
            <a:off x="14481572" y="7858959"/>
            <a:ext cx="964288" cy="312420"/>
          </a:xfrm>
          <a:prstGeom prst="rect">
            <a:avLst/>
          </a:prstGeom>
          <a:noFill/>
          <a:ln/>
        </p:spPr>
        <p:txBody>
          <a:bodyPr wrap="square" lIns="0" tIns="0" rIns="0" bIns="0" rtlCol="0" anchor="t">
            <a:normAutofit/>
          </a:bodyPr>
          <a:lstStyle/>
          <a:p>
            <a:pPr algn="l" indent="0" marL="0">
              <a:lnSpc>
                <a:spcPct val="142000"/>
              </a:lnSpc>
              <a:buNone/>
            </a:pPr>
            <a:r>
              <a:rPr lang="en-US" sz="1950" spc="39" kern="0" dirty="0">
                <a:solidFill>
                  <a:srgbClr val="3E3A33"/>
                </a:solidFill>
                <a:latin typeface="Arial" pitchFamily="34" charset="0"/>
                <a:ea typeface="Arial" pitchFamily="34" charset="-122"/>
                <a:cs typeface="Arial" pitchFamily="34" charset="-120"/>
              </a:rPr>
              <a:t>medical</a:t>
            </a:r>
            <a:endParaRPr lang="en-US" sz="1950" dirty="0"/>
          </a:p>
        </p:txBody>
      </p:sp>
      <p:sp>
        <p:nvSpPr>
          <p:cNvPr id="11" name="Shape 8"/>
          <p:cNvSpPr/>
          <p:nvPr/>
        </p:nvSpPr>
        <p:spPr>
          <a:xfrm>
            <a:off x="15674460" y="7929920"/>
            <a:ext cx="133350" cy="133350"/>
          </a:xfrm>
          <a:prstGeom prst="roundRect">
            <a:avLst>
              <a:gd name="adj" fmla="val 21429"/>
            </a:avLst>
          </a:prstGeom>
          <a:solidFill>
            <a:srgbClr val="C28B1F"/>
          </a:solidFill>
          <a:ln/>
        </p:spPr>
      </p:sp>
      <p:sp>
        <p:nvSpPr>
          <p:cNvPr id="12" name="Text 9"/>
          <p:cNvSpPr/>
          <p:nvPr/>
        </p:nvSpPr>
        <p:spPr>
          <a:xfrm>
            <a:off x="15903060" y="7858959"/>
            <a:ext cx="1318140" cy="312420"/>
          </a:xfrm>
          <a:prstGeom prst="rect">
            <a:avLst/>
          </a:prstGeom>
          <a:noFill/>
          <a:ln/>
        </p:spPr>
        <p:txBody>
          <a:bodyPr wrap="square" lIns="0" tIns="0" rIns="0" bIns="0" rtlCol="0" anchor="t">
            <a:normAutofit/>
          </a:bodyPr>
          <a:lstStyle/>
          <a:p>
            <a:pPr algn="l" indent="0" marL="0">
              <a:lnSpc>
                <a:spcPct val="142000"/>
              </a:lnSpc>
              <a:buNone/>
            </a:pPr>
            <a:r>
              <a:rPr lang="en-US" sz="1950" spc="39" kern="0" dirty="0">
                <a:solidFill>
                  <a:srgbClr val="3E3A33"/>
                </a:solidFill>
                <a:latin typeface="Arial" pitchFamily="34" charset="0"/>
                <a:ea typeface="Arial" pitchFamily="34" charset="-122"/>
                <a:cs typeface="Arial" pitchFamily="34" charset="-120"/>
              </a:rPr>
              <a:t>mtsamples</a:t>
            </a:r>
            <a:endParaRPr lang="en-US" sz="1950" dirty="0"/>
          </a:p>
        </p:txBody>
      </p:sp>
      <p:sp>
        <p:nvSpPr>
          <p:cNvPr id="13" name="Text 10"/>
          <p:cNvSpPr/>
          <p:nvPr/>
        </p:nvSpPr>
        <p:spPr>
          <a:xfrm>
            <a:off x="1143000" y="8286750"/>
            <a:ext cx="14716125" cy="1085850"/>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A1A1A"/>
                </a:solidFill>
                <a:latin typeface="Arial" pitchFamily="34" charset="0"/>
                <a:ea typeface="Arial" pitchFamily="34" charset="-122"/>
                <a:cs typeface="Arial" pitchFamily="34" charset="-120"/>
              </a:rPr>
              <a:t>Figure 4. </a:t>
            </a:r>
            <a:pPr algn="l" indent="0" marL="0">
              <a:lnSpc>
                <a:spcPct val="140000"/>
              </a:lnSpc>
              <a:buNone/>
            </a:pPr>
            <a:r>
              <a:rPr lang="en-US" sz="1950" dirty="0">
                <a:solidFill>
                  <a:srgbClr val="8A8375"/>
                </a:solidFill>
                <a:latin typeface="Arial" pitchFamily="34" charset="0"/>
                <a:ea typeface="Arial" pitchFamily="34" charset="-122"/>
                <a:cs typeface="Arial" pitchFamily="34" charset="-120"/>
              </a:rPr>
              <a:t>End-of-training BPC, multi-seed (n=5/5/3). PubMed: medical wins by 0.010 BPC, 95% CI [0.006, 0.013], p=0.002. MTSamples: mtsamples wins by 0.78 BPC, 95% CI [0.73, 0.83], p=0.0002 — the largest single-corpus tokenizer effect we measured.</a:t>
            </a:r>
            <a:endParaRPr lang="en-US" sz="1950" dirty="0"/>
          </a:p>
        </p:txBody>
      </p:sp>
      <p:sp>
        <p:nvSpPr>
          <p:cNvPr id="14" name="Text 11"/>
          <p:cNvSpPr/>
          <p:nvPr/>
        </p:nvSpPr>
        <p:spPr>
          <a:xfrm>
            <a:off x="16588860" y="9429036"/>
            <a:ext cx="63234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144" kern="0" dirty="0">
                <a:solidFill>
                  <a:srgbClr val="8A8375"/>
                </a:solidFill>
                <a:latin typeface="Arial" pitchFamily="34" charset="0"/>
                <a:ea typeface="Arial" pitchFamily="34" charset="-122"/>
                <a:cs typeface="Arial" pitchFamily="34" charset="-120"/>
              </a:rPr>
              <a:t>S·09</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1143000" y="533400"/>
            <a:ext cx="4412262"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 03 · RESULTS — THE MATRIX</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10 </a:t>
            </a:r>
            <a:pPr algn="l" indent="0" marL="0">
              <a:lnSpc>
                <a:spcPct val="142000"/>
              </a:lnSpc>
              <a:buNone/>
            </a:pPr>
            <a:r>
              <a:rPr lang="en-US" sz="1800" spc="252" kern="0" dirty="0">
                <a:solidFill>
                  <a:srgbClr val="C9BFA8"/>
                </a:solidFill>
                <a:latin typeface="Arial" pitchFamily="34" charset="0"/>
                <a:ea typeface="Arial" pitchFamily="34" charset="-122"/>
                <a:cs typeface="Arial" pitchFamily="34" charset="-120"/>
              </a:rPr>
              <a:t>/ 15</a:t>
            </a:r>
            <a:endParaRPr lang="en-US" sz="1800" dirty="0"/>
          </a:p>
        </p:txBody>
      </p:sp>
      <p:sp>
        <p:nvSpPr>
          <p:cNvPr id="4" name="Shape 2"/>
          <p:cNvSpPr/>
          <p:nvPr/>
        </p:nvSpPr>
        <p:spPr>
          <a:xfrm>
            <a:off x="1143000" y="2190750"/>
            <a:ext cx="914400" cy="9525"/>
          </a:xfrm>
          <a:prstGeom prst="rect">
            <a:avLst/>
          </a:prstGeom>
          <a:solidFill>
            <a:srgbClr val="C9BFA8"/>
          </a:solidFill>
          <a:ln/>
        </p:spPr>
      </p:sp>
      <p:sp>
        <p:nvSpPr>
          <p:cNvPr id="5" name="Text 3"/>
          <p:cNvSpPr/>
          <p:nvPr/>
        </p:nvSpPr>
        <p:spPr>
          <a:xfrm>
            <a:off x="1143000" y="2579370"/>
            <a:ext cx="14716125" cy="696397"/>
          </a:xfrm>
          <a:prstGeom prst="rect">
            <a:avLst/>
          </a:prstGeom>
          <a:noFill/>
          <a:ln/>
        </p:spPr>
        <p:txBody>
          <a:bodyPr wrap="square" lIns="25400" tIns="25400" rIns="25400" bIns="25400" rtlCol="0" anchor="t">
            <a:normAutofit/>
          </a:bodyPr>
          <a:lstStyle/>
          <a:p>
            <a:pPr algn="l" indent="0" marL="0">
              <a:lnSpc>
                <a:spcPct val="108000"/>
              </a:lnSpc>
              <a:buNone/>
            </a:pPr>
            <a:r>
              <a:rPr lang="en-US" sz="4800" spc="-72" kern="0" dirty="0">
                <a:solidFill>
                  <a:srgbClr val="1A1A1A"/>
                </a:solidFill>
                <a:latin typeface="Arial" pitchFamily="34" charset="0"/>
                <a:ea typeface="Arial" pitchFamily="34" charset="-122"/>
                <a:cs typeface="Arial" pitchFamily="34" charset="-120"/>
              </a:rPr>
              <a:t>The 3×3 matrix — diagonal wins, off-diagonal costs.</a:t>
            </a:r>
            <a:endParaRPr lang="en-US" sz="4800" dirty="0"/>
          </a:p>
        </p:txBody>
      </p:sp>
      <p:sp>
        <p:nvSpPr>
          <p:cNvPr id="6" name="Text 4"/>
          <p:cNvSpPr/>
          <p:nvPr/>
        </p:nvSpPr>
        <p:spPr>
          <a:xfrm>
            <a:off x="1143000" y="3694867"/>
            <a:ext cx="13735050" cy="501015"/>
          </a:xfrm>
          <a:prstGeom prst="rect">
            <a:avLst/>
          </a:prstGeom>
          <a:noFill/>
          <a:ln/>
        </p:spPr>
        <p:txBody>
          <a:bodyPr wrap="square" lIns="25400" tIns="25400" rIns="25400" bIns="25400" rtlCol="0" anchor="t">
            <a:normAutofit/>
          </a:bodyPr>
          <a:lstStyle/>
          <a:p>
            <a:pPr algn="l" indent="0" marL="0">
              <a:lnSpc>
                <a:spcPct val="135000"/>
              </a:lnSpc>
              <a:buNone/>
            </a:pPr>
            <a:r>
              <a:rPr lang="en-US" sz="2700" dirty="0">
                <a:solidFill>
                  <a:srgbClr val="3E3A33"/>
                </a:solidFill>
                <a:latin typeface="Arial" pitchFamily="34" charset="0"/>
                <a:ea typeface="Arial" pitchFamily="34" charset="-122"/>
                <a:cs typeface="Arial" pitchFamily="34" charset="-120"/>
              </a:rPr>
              <a:t>Each tokenizer wins on its training register. The size of that win is the question.</a:t>
            </a:r>
            <a:endParaRPr lang="en-US" sz="2700" dirty="0"/>
          </a:p>
        </p:txBody>
      </p:sp>
      <p:pic>
        <p:nvPicPr>
          <p:cNvPr id="7" name="Image 0" descr="preencoded.png">    </p:cNvPr>
          <p:cNvPicPr>
            <a:picLocks noChangeAspect="1"/>
          </p:cNvPicPr>
          <p:nvPr/>
        </p:nvPicPr>
        <p:blipFill>
          <a:blip r:embed="rId1"/>
          <a:stretch>
            <a:fillRect/>
          </a:stretch>
        </p:blipFill>
        <p:spPr>
          <a:xfrm>
            <a:off x="1143000" y="4424482"/>
            <a:ext cx="16002000" cy="4094679"/>
          </a:xfrm>
          <a:prstGeom prst="rect">
            <a:avLst/>
          </a:prstGeom>
        </p:spPr>
      </p:pic>
      <p:sp>
        <p:nvSpPr>
          <p:cNvPr id="8" name="Text 5"/>
          <p:cNvSpPr/>
          <p:nvPr/>
        </p:nvSpPr>
        <p:spPr>
          <a:xfrm>
            <a:off x="1143000" y="8633460"/>
            <a:ext cx="14716125" cy="739140"/>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A1A1A"/>
                </a:solidFill>
                <a:latin typeface="Arial" pitchFamily="34" charset="0"/>
                <a:ea typeface="Arial" pitchFamily="34" charset="-122"/>
                <a:cs typeface="Arial" pitchFamily="34" charset="-120"/>
              </a:rPr>
              <a:t>Figure 5. </a:t>
            </a:r>
            <a:pPr algn="l" indent="0" marL="0">
              <a:lnSpc>
                <a:spcPct val="140000"/>
              </a:lnSpc>
              <a:buNone/>
            </a:pPr>
            <a:r>
              <a:rPr lang="en-US" sz="1950" dirty="0">
                <a:solidFill>
                  <a:srgbClr val="8A8375"/>
                </a:solidFill>
                <a:latin typeface="Arial" pitchFamily="34" charset="0"/>
                <a:ea typeface="Arial" pitchFamily="34" charset="-122"/>
                <a:cs typeface="Arial" pitchFamily="34" charset="-120"/>
              </a:rPr>
              <a:t>All nine (tokenizer × corpus) combinations at end-of-training. Mean BPC ± std across seeds. Green cells are best-in-column; red are worst-in-column. Diagonal cells are register matches—all green, but with very different magnitudes.</a:t>
            </a:r>
            <a:endParaRPr lang="en-US" sz="1950" dirty="0"/>
          </a:p>
        </p:txBody>
      </p:sp>
      <p:sp>
        <p:nvSpPr>
          <p:cNvPr id="9" name="Text 6"/>
          <p:cNvSpPr/>
          <p:nvPr/>
        </p:nvSpPr>
        <p:spPr>
          <a:xfrm>
            <a:off x="16588860" y="9429036"/>
            <a:ext cx="63234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144" kern="0" dirty="0">
                <a:solidFill>
                  <a:srgbClr val="8A8375"/>
                </a:solidFill>
                <a:latin typeface="Arial" pitchFamily="34" charset="0"/>
                <a:ea typeface="Arial" pitchFamily="34" charset="-122"/>
                <a:cs typeface="Arial" pitchFamily="34" charset="-120"/>
              </a:rPr>
              <a:t>S·10</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5140F"/>
        </a:solidFill>
      </p:bgPr>
    </p:bg>
    <p:spTree>
      <p:nvGrpSpPr>
        <p:cNvPr id="1" name=""/>
        <p:cNvGrpSpPr/>
        <p:nvPr/>
      </p:nvGrpSpPr>
      <p:grpSpPr>
        <a:xfrm>
          <a:off x="0" y="0"/>
          <a:ext cx="0" cy="0"/>
          <a:chOff x="0" y="0"/>
          <a:chExt cx="0" cy="0"/>
        </a:xfrm>
      </p:grpSpPr>
      <p:sp>
        <p:nvSpPr>
          <p:cNvPr id="2" name="Text 0"/>
          <p:cNvSpPr/>
          <p:nvPr/>
        </p:nvSpPr>
        <p:spPr>
          <a:xfrm>
            <a:off x="1143000" y="533400"/>
            <a:ext cx="434174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9A8F76"/>
                </a:solidFill>
                <a:latin typeface="Arial" pitchFamily="34" charset="0"/>
                <a:ea typeface="Arial" pitchFamily="34" charset="-122"/>
                <a:cs typeface="Arial" pitchFamily="34" charset="-120"/>
              </a:rPr>
              <a:t>§ 04 · THE HEADLINE NUMBER</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9A8F76"/>
                </a:solidFill>
                <a:latin typeface="Arial" pitchFamily="34" charset="0"/>
                <a:ea typeface="Arial" pitchFamily="34" charset="-122"/>
                <a:cs typeface="Arial" pitchFamily="34" charset="-120"/>
              </a:rPr>
              <a:t>11 </a:t>
            </a:r>
            <a:pPr algn="l" indent="0" marL="0">
              <a:lnSpc>
                <a:spcPct val="142000"/>
              </a:lnSpc>
              <a:buNone/>
            </a:pPr>
            <a:r>
              <a:rPr lang="en-US" sz="1800" spc="252" kern="0" dirty="0">
                <a:solidFill>
                  <a:srgbClr val="5A5341"/>
                </a:solidFill>
                <a:latin typeface="Arial" pitchFamily="34" charset="0"/>
                <a:ea typeface="Arial" pitchFamily="34" charset="-122"/>
                <a:cs typeface="Arial" pitchFamily="34" charset="-120"/>
              </a:rPr>
              <a:t>/ 15</a:t>
            </a:r>
            <a:endParaRPr lang="en-US" sz="1800" dirty="0"/>
          </a:p>
        </p:txBody>
      </p:sp>
      <p:sp>
        <p:nvSpPr>
          <p:cNvPr id="4" name="Shape 2"/>
          <p:cNvSpPr/>
          <p:nvPr/>
        </p:nvSpPr>
        <p:spPr>
          <a:xfrm>
            <a:off x="1143000" y="2095500"/>
            <a:ext cx="914400" cy="9525"/>
          </a:xfrm>
          <a:prstGeom prst="rect">
            <a:avLst/>
          </a:prstGeom>
          <a:solidFill>
            <a:srgbClr val="5A5341"/>
          </a:solidFill>
          <a:ln/>
        </p:spPr>
      </p:sp>
      <p:sp>
        <p:nvSpPr>
          <p:cNvPr id="5" name="Text 3"/>
          <p:cNvSpPr/>
          <p:nvPr/>
        </p:nvSpPr>
        <p:spPr>
          <a:xfrm>
            <a:off x="1143000" y="2484120"/>
            <a:ext cx="16482060" cy="704017"/>
          </a:xfrm>
          <a:prstGeom prst="rect">
            <a:avLst/>
          </a:prstGeom>
          <a:noFill/>
          <a:ln/>
        </p:spPr>
        <p:txBody>
          <a:bodyPr wrap="square" lIns="25400" tIns="25400" rIns="25400" bIns="25400" rtlCol="0" anchor="t">
            <a:normAutofit/>
          </a:bodyPr>
          <a:lstStyle/>
          <a:p>
            <a:pPr algn="l" indent="0" marL="0">
              <a:lnSpc>
                <a:spcPct val="108000"/>
              </a:lnSpc>
              <a:buNone/>
            </a:pPr>
            <a:r>
              <a:rPr lang="en-US" sz="4800" spc="-72" kern="0" dirty="0">
                <a:solidFill>
                  <a:srgbClr val="F5EFDF"/>
                </a:solidFill>
                <a:latin typeface="Arial" pitchFamily="34" charset="0"/>
                <a:ea typeface="Arial" pitchFamily="34" charset="-122"/>
                <a:cs typeface="Arial" pitchFamily="34" charset="-120"/>
              </a:rPr>
              <a:t>Register distinctness </a:t>
            </a:r>
            <a:pPr algn="l" indent="0" marL="0">
              <a:lnSpc>
                <a:spcPct val="108000"/>
              </a:lnSpc>
              <a:buNone/>
            </a:pPr>
            <a:r>
              <a:rPr lang="en-US" sz="4800" i="1" spc="-72" kern="0" dirty="0">
                <a:solidFill>
                  <a:srgbClr val="F5EFDF"/>
                </a:solidFill>
                <a:latin typeface="Arial" pitchFamily="34" charset="0"/>
                <a:ea typeface="Arial" pitchFamily="34" charset="-122"/>
                <a:cs typeface="Arial" pitchFamily="34" charset="-120"/>
              </a:rPr>
              <a:t>scales </a:t>
            </a:r>
            <a:pPr algn="l" indent="0" marL="0">
              <a:lnSpc>
                <a:spcPct val="108000"/>
              </a:lnSpc>
              <a:buNone/>
            </a:pPr>
            <a:r>
              <a:rPr lang="en-US" sz="4800" spc="-72" kern="0" dirty="0">
                <a:solidFill>
                  <a:srgbClr val="F5EFDF"/>
                </a:solidFill>
                <a:latin typeface="Arial" pitchFamily="34" charset="0"/>
                <a:ea typeface="Arial" pitchFamily="34" charset="-122"/>
                <a:cs typeface="Arial" pitchFamily="34" charset="-120"/>
              </a:rPr>
              <a:t>the tokenizer effect.</a:t>
            </a:r>
            <a:endParaRPr lang="en-US" sz="4800" dirty="0"/>
          </a:p>
        </p:txBody>
      </p:sp>
      <p:sp>
        <p:nvSpPr>
          <p:cNvPr id="6" name="Text 4"/>
          <p:cNvSpPr/>
          <p:nvPr/>
        </p:nvSpPr>
        <p:spPr>
          <a:xfrm>
            <a:off x="1143000" y="3607237"/>
            <a:ext cx="16482060" cy="501015"/>
          </a:xfrm>
          <a:prstGeom prst="rect">
            <a:avLst/>
          </a:prstGeom>
          <a:noFill/>
          <a:ln/>
        </p:spPr>
        <p:txBody>
          <a:bodyPr wrap="square" lIns="25400" tIns="25400" rIns="25400" bIns="25400" rtlCol="0" anchor="t">
            <a:normAutofit/>
          </a:bodyPr>
          <a:lstStyle/>
          <a:p>
            <a:pPr algn="l" indent="0" marL="0">
              <a:lnSpc>
                <a:spcPct val="135000"/>
              </a:lnSpc>
              <a:buNone/>
            </a:pPr>
            <a:r>
              <a:rPr lang="en-US" sz="2700" i="1" dirty="0">
                <a:solidFill>
                  <a:srgbClr val="C4B891"/>
                </a:solidFill>
                <a:latin typeface="Arial" pitchFamily="34" charset="0"/>
                <a:ea typeface="Arial" pitchFamily="34" charset="-122"/>
                <a:cs typeface="Arial" pitchFamily="34" charset="-120"/>
              </a:rPr>
              <a:t>The PubMed in-domain win was the small case. The MTSamples register-match win is roughly 80× larger.</a:t>
            </a:r>
            <a:endParaRPr lang="en-US" sz="2700" dirty="0"/>
          </a:p>
        </p:txBody>
      </p:sp>
      <p:sp>
        <p:nvSpPr>
          <p:cNvPr id="7" name="Text 5"/>
          <p:cNvSpPr/>
          <p:nvPr/>
        </p:nvSpPr>
        <p:spPr>
          <a:xfrm>
            <a:off x="1143000" y="4876681"/>
            <a:ext cx="576872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B8A988"/>
                </a:solidFill>
                <a:latin typeface="Arial" pitchFamily="34" charset="0"/>
                <a:ea typeface="Arial" pitchFamily="34" charset="-122"/>
                <a:cs typeface="Arial" pitchFamily="34" charset="-120"/>
              </a:rPr>
              <a:t>TWO EFFECTS, SAME FAIRNESS FRAME</a:t>
            </a:r>
            <a:endParaRPr lang="en-US" sz="1800" dirty="0"/>
          </a:p>
        </p:txBody>
      </p:sp>
      <p:sp>
        <p:nvSpPr>
          <p:cNvPr id="8" name="Text 6"/>
          <p:cNvSpPr/>
          <p:nvPr/>
        </p:nvSpPr>
        <p:spPr>
          <a:xfrm>
            <a:off x="1143000" y="5467945"/>
            <a:ext cx="3086707" cy="876300"/>
          </a:xfrm>
          <a:prstGeom prst="rect">
            <a:avLst/>
          </a:prstGeom>
          <a:noFill/>
          <a:ln/>
        </p:spPr>
        <p:txBody>
          <a:bodyPr wrap="square" lIns="25400" tIns="25400" rIns="25400" bIns="25400" rtlCol="0" anchor="t">
            <a:normAutofit/>
          </a:bodyPr>
          <a:lstStyle/>
          <a:p>
            <a:pPr algn="l" indent="0" marL="0">
              <a:lnSpc>
                <a:spcPct val="100000"/>
              </a:lnSpc>
              <a:buNone/>
            </a:pPr>
            <a:r>
              <a:rPr lang="en-US" sz="6600" dirty="0">
                <a:solidFill>
                  <a:srgbClr val="C28B1F"/>
                </a:solidFill>
                <a:latin typeface="Arial" pitchFamily="34" charset="0"/>
                <a:ea typeface="Arial" pitchFamily="34" charset="-122"/>
                <a:cs typeface="Arial" pitchFamily="34" charset="-120"/>
              </a:rPr>
              <a:t>0.78</a:t>
            </a:r>
            <a:endParaRPr lang="en-US" sz="6600" dirty="0"/>
          </a:p>
        </p:txBody>
      </p:sp>
      <p:sp>
        <p:nvSpPr>
          <p:cNvPr id="9" name="Text 7"/>
          <p:cNvSpPr/>
          <p:nvPr/>
        </p:nvSpPr>
        <p:spPr>
          <a:xfrm>
            <a:off x="1143000" y="6401395"/>
            <a:ext cx="3086707" cy="281464"/>
          </a:xfrm>
          <a:prstGeom prst="rect">
            <a:avLst/>
          </a:prstGeom>
          <a:noFill/>
          <a:ln/>
        </p:spPr>
        <p:txBody>
          <a:bodyPr wrap="square" lIns="25400" tIns="25400" rIns="25400" bIns="25400" rtlCol="0" anchor="t">
            <a:normAutofit/>
          </a:bodyPr>
          <a:lstStyle/>
          <a:p>
            <a:pPr algn="l" indent="0" marL="0">
              <a:lnSpc>
                <a:spcPct val="142000"/>
              </a:lnSpc>
              <a:buNone/>
            </a:pPr>
            <a:r>
              <a:rPr lang="en-US" sz="1350" spc="81" kern="0" dirty="0">
                <a:solidFill>
                  <a:srgbClr val="B8A988"/>
                </a:solidFill>
                <a:latin typeface="Arial" pitchFamily="34" charset="0"/>
                <a:ea typeface="Arial" pitchFamily="34" charset="-122"/>
                <a:cs typeface="Arial" pitchFamily="34" charset="-120"/>
              </a:rPr>
              <a:t>BPC · MTSamples · register-match</a:t>
            </a:r>
            <a:endParaRPr lang="en-US" sz="1350" dirty="0"/>
          </a:p>
        </p:txBody>
      </p:sp>
      <p:sp>
        <p:nvSpPr>
          <p:cNvPr id="10" name="Text 8"/>
          <p:cNvSpPr/>
          <p:nvPr/>
        </p:nvSpPr>
        <p:spPr>
          <a:xfrm>
            <a:off x="4501753" y="5515333"/>
            <a:ext cx="494467" cy="1120140"/>
          </a:xfrm>
          <a:prstGeom prst="rect">
            <a:avLst/>
          </a:prstGeom>
          <a:noFill/>
          <a:ln/>
        </p:spPr>
        <p:txBody>
          <a:bodyPr wrap="square" lIns="25400" tIns="25400" rIns="25400" bIns="25400" rtlCol="0" anchor="t">
            <a:normAutofit/>
          </a:bodyPr>
          <a:lstStyle/>
          <a:p>
            <a:pPr algn="l" indent="0" marL="0">
              <a:lnSpc>
                <a:spcPct val="142000"/>
              </a:lnSpc>
              <a:buNone/>
            </a:pPr>
            <a:r>
              <a:rPr lang="en-US" sz="6000" dirty="0">
                <a:solidFill>
                  <a:srgbClr val="C4B891"/>
                </a:solidFill>
                <a:latin typeface="Arial" pitchFamily="34" charset="0"/>
                <a:ea typeface="Arial" pitchFamily="34" charset="-122"/>
                <a:cs typeface="Arial" pitchFamily="34" charset="-120"/>
              </a:rPr>
              <a:t>÷</a:t>
            </a:r>
            <a:endParaRPr lang="en-US" sz="6000" dirty="0"/>
          </a:p>
        </p:txBody>
      </p:sp>
      <p:sp>
        <p:nvSpPr>
          <p:cNvPr id="11" name="Text 9"/>
          <p:cNvSpPr/>
          <p:nvPr/>
        </p:nvSpPr>
        <p:spPr>
          <a:xfrm>
            <a:off x="5281970" y="5467945"/>
            <a:ext cx="2371844" cy="876300"/>
          </a:xfrm>
          <a:prstGeom prst="rect">
            <a:avLst/>
          </a:prstGeom>
          <a:noFill/>
          <a:ln/>
        </p:spPr>
        <p:txBody>
          <a:bodyPr wrap="square" lIns="25400" tIns="25400" rIns="25400" bIns="25400" rtlCol="0" anchor="t">
            <a:normAutofit/>
          </a:bodyPr>
          <a:lstStyle/>
          <a:p>
            <a:pPr algn="l" indent="0" marL="0">
              <a:lnSpc>
                <a:spcPct val="100000"/>
              </a:lnSpc>
              <a:buNone/>
            </a:pPr>
            <a:r>
              <a:rPr lang="en-US" sz="6600" dirty="0">
                <a:solidFill>
                  <a:srgbClr val="B6351D"/>
                </a:solidFill>
                <a:latin typeface="Arial" pitchFamily="34" charset="0"/>
                <a:ea typeface="Arial" pitchFamily="34" charset="-122"/>
                <a:cs typeface="Arial" pitchFamily="34" charset="-120"/>
              </a:rPr>
              <a:t>0.010</a:t>
            </a:r>
            <a:endParaRPr lang="en-US" sz="6600" dirty="0"/>
          </a:p>
        </p:txBody>
      </p:sp>
      <p:sp>
        <p:nvSpPr>
          <p:cNvPr id="12" name="Text 10"/>
          <p:cNvSpPr/>
          <p:nvPr/>
        </p:nvSpPr>
        <p:spPr>
          <a:xfrm>
            <a:off x="5281970" y="6401395"/>
            <a:ext cx="2371844" cy="281464"/>
          </a:xfrm>
          <a:prstGeom prst="rect">
            <a:avLst/>
          </a:prstGeom>
          <a:noFill/>
          <a:ln/>
        </p:spPr>
        <p:txBody>
          <a:bodyPr wrap="square" lIns="25400" tIns="25400" rIns="25400" bIns="25400" rtlCol="0" anchor="t">
            <a:normAutofit/>
          </a:bodyPr>
          <a:lstStyle/>
          <a:p>
            <a:pPr algn="l" indent="0" marL="0">
              <a:lnSpc>
                <a:spcPct val="142000"/>
              </a:lnSpc>
              <a:buNone/>
            </a:pPr>
            <a:r>
              <a:rPr lang="en-US" sz="1350" spc="81" kern="0" dirty="0">
                <a:solidFill>
                  <a:srgbClr val="B8A988"/>
                </a:solidFill>
                <a:latin typeface="Arial" pitchFamily="34" charset="0"/>
                <a:ea typeface="Arial" pitchFamily="34" charset="-122"/>
                <a:cs typeface="Arial" pitchFamily="34" charset="-120"/>
              </a:rPr>
              <a:t>BPC · PubMed · in-domain</a:t>
            </a:r>
            <a:endParaRPr lang="en-US" sz="1350" dirty="0"/>
          </a:p>
        </p:txBody>
      </p:sp>
      <p:sp>
        <p:nvSpPr>
          <p:cNvPr id="13" name="Shape 11"/>
          <p:cNvSpPr/>
          <p:nvPr/>
        </p:nvSpPr>
        <p:spPr>
          <a:xfrm>
            <a:off x="1143000" y="7006709"/>
            <a:ext cx="8001000" cy="9525"/>
          </a:xfrm>
          <a:prstGeom prst="rect">
            <a:avLst/>
          </a:prstGeom>
          <a:solidFill>
            <a:srgbClr val="5A5341"/>
          </a:solidFill>
          <a:ln/>
        </p:spPr>
      </p:sp>
      <p:sp>
        <p:nvSpPr>
          <p:cNvPr id="14" name="Text 12"/>
          <p:cNvSpPr/>
          <p:nvPr/>
        </p:nvSpPr>
        <p:spPr>
          <a:xfrm>
            <a:off x="1143000" y="7357229"/>
            <a:ext cx="8241030" cy="2133600"/>
          </a:xfrm>
          <a:prstGeom prst="rect">
            <a:avLst/>
          </a:prstGeom>
          <a:noFill/>
          <a:ln/>
        </p:spPr>
        <p:txBody>
          <a:bodyPr wrap="square" lIns="25400" tIns="25400" rIns="25400" bIns="25400" rtlCol="0" anchor="t">
            <a:normAutofit/>
          </a:bodyPr>
          <a:lstStyle/>
          <a:p>
            <a:pPr algn="l" indent="0" marL="0">
              <a:lnSpc>
                <a:spcPct val="100000"/>
              </a:lnSpc>
              <a:buNone/>
            </a:pPr>
            <a:r>
              <a:rPr lang="en-US" sz="16500" spc="-660" kern="0" dirty="0">
                <a:solidFill>
                  <a:srgbClr val="F5EFDF"/>
                </a:solidFill>
                <a:latin typeface="Arial" pitchFamily="34" charset="0"/>
                <a:ea typeface="Arial" pitchFamily="34" charset="-122"/>
                <a:cs typeface="Arial" pitchFamily="34" charset="-120"/>
              </a:rPr>
              <a:t>≈ 80</a:t>
            </a:r>
            <a:pPr algn="l" indent="0" marL="0">
              <a:lnSpc>
                <a:spcPct val="100000"/>
              </a:lnSpc>
              <a:buNone/>
            </a:pPr>
            <a:r>
              <a:rPr lang="en-US" sz="9075" spc="-660" kern="0" dirty="0">
                <a:solidFill>
                  <a:srgbClr val="F5EFDF"/>
                </a:solidFill>
                <a:latin typeface="Arial" pitchFamily="34" charset="0"/>
                <a:ea typeface="Arial" pitchFamily="34" charset="-122"/>
                <a:cs typeface="Arial" pitchFamily="34" charset="-120"/>
              </a:rPr>
              <a:t>×</a:t>
            </a:r>
            <a:endParaRPr lang="en-US" sz="16500" dirty="0"/>
          </a:p>
        </p:txBody>
      </p:sp>
      <p:sp>
        <p:nvSpPr>
          <p:cNvPr id="15" name="Text 13"/>
          <p:cNvSpPr/>
          <p:nvPr/>
        </p:nvSpPr>
        <p:spPr>
          <a:xfrm>
            <a:off x="1143000" y="9567029"/>
            <a:ext cx="8241030" cy="335637"/>
          </a:xfrm>
          <a:prstGeom prst="rect">
            <a:avLst/>
          </a:prstGeom>
          <a:noFill/>
          <a:ln/>
        </p:spPr>
        <p:txBody>
          <a:bodyPr wrap="square" lIns="25400" tIns="25400" rIns="25400" bIns="25400" rtlCol="0" anchor="t">
            <a:normAutofit/>
          </a:bodyPr>
          <a:lstStyle/>
          <a:p>
            <a:pPr algn="l" indent="0" marL="0">
              <a:lnSpc>
                <a:spcPct val="142000"/>
              </a:lnSpc>
              <a:buNone/>
            </a:pPr>
            <a:r>
              <a:rPr lang="en-US" sz="1650" spc="132" kern="0" dirty="0">
                <a:solidFill>
                  <a:srgbClr val="C4B891"/>
                </a:solidFill>
                <a:latin typeface="Arial" pitchFamily="34" charset="0"/>
                <a:ea typeface="Arial" pitchFamily="34" charset="-122"/>
                <a:cs typeface="Arial" pitchFamily="34" charset="-120"/>
              </a:rPr>
              <a:t>RATIO OF EFFECT SIZES</a:t>
            </a:r>
            <a:endParaRPr lang="en-US" sz="1650" dirty="0"/>
          </a:p>
        </p:txBody>
      </p:sp>
      <p:sp>
        <p:nvSpPr>
          <p:cNvPr id="16" name="Shape 14"/>
          <p:cNvSpPr/>
          <p:nvPr/>
        </p:nvSpPr>
        <p:spPr>
          <a:xfrm>
            <a:off x="9906000" y="4717852"/>
            <a:ext cx="9525" cy="5305544"/>
          </a:xfrm>
          <a:prstGeom prst="rect">
            <a:avLst/>
          </a:prstGeom>
          <a:solidFill>
            <a:srgbClr val="5A5341"/>
          </a:solidFill>
          <a:ln/>
        </p:spPr>
      </p:sp>
      <p:sp>
        <p:nvSpPr>
          <p:cNvPr id="17" name="Text 15"/>
          <p:cNvSpPr/>
          <p:nvPr/>
        </p:nvSpPr>
        <p:spPr>
          <a:xfrm>
            <a:off x="10485120" y="4717852"/>
            <a:ext cx="6859677"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B8A988"/>
                </a:solidFill>
                <a:latin typeface="Arial" pitchFamily="34" charset="0"/>
                <a:ea typeface="Arial" pitchFamily="34" charset="-122"/>
                <a:cs typeface="Arial" pitchFamily="34" charset="-120"/>
              </a:rPr>
              <a:t>WHAT THIS MEANS</a:t>
            </a:r>
            <a:endParaRPr lang="en-US" sz="1800" dirty="0"/>
          </a:p>
        </p:txBody>
      </p:sp>
      <p:sp>
        <p:nvSpPr>
          <p:cNvPr id="18" name="Text 16"/>
          <p:cNvSpPr/>
          <p:nvPr/>
        </p:nvSpPr>
        <p:spPr>
          <a:xfrm>
            <a:off x="10485120" y="5309116"/>
            <a:ext cx="6859677" cy="1695450"/>
          </a:xfrm>
          <a:prstGeom prst="rect">
            <a:avLst/>
          </a:prstGeom>
          <a:noFill/>
          <a:ln/>
        </p:spPr>
        <p:txBody>
          <a:bodyPr wrap="square" lIns="25400" tIns="25400" rIns="25400" bIns="25400" rtlCol="0" anchor="t">
            <a:normAutofit/>
          </a:bodyPr>
          <a:lstStyle/>
          <a:p>
            <a:pPr algn="l" indent="0" marL="0">
              <a:lnSpc>
                <a:spcPct val="145000"/>
              </a:lnSpc>
              <a:buNone/>
            </a:pPr>
            <a:r>
              <a:rPr lang="en-US" sz="2250" dirty="0">
                <a:solidFill>
                  <a:srgbClr val="F5EFDF"/>
                </a:solidFill>
                <a:latin typeface="Arial" pitchFamily="34" charset="0"/>
                <a:ea typeface="Arial" pitchFamily="34" charset="-122"/>
                <a:cs typeface="Arial" pitchFamily="34" charset="-120"/>
              </a:rPr>
              <a:t>The size of a domain tokenizer's win is approximately a function of how distinct its training register is from general English — not how “specialized” the tokenizer feels in human terms.</a:t>
            </a:r>
            <a:endParaRPr lang="en-US" sz="2250" dirty="0"/>
          </a:p>
        </p:txBody>
      </p:sp>
      <p:sp>
        <p:nvSpPr>
          <p:cNvPr id="19" name="Shape 17"/>
          <p:cNvSpPr/>
          <p:nvPr/>
        </p:nvSpPr>
        <p:spPr>
          <a:xfrm>
            <a:off x="10485120" y="7271266"/>
            <a:ext cx="6659880" cy="928211"/>
          </a:xfrm>
          <a:prstGeom prst="rect">
            <a:avLst/>
          </a:prstGeom>
          <a:solidFill>
            <a:srgbClr val="201E17"/>
          </a:solidFill>
          <a:ln/>
        </p:spPr>
      </p:sp>
      <p:sp>
        <p:nvSpPr>
          <p:cNvPr id="20" name="Shape 18"/>
          <p:cNvSpPr/>
          <p:nvPr/>
        </p:nvSpPr>
        <p:spPr>
          <a:xfrm>
            <a:off x="10485120" y="7271266"/>
            <a:ext cx="22860" cy="928211"/>
          </a:xfrm>
          <a:prstGeom prst="rect">
            <a:avLst/>
          </a:prstGeom>
          <a:solidFill>
            <a:srgbClr val="B6351D"/>
          </a:solidFill>
          <a:ln/>
        </p:spPr>
      </p:sp>
      <p:sp>
        <p:nvSpPr>
          <p:cNvPr id="21" name="Text 19"/>
          <p:cNvSpPr/>
          <p:nvPr/>
        </p:nvSpPr>
        <p:spPr>
          <a:xfrm>
            <a:off x="10736581" y="7442716"/>
            <a:ext cx="6365214" cy="281464"/>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B8A988"/>
                </a:solidFill>
                <a:latin typeface="Arial" pitchFamily="34" charset="0"/>
                <a:ea typeface="Arial" pitchFamily="34" charset="-122"/>
                <a:cs typeface="Arial" pitchFamily="34" charset="-120"/>
              </a:rPr>
              <a:t>PUBMED ACADEMIC ↔ WIKITEXT</a:t>
            </a:r>
            <a:endParaRPr lang="en-US" sz="1350" dirty="0"/>
          </a:p>
        </p:txBody>
      </p:sp>
      <p:sp>
        <p:nvSpPr>
          <p:cNvPr id="22" name="Text 20"/>
          <p:cNvSpPr/>
          <p:nvPr/>
        </p:nvSpPr>
        <p:spPr>
          <a:xfrm>
            <a:off x="10736581" y="7743230"/>
            <a:ext cx="6365214" cy="322897"/>
          </a:xfrm>
          <a:prstGeom prst="rect">
            <a:avLst/>
          </a:prstGeom>
          <a:noFill/>
          <a:ln/>
        </p:spPr>
        <p:txBody>
          <a:bodyPr wrap="square" lIns="25400" tIns="25400" rIns="25400" bIns="25400" rtlCol="0" anchor="t">
            <a:normAutofit/>
          </a:bodyPr>
          <a:lstStyle/>
          <a:p>
            <a:pPr algn="l" indent="0" marL="0">
              <a:lnSpc>
                <a:spcPct val="130000"/>
              </a:lnSpc>
              <a:buNone/>
            </a:pPr>
            <a:r>
              <a:rPr lang="en-US" sz="1725" i="1" dirty="0">
                <a:solidFill>
                  <a:srgbClr val="F5EFDF"/>
                </a:solidFill>
                <a:latin typeface="Arial" pitchFamily="34" charset="0"/>
                <a:ea typeface="Arial" pitchFamily="34" charset="-122"/>
                <a:cs typeface="Arial" pitchFamily="34" charset="-120"/>
              </a:rPr>
              <a:t>register-similar (formal written English) → small tokenizer effect</a:t>
            </a:r>
            <a:endParaRPr lang="en-US" sz="1725" dirty="0"/>
          </a:p>
        </p:txBody>
      </p:sp>
      <p:sp>
        <p:nvSpPr>
          <p:cNvPr id="23" name="Shape 21"/>
          <p:cNvSpPr/>
          <p:nvPr/>
        </p:nvSpPr>
        <p:spPr>
          <a:xfrm>
            <a:off x="10485120" y="8370927"/>
            <a:ext cx="6659880" cy="1213009"/>
          </a:xfrm>
          <a:prstGeom prst="rect">
            <a:avLst/>
          </a:prstGeom>
          <a:solidFill>
            <a:srgbClr val="201E17"/>
          </a:solidFill>
          <a:ln/>
        </p:spPr>
      </p:sp>
      <p:sp>
        <p:nvSpPr>
          <p:cNvPr id="24" name="Shape 22"/>
          <p:cNvSpPr/>
          <p:nvPr/>
        </p:nvSpPr>
        <p:spPr>
          <a:xfrm>
            <a:off x="10485120" y="8370927"/>
            <a:ext cx="22860" cy="1213009"/>
          </a:xfrm>
          <a:prstGeom prst="rect">
            <a:avLst/>
          </a:prstGeom>
          <a:solidFill>
            <a:srgbClr val="C28B1F"/>
          </a:solidFill>
          <a:ln/>
        </p:spPr>
      </p:sp>
      <p:sp>
        <p:nvSpPr>
          <p:cNvPr id="25" name="Text 23"/>
          <p:cNvSpPr/>
          <p:nvPr/>
        </p:nvSpPr>
        <p:spPr>
          <a:xfrm>
            <a:off x="10736581" y="8542377"/>
            <a:ext cx="6365214" cy="281464"/>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B8A988"/>
                </a:solidFill>
                <a:latin typeface="Arial" pitchFamily="34" charset="0"/>
                <a:ea typeface="Arial" pitchFamily="34" charset="-122"/>
                <a:cs typeface="Arial" pitchFamily="34" charset="-120"/>
              </a:rPr>
              <a:t>CLINICAL DICTATION ↔ WIKITEXT</a:t>
            </a:r>
            <a:endParaRPr lang="en-US" sz="1350" dirty="0"/>
          </a:p>
        </p:txBody>
      </p:sp>
      <p:sp>
        <p:nvSpPr>
          <p:cNvPr id="26" name="Text 24"/>
          <p:cNvSpPr/>
          <p:nvPr/>
        </p:nvSpPr>
        <p:spPr>
          <a:xfrm>
            <a:off x="10736581" y="8842891"/>
            <a:ext cx="6365214" cy="607695"/>
          </a:xfrm>
          <a:prstGeom prst="rect">
            <a:avLst/>
          </a:prstGeom>
          <a:noFill/>
          <a:ln/>
        </p:spPr>
        <p:txBody>
          <a:bodyPr wrap="square" lIns="25400" tIns="25400" rIns="25400" bIns="25400" rtlCol="0" anchor="t">
            <a:normAutofit/>
          </a:bodyPr>
          <a:lstStyle/>
          <a:p>
            <a:pPr algn="l" indent="0" marL="0">
              <a:lnSpc>
                <a:spcPct val="130000"/>
              </a:lnSpc>
              <a:buNone/>
            </a:pPr>
            <a:r>
              <a:rPr lang="en-US" sz="1725" i="1" dirty="0">
                <a:solidFill>
                  <a:srgbClr val="F5EFDF"/>
                </a:solidFill>
                <a:latin typeface="Arial" pitchFamily="34" charset="0"/>
                <a:ea typeface="Arial" pitchFamily="34" charset="-122"/>
                <a:cs typeface="Arial" pitchFamily="34" charset="-120"/>
              </a:rPr>
              <a:t>lexically distinct (abbrev, fragmented syntax) → large tokenizer effect</a:t>
            </a:r>
            <a:endParaRPr lang="en-US" sz="1725" dirty="0"/>
          </a:p>
        </p:txBody>
      </p:sp>
      <p:sp>
        <p:nvSpPr>
          <p:cNvPr id="27" name="Text 25"/>
          <p:cNvSpPr/>
          <p:nvPr/>
        </p:nvSpPr>
        <p:spPr>
          <a:xfrm>
            <a:off x="10485120" y="9793486"/>
            <a:ext cx="5690235" cy="268010"/>
          </a:xfrm>
          <a:prstGeom prst="rect">
            <a:avLst/>
          </a:prstGeom>
          <a:noFill/>
          <a:ln/>
        </p:spPr>
        <p:txBody>
          <a:bodyPr wrap="square" lIns="25400" tIns="25400" rIns="25400" bIns="25400" rtlCol="0" anchor="t">
            <a:normAutofit/>
          </a:bodyPr>
          <a:lstStyle/>
          <a:p>
            <a:pPr algn="l" indent="0" marL="0">
              <a:lnSpc>
                <a:spcPct val="142000"/>
              </a:lnSpc>
              <a:buNone/>
            </a:pPr>
            <a:r>
              <a:rPr lang="en-US" sz="1275" dirty="0">
                <a:solidFill>
                  <a:srgbClr val="9A8F76"/>
                </a:solidFill>
                <a:latin typeface="Arial" pitchFamily="34" charset="0"/>
                <a:ea typeface="Arial" pitchFamily="34" charset="-122"/>
                <a:cs typeface="Arial" pitchFamily="34" charset="-120"/>
              </a:rPr>
              <a:t>Inferred from a single register pair. A curve over 4–5 registers is Future Work.</a:t>
            </a:r>
            <a:endParaRPr lang="en-US" sz="1275" dirty="0"/>
          </a:p>
        </p:txBody>
      </p:sp>
      <p:sp>
        <p:nvSpPr>
          <p:cNvPr id="28" name="Text 26"/>
          <p:cNvSpPr/>
          <p:nvPr/>
        </p:nvSpPr>
        <p:spPr>
          <a:xfrm>
            <a:off x="16588860" y="9429036"/>
            <a:ext cx="63234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144" kern="0" dirty="0">
                <a:solidFill>
                  <a:srgbClr val="9A8F76"/>
                </a:solidFill>
                <a:latin typeface="Arial" pitchFamily="34" charset="0"/>
                <a:ea typeface="Arial" pitchFamily="34" charset="-122"/>
                <a:cs typeface="Arial" pitchFamily="34" charset="-120"/>
              </a:rPr>
              <a:t>S·11</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1143000" y="533400"/>
            <a:ext cx="2523292"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 04 · SURPRISES</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12 </a:t>
            </a:r>
            <a:pPr algn="l" indent="0" marL="0">
              <a:lnSpc>
                <a:spcPct val="142000"/>
              </a:lnSpc>
              <a:buNone/>
            </a:pPr>
            <a:r>
              <a:rPr lang="en-US" sz="1800" spc="252" kern="0" dirty="0">
                <a:solidFill>
                  <a:srgbClr val="C9BFA8"/>
                </a:solidFill>
                <a:latin typeface="Arial" pitchFamily="34" charset="0"/>
                <a:ea typeface="Arial" pitchFamily="34" charset="-122"/>
                <a:cs typeface="Arial" pitchFamily="34" charset="-120"/>
              </a:rPr>
              <a:t>/ 15</a:t>
            </a:r>
            <a:endParaRPr lang="en-US" sz="1800" dirty="0"/>
          </a:p>
        </p:txBody>
      </p:sp>
      <p:sp>
        <p:nvSpPr>
          <p:cNvPr id="4" name="Shape 2"/>
          <p:cNvSpPr/>
          <p:nvPr/>
        </p:nvSpPr>
        <p:spPr>
          <a:xfrm>
            <a:off x="1143000" y="2190750"/>
            <a:ext cx="914400" cy="9525"/>
          </a:xfrm>
          <a:prstGeom prst="rect">
            <a:avLst/>
          </a:prstGeom>
          <a:solidFill>
            <a:srgbClr val="C9BFA8"/>
          </a:solidFill>
          <a:ln/>
        </p:spPr>
      </p:sp>
      <p:sp>
        <p:nvSpPr>
          <p:cNvPr id="5" name="Text 3"/>
          <p:cNvSpPr/>
          <p:nvPr/>
        </p:nvSpPr>
        <p:spPr>
          <a:xfrm>
            <a:off x="1143000" y="2579370"/>
            <a:ext cx="14716125" cy="696397"/>
          </a:xfrm>
          <a:prstGeom prst="rect">
            <a:avLst/>
          </a:prstGeom>
          <a:noFill/>
          <a:ln/>
        </p:spPr>
        <p:txBody>
          <a:bodyPr wrap="square" lIns="25400" tIns="25400" rIns="25400" bIns="25400" rtlCol="0" anchor="t">
            <a:normAutofit/>
          </a:bodyPr>
          <a:lstStyle/>
          <a:p>
            <a:pPr algn="l" indent="0" marL="0">
              <a:lnSpc>
                <a:spcPct val="108000"/>
              </a:lnSpc>
              <a:buNone/>
            </a:pPr>
            <a:r>
              <a:rPr lang="en-US" sz="4800" spc="-72" kern="0" dirty="0">
                <a:solidFill>
                  <a:srgbClr val="1A1A1A"/>
                </a:solidFill>
                <a:latin typeface="Arial" pitchFamily="34" charset="0"/>
                <a:ea typeface="Arial" pitchFamily="34" charset="-122"/>
                <a:cs typeface="Arial" pitchFamily="34" charset="-120"/>
              </a:rPr>
              <a:t>Out-of-domain costs are asymmetric.</a:t>
            </a:r>
            <a:endParaRPr lang="en-US" sz="4800" dirty="0"/>
          </a:p>
        </p:txBody>
      </p:sp>
      <p:sp>
        <p:nvSpPr>
          <p:cNvPr id="6" name="Text 4"/>
          <p:cNvSpPr/>
          <p:nvPr/>
        </p:nvSpPr>
        <p:spPr>
          <a:xfrm>
            <a:off x="1143000" y="3694867"/>
            <a:ext cx="13735050" cy="501015"/>
          </a:xfrm>
          <a:prstGeom prst="rect">
            <a:avLst/>
          </a:prstGeom>
          <a:noFill/>
          <a:ln/>
        </p:spPr>
        <p:txBody>
          <a:bodyPr wrap="square" lIns="25400" tIns="25400" rIns="25400" bIns="25400" rtlCol="0" anchor="t">
            <a:normAutofit/>
          </a:bodyPr>
          <a:lstStyle/>
          <a:p>
            <a:pPr algn="l" indent="0" marL="0">
              <a:lnSpc>
                <a:spcPct val="135000"/>
              </a:lnSpc>
              <a:buNone/>
            </a:pPr>
            <a:r>
              <a:rPr lang="en-US" sz="2700" dirty="0">
                <a:solidFill>
                  <a:srgbClr val="3E3A33"/>
                </a:solidFill>
                <a:latin typeface="Arial" pitchFamily="34" charset="0"/>
                <a:ea typeface="Arial" pitchFamily="34" charset="-122"/>
                <a:cs typeface="Arial" pitchFamily="34" charset="-120"/>
              </a:rPr>
              <a:t>One specialist is essentially free to use elsewhere. The other isn't.</a:t>
            </a:r>
            <a:endParaRPr lang="en-US" sz="2700" dirty="0"/>
          </a:p>
        </p:txBody>
      </p:sp>
      <p:sp>
        <p:nvSpPr>
          <p:cNvPr id="7" name="Shape 5"/>
          <p:cNvSpPr/>
          <p:nvPr/>
        </p:nvSpPr>
        <p:spPr>
          <a:xfrm>
            <a:off x="1143000" y="4767382"/>
            <a:ext cx="7715250" cy="3944422"/>
          </a:xfrm>
          <a:prstGeom prst="rect">
            <a:avLst/>
          </a:prstGeom>
          <a:solidFill>
            <a:srgbClr val="FFFDF7"/>
          </a:solidFill>
          <a:ln/>
        </p:spPr>
      </p:sp>
      <p:sp>
        <p:nvSpPr>
          <p:cNvPr id="8" name="Shape 6"/>
          <p:cNvSpPr/>
          <p:nvPr/>
        </p:nvSpPr>
        <p:spPr>
          <a:xfrm>
            <a:off x="1143000" y="8704183"/>
            <a:ext cx="7715250" cy="9525"/>
          </a:xfrm>
          <a:prstGeom prst="rect">
            <a:avLst/>
          </a:prstGeom>
          <a:solidFill>
            <a:srgbClr val="E4DCC6"/>
          </a:solidFill>
          <a:ln/>
        </p:spPr>
      </p:sp>
      <p:sp>
        <p:nvSpPr>
          <p:cNvPr id="9" name="Shape 7"/>
          <p:cNvSpPr/>
          <p:nvPr/>
        </p:nvSpPr>
        <p:spPr>
          <a:xfrm>
            <a:off x="1143000" y="4767382"/>
            <a:ext cx="7715250" cy="9525"/>
          </a:xfrm>
          <a:prstGeom prst="rect">
            <a:avLst/>
          </a:prstGeom>
          <a:solidFill>
            <a:srgbClr val="E4DCC6"/>
          </a:solidFill>
          <a:ln/>
        </p:spPr>
      </p:sp>
      <p:sp>
        <p:nvSpPr>
          <p:cNvPr id="10" name="Shape 8"/>
          <p:cNvSpPr/>
          <p:nvPr/>
        </p:nvSpPr>
        <p:spPr>
          <a:xfrm>
            <a:off x="1143000" y="4767382"/>
            <a:ext cx="45720" cy="3944422"/>
          </a:xfrm>
          <a:prstGeom prst="rect">
            <a:avLst/>
          </a:prstGeom>
          <a:solidFill>
            <a:srgbClr val="C28B1F"/>
          </a:solidFill>
          <a:ln/>
        </p:spPr>
      </p:sp>
      <p:sp>
        <p:nvSpPr>
          <p:cNvPr id="11" name="Shape 9"/>
          <p:cNvSpPr/>
          <p:nvPr/>
        </p:nvSpPr>
        <p:spPr>
          <a:xfrm>
            <a:off x="8850630" y="4767382"/>
            <a:ext cx="9525" cy="3944422"/>
          </a:xfrm>
          <a:prstGeom prst="rect">
            <a:avLst/>
          </a:prstGeom>
          <a:solidFill>
            <a:srgbClr val="E4DCC6"/>
          </a:solidFill>
          <a:ln/>
        </p:spPr>
      </p:sp>
      <p:sp>
        <p:nvSpPr>
          <p:cNvPr id="12" name="Shape 10"/>
          <p:cNvSpPr/>
          <p:nvPr/>
        </p:nvSpPr>
        <p:spPr>
          <a:xfrm>
            <a:off x="1569720" y="5156002"/>
            <a:ext cx="1641277" cy="346710"/>
          </a:xfrm>
          <a:prstGeom prst="rect">
            <a:avLst/>
          </a:prstGeom>
          <a:solidFill>
            <a:srgbClr val="C28B1F"/>
          </a:solidFill>
          <a:ln/>
        </p:spPr>
      </p:sp>
      <p:sp>
        <p:nvSpPr>
          <p:cNvPr id="13" name="Text 11"/>
          <p:cNvSpPr/>
          <p:nvPr/>
        </p:nvSpPr>
        <p:spPr>
          <a:xfrm>
            <a:off x="1684020" y="5194102"/>
            <a:ext cx="1488877" cy="308610"/>
          </a:xfrm>
          <a:prstGeom prst="rect">
            <a:avLst/>
          </a:prstGeom>
          <a:noFill/>
          <a:ln/>
        </p:spPr>
        <p:txBody>
          <a:bodyPr wrap="square" lIns="25400" tIns="25400" rIns="25400" bIns="25400" rtlCol="0" anchor="t">
            <a:normAutofit/>
          </a:bodyPr>
          <a:lstStyle/>
          <a:p>
            <a:pPr algn="l" indent="0" marL="0">
              <a:lnSpc>
                <a:spcPct val="142000"/>
              </a:lnSpc>
              <a:buNone/>
            </a:pPr>
            <a:r>
              <a:rPr lang="en-US" sz="1500" b="1" spc="180" kern="0" dirty="0">
                <a:solidFill>
                  <a:srgbClr val="F5EFDF"/>
                </a:solidFill>
                <a:latin typeface="Arial" pitchFamily="34" charset="0"/>
                <a:ea typeface="Arial" pitchFamily="34" charset="-122"/>
                <a:cs typeface="Arial" pitchFamily="34" charset="-120"/>
              </a:rPr>
              <a:t>MTSAMPLES</a:t>
            </a:r>
            <a:endParaRPr lang="en-US" sz="1500" dirty="0"/>
          </a:p>
        </p:txBody>
      </p:sp>
      <p:sp>
        <p:nvSpPr>
          <p:cNvPr id="14" name="Text 12"/>
          <p:cNvSpPr/>
          <p:nvPr/>
        </p:nvSpPr>
        <p:spPr>
          <a:xfrm>
            <a:off x="3477697" y="5117902"/>
            <a:ext cx="2436019" cy="416719"/>
          </a:xfrm>
          <a:prstGeom prst="rect">
            <a:avLst/>
          </a:prstGeom>
          <a:noFill/>
          <a:ln/>
        </p:spPr>
        <p:txBody>
          <a:bodyPr wrap="square" lIns="25400" tIns="25400" rIns="25400" bIns="25400" rtlCol="0" anchor="t">
            <a:normAutofit/>
          </a:bodyPr>
          <a:lstStyle/>
          <a:p>
            <a:pPr algn="l" indent="0" marL="0">
              <a:lnSpc>
                <a:spcPct val="142000"/>
              </a:lnSpc>
              <a:buNone/>
            </a:pPr>
            <a:r>
              <a:rPr lang="en-US" sz="2100" i="1" dirty="0">
                <a:solidFill>
                  <a:srgbClr val="3E3A33"/>
                </a:solidFill>
                <a:latin typeface="Arial" pitchFamily="34" charset="0"/>
                <a:ea typeface="Arial" pitchFamily="34" charset="-122"/>
                <a:cs typeface="Arial" pitchFamily="34" charset="-120"/>
              </a:rPr>
              <a:t>the portable specialist</a:t>
            </a:r>
            <a:endParaRPr lang="en-US" sz="2100" dirty="0"/>
          </a:p>
        </p:txBody>
      </p:sp>
      <p:sp>
        <p:nvSpPr>
          <p:cNvPr id="15" name="Shape 13"/>
          <p:cNvSpPr/>
          <p:nvPr/>
        </p:nvSpPr>
        <p:spPr>
          <a:xfrm>
            <a:off x="1569720" y="7145893"/>
            <a:ext cx="6899910" cy="9525"/>
          </a:xfrm>
          <a:prstGeom prst="rect">
            <a:avLst/>
          </a:prstGeom>
          <a:solidFill>
            <a:srgbClr val="E4DCC6"/>
          </a:solidFill>
          <a:ln/>
        </p:spPr>
      </p:sp>
      <p:sp>
        <p:nvSpPr>
          <p:cNvPr id="16" name="Shape 14"/>
          <p:cNvSpPr/>
          <p:nvPr/>
        </p:nvSpPr>
        <p:spPr>
          <a:xfrm>
            <a:off x="1569720" y="5674162"/>
            <a:ext cx="6899910" cy="9525"/>
          </a:xfrm>
          <a:prstGeom prst="rect">
            <a:avLst/>
          </a:prstGeom>
          <a:solidFill>
            <a:srgbClr val="E4DCC6"/>
          </a:solidFill>
          <a:ln/>
        </p:spPr>
      </p:sp>
      <p:sp>
        <p:nvSpPr>
          <p:cNvPr id="17" name="Text 15"/>
          <p:cNvSpPr/>
          <p:nvPr/>
        </p:nvSpPr>
        <p:spPr>
          <a:xfrm>
            <a:off x="1569720" y="5853232"/>
            <a:ext cx="4148353" cy="335637"/>
          </a:xfrm>
          <a:prstGeom prst="rect">
            <a:avLst/>
          </a:prstGeom>
          <a:noFill/>
          <a:ln/>
        </p:spPr>
        <p:txBody>
          <a:bodyPr wrap="square" lIns="25400" tIns="25400" rIns="25400" bIns="25400" rtlCol="0" anchor="t">
            <a:normAutofit/>
          </a:bodyPr>
          <a:lstStyle/>
          <a:p>
            <a:pPr algn="l" indent="0" marL="0">
              <a:lnSpc>
                <a:spcPct val="142000"/>
              </a:lnSpc>
              <a:buNone/>
            </a:pPr>
            <a:r>
              <a:rPr lang="en-US" sz="1650" dirty="0">
                <a:solidFill>
                  <a:srgbClr val="3E3A33"/>
                </a:solidFill>
                <a:latin typeface="Arial" pitchFamily="34" charset="0"/>
                <a:ea typeface="Arial" pitchFamily="34" charset="-122"/>
                <a:cs typeface="Arial" pitchFamily="34" charset="-120"/>
              </a:rPr>
              <a:t>PubMed BPC</a:t>
            </a:r>
            <a:endParaRPr lang="en-US" sz="1650" dirty="0"/>
          </a:p>
        </p:txBody>
      </p:sp>
      <p:sp>
        <p:nvSpPr>
          <p:cNvPr id="18" name="Text 16"/>
          <p:cNvSpPr/>
          <p:nvPr/>
        </p:nvSpPr>
        <p:spPr>
          <a:xfrm>
            <a:off x="5825847" y="5853232"/>
            <a:ext cx="2723096" cy="335637"/>
          </a:xfrm>
          <a:prstGeom prst="rect">
            <a:avLst/>
          </a:prstGeom>
          <a:noFill/>
          <a:ln/>
        </p:spPr>
        <p:txBody>
          <a:bodyPr wrap="square" lIns="25400" tIns="25400" rIns="25400" bIns="25400" rtlCol="0" anchor="t">
            <a:normAutofit/>
          </a:bodyPr>
          <a:lstStyle/>
          <a:p>
            <a:pPr algn="l" indent="0" marL="0">
              <a:lnSpc>
                <a:spcPct val="142000"/>
              </a:lnSpc>
              <a:buNone/>
            </a:pPr>
            <a:r>
              <a:rPr lang="en-US" sz="1650" b="1" dirty="0">
                <a:solidFill>
                  <a:srgbClr val="1A1A1A"/>
                </a:solidFill>
                <a:latin typeface="Arial" pitchFamily="34" charset="0"/>
                <a:ea typeface="Arial" pitchFamily="34" charset="-122"/>
                <a:cs typeface="Arial" pitchFamily="34" charset="-120"/>
              </a:rPr>
              <a:t>1.0592 </a:t>
            </a:r>
            <a:pPr algn="l" indent="0" marL="0">
              <a:lnSpc>
                <a:spcPct val="142000"/>
              </a:lnSpc>
              <a:buNone/>
            </a:pPr>
            <a:r>
              <a:rPr lang="en-US" sz="1650" dirty="0">
                <a:solidFill>
                  <a:srgbClr val="8A8375"/>
                </a:solidFill>
                <a:latin typeface="Arial" pitchFamily="34" charset="0"/>
                <a:ea typeface="Arial" pitchFamily="34" charset="-122"/>
                <a:cs typeface="Arial" pitchFamily="34" charset="-120"/>
              </a:rPr>
              <a:t>vs general 1.0591</a:t>
            </a:r>
            <a:endParaRPr lang="en-US" sz="1650" dirty="0"/>
          </a:p>
        </p:txBody>
      </p:sp>
      <p:sp>
        <p:nvSpPr>
          <p:cNvPr id="19" name="Text 17"/>
          <p:cNvSpPr/>
          <p:nvPr/>
        </p:nvSpPr>
        <p:spPr>
          <a:xfrm>
            <a:off x="1569720" y="6265069"/>
            <a:ext cx="4148353" cy="335637"/>
          </a:xfrm>
          <a:prstGeom prst="rect">
            <a:avLst/>
          </a:prstGeom>
          <a:noFill/>
          <a:ln/>
        </p:spPr>
        <p:txBody>
          <a:bodyPr wrap="square" lIns="25400" tIns="25400" rIns="25400" bIns="25400" rtlCol="0" anchor="t">
            <a:normAutofit/>
          </a:bodyPr>
          <a:lstStyle/>
          <a:p>
            <a:pPr algn="l" indent="0" marL="0">
              <a:lnSpc>
                <a:spcPct val="142000"/>
              </a:lnSpc>
              <a:buNone/>
            </a:pPr>
            <a:r>
              <a:rPr lang="en-US" sz="1650" dirty="0">
                <a:solidFill>
                  <a:srgbClr val="3E3A33"/>
                </a:solidFill>
                <a:latin typeface="Arial" pitchFamily="34" charset="0"/>
                <a:ea typeface="Arial" pitchFamily="34" charset="-122"/>
                <a:cs typeface="Arial" pitchFamily="34" charset="-120"/>
              </a:rPr>
              <a:t>∆ vs general</a:t>
            </a:r>
            <a:endParaRPr lang="en-US" sz="1650" dirty="0"/>
          </a:p>
        </p:txBody>
      </p:sp>
      <p:sp>
        <p:nvSpPr>
          <p:cNvPr id="20" name="Text 18"/>
          <p:cNvSpPr/>
          <p:nvPr/>
        </p:nvSpPr>
        <p:spPr>
          <a:xfrm>
            <a:off x="5825847" y="6265069"/>
            <a:ext cx="2723096" cy="335637"/>
          </a:xfrm>
          <a:prstGeom prst="rect">
            <a:avLst/>
          </a:prstGeom>
          <a:noFill/>
          <a:ln/>
        </p:spPr>
        <p:txBody>
          <a:bodyPr wrap="square" lIns="25400" tIns="25400" rIns="25400" bIns="25400" rtlCol="0" anchor="t">
            <a:normAutofit/>
          </a:bodyPr>
          <a:lstStyle/>
          <a:p>
            <a:pPr algn="l" indent="0" marL="0">
              <a:lnSpc>
                <a:spcPct val="142000"/>
              </a:lnSpc>
              <a:buNone/>
            </a:pPr>
            <a:r>
              <a:rPr lang="en-US" sz="1650" b="1" dirty="0">
                <a:solidFill>
                  <a:srgbClr val="C28B1F"/>
                </a:solidFill>
                <a:latin typeface="Arial" pitchFamily="34" charset="0"/>
                <a:ea typeface="Arial" pitchFamily="34" charset="-122"/>
                <a:cs typeface="Arial" pitchFamily="34" charset="-120"/>
              </a:rPr>
              <a:t>+0.0001 BPC </a:t>
            </a:r>
            <a:pPr algn="l" indent="0" marL="0">
              <a:lnSpc>
                <a:spcPct val="142000"/>
              </a:lnSpc>
              <a:buNone/>
            </a:pPr>
            <a:r>
              <a:rPr lang="en-US" sz="1350" dirty="0">
                <a:solidFill>
                  <a:srgbClr val="8A8375"/>
                </a:solidFill>
                <a:latin typeface="Arial" pitchFamily="34" charset="0"/>
                <a:ea typeface="Arial" pitchFamily="34" charset="-122"/>
                <a:cs typeface="Arial" pitchFamily="34" charset="-120"/>
              </a:rPr>
              <a:t>(below seed σ)</a:t>
            </a:r>
            <a:endParaRPr lang="en-US" sz="1650" dirty="0"/>
          </a:p>
        </p:txBody>
      </p:sp>
      <p:sp>
        <p:nvSpPr>
          <p:cNvPr id="21" name="Text 19"/>
          <p:cNvSpPr/>
          <p:nvPr/>
        </p:nvSpPr>
        <p:spPr>
          <a:xfrm>
            <a:off x="1569720" y="6676906"/>
            <a:ext cx="4148353" cy="335637"/>
          </a:xfrm>
          <a:prstGeom prst="rect">
            <a:avLst/>
          </a:prstGeom>
          <a:noFill/>
          <a:ln/>
        </p:spPr>
        <p:txBody>
          <a:bodyPr wrap="square" lIns="25400" tIns="25400" rIns="25400" bIns="25400" rtlCol="0" anchor="t">
            <a:normAutofit/>
          </a:bodyPr>
          <a:lstStyle/>
          <a:p>
            <a:pPr algn="l" indent="0" marL="0">
              <a:lnSpc>
                <a:spcPct val="142000"/>
              </a:lnSpc>
              <a:buNone/>
            </a:pPr>
            <a:r>
              <a:rPr lang="en-US" sz="1650" dirty="0">
                <a:solidFill>
                  <a:srgbClr val="3E3A33"/>
                </a:solidFill>
                <a:latin typeface="Arial" pitchFamily="34" charset="0"/>
                <a:ea typeface="Arial" pitchFamily="34" charset="-122"/>
                <a:cs typeface="Arial" pitchFamily="34" charset="-120"/>
              </a:rPr>
              <a:t>Wikitext cost</a:t>
            </a:r>
            <a:endParaRPr lang="en-US" sz="1650" dirty="0"/>
          </a:p>
        </p:txBody>
      </p:sp>
      <p:sp>
        <p:nvSpPr>
          <p:cNvPr id="22" name="Text 20"/>
          <p:cNvSpPr/>
          <p:nvPr/>
        </p:nvSpPr>
        <p:spPr>
          <a:xfrm>
            <a:off x="5825847" y="6676906"/>
            <a:ext cx="2723096" cy="335637"/>
          </a:xfrm>
          <a:prstGeom prst="rect">
            <a:avLst/>
          </a:prstGeom>
          <a:noFill/>
          <a:ln/>
        </p:spPr>
        <p:txBody>
          <a:bodyPr wrap="square" lIns="25400" tIns="25400" rIns="25400" bIns="25400" rtlCol="0" anchor="t">
            <a:normAutofit/>
          </a:bodyPr>
          <a:lstStyle/>
          <a:p>
            <a:pPr algn="l" indent="0" marL="0">
              <a:lnSpc>
                <a:spcPct val="142000"/>
              </a:lnSpc>
              <a:buNone/>
            </a:pPr>
            <a:r>
              <a:rPr lang="en-US" sz="1650" b="1" dirty="0">
                <a:solidFill>
                  <a:srgbClr val="1A1A1A"/>
                </a:solidFill>
                <a:latin typeface="Arial" pitchFamily="34" charset="0"/>
                <a:ea typeface="Arial" pitchFamily="34" charset="-122"/>
                <a:cs typeface="Arial" pitchFamily="34" charset="-120"/>
              </a:rPr>
              <a:t>+0.44 BPC</a:t>
            </a:r>
            <a:endParaRPr lang="en-US" sz="1650" dirty="0"/>
          </a:p>
        </p:txBody>
      </p:sp>
      <p:sp>
        <p:nvSpPr>
          <p:cNvPr id="23" name="Text 21"/>
          <p:cNvSpPr/>
          <p:nvPr/>
        </p:nvSpPr>
        <p:spPr>
          <a:xfrm>
            <a:off x="1569720" y="7401163"/>
            <a:ext cx="7106908" cy="731520"/>
          </a:xfrm>
          <a:prstGeom prst="rect">
            <a:avLst/>
          </a:prstGeom>
          <a:noFill/>
          <a:ln/>
        </p:spPr>
        <p:txBody>
          <a:bodyPr wrap="square" lIns="25400" tIns="25400" rIns="25400" bIns="25400" rtlCol="0" anchor="t">
            <a:normAutofit/>
          </a:bodyPr>
          <a:lstStyle/>
          <a:p>
            <a:pPr algn="l" indent="0" marL="0">
              <a:lnSpc>
                <a:spcPct val="140000"/>
              </a:lnSpc>
              <a:buNone/>
            </a:pPr>
            <a:r>
              <a:rPr lang="en-US" sz="1950" i="1" dirty="0">
                <a:solidFill>
                  <a:srgbClr val="1A1A1A"/>
                </a:solidFill>
                <a:latin typeface="Arial" pitchFamily="34" charset="0"/>
                <a:ea typeface="Arial" pitchFamily="34" charset="-122"/>
                <a:cs typeface="Arial" pitchFamily="34" charset="-120"/>
              </a:rPr>
              <a:t>Essentially ties general on PubMed—and only pays a moderate cost on wikitext.</a:t>
            </a:r>
            <a:endParaRPr lang="en-US" sz="1950" dirty="0"/>
          </a:p>
        </p:txBody>
      </p:sp>
      <p:sp>
        <p:nvSpPr>
          <p:cNvPr id="24" name="Shape 22"/>
          <p:cNvSpPr/>
          <p:nvPr/>
        </p:nvSpPr>
        <p:spPr>
          <a:xfrm>
            <a:off x="9429750" y="4767382"/>
            <a:ext cx="7715250" cy="3944422"/>
          </a:xfrm>
          <a:prstGeom prst="rect">
            <a:avLst/>
          </a:prstGeom>
          <a:solidFill>
            <a:srgbClr val="FFFDF7"/>
          </a:solidFill>
          <a:ln/>
        </p:spPr>
      </p:sp>
      <p:sp>
        <p:nvSpPr>
          <p:cNvPr id="25" name="Shape 23"/>
          <p:cNvSpPr/>
          <p:nvPr/>
        </p:nvSpPr>
        <p:spPr>
          <a:xfrm>
            <a:off x="9429750" y="8704183"/>
            <a:ext cx="7715250" cy="9525"/>
          </a:xfrm>
          <a:prstGeom prst="rect">
            <a:avLst/>
          </a:prstGeom>
          <a:solidFill>
            <a:srgbClr val="E4DCC6"/>
          </a:solidFill>
          <a:ln/>
        </p:spPr>
      </p:sp>
      <p:sp>
        <p:nvSpPr>
          <p:cNvPr id="26" name="Shape 24"/>
          <p:cNvSpPr/>
          <p:nvPr/>
        </p:nvSpPr>
        <p:spPr>
          <a:xfrm>
            <a:off x="9429750" y="4767382"/>
            <a:ext cx="7715250" cy="9525"/>
          </a:xfrm>
          <a:prstGeom prst="rect">
            <a:avLst/>
          </a:prstGeom>
          <a:solidFill>
            <a:srgbClr val="E4DCC6"/>
          </a:solidFill>
          <a:ln/>
        </p:spPr>
      </p:sp>
      <p:sp>
        <p:nvSpPr>
          <p:cNvPr id="27" name="Shape 25"/>
          <p:cNvSpPr/>
          <p:nvPr/>
        </p:nvSpPr>
        <p:spPr>
          <a:xfrm>
            <a:off x="9429750" y="4767382"/>
            <a:ext cx="45720" cy="3944422"/>
          </a:xfrm>
          <a:prstGeom prst="rect">
            <a:avLst/>
          </a:prstGeom>
          <a:solidFill>
            <a:srgbClr val="B6351D"/>
          </a:solidFill>
          <a:ln/>
        </p:spPr>
      </p:sp>
      <p:sp>
        <p:nvSpPr>
          <p:cNvPr id="28" name="Shape 26"/>
          <p:cNvSpPr/>
          <p:nvPr/>
        </p:nvSpPr>
        <p:spPr>
          <a:xfrm>
            <a:off x="17137380" y="4767382"/>
            <a:ext cx="9525" cy="3944422"/>
          </a:xfrm>
          <a:prstGeom prst="rect">
            <a:avLst/>
          </a:prstGeom>
          <a:solidFill>
            <a:srgbClr val="E4DCC6"/>
          </a:solidFill>
          <a:ln/>
        </p:spPr>
      </p:sp>
      <p:sp>
        <p:nvSpPr>
          <p:cNvPr id="29" name="Shape 27"/>
          <p:cNvSpPr/>
          <p:nvPr/>
        </p:nvSpPr>
        <p:spPr>
          <a:xfrm>
            <a:off x="9856470" y="5156002"/>
            <a:ext cx="1251942" cy="346710"/>
          </a:xfrm>
          <a:prstGeom prst="rect">
            <a:avLst/>
          </a:prstGeom>
          <a:solidFill>
            <a:srgbClr val="B6351D"/>
          </a:solidFill>
          <a:ln/>
        </p:spPr>
      </p:sp>
      <p:sp>
        <p:nvSpPr>
          <p:cNvPr id="30" name="Text 28"/>
          <p:cNvSpPr/>
          <p:nvPr/>
        </p:nvSpPr>
        <p:spPr>
          <a:xfrm>
            <a:off x="9970770" y="5194102"/>
            <a:ext cx="1099542" cy="308610"/>
          </a:xfrm>
          <a:prstGeom prst="rect">
            <a:avLst/>
          </a:prstGeom>
          <a:noFill/>
          <a:ln/>
        </p:spPr>
        <p:txBody>
          <a:bodyPr wrap="square" lIns="25400" tIns="25400" rIns="25400" bIns="25400" rtlCol="0" anchor="t">
            <a:normAutofit/>
          </a:bodyPr>
          <a:lstStyle/>
          <a:p>
            <a:pPr algn="l" indent="0" marL="0">
              <a:lnSpc>
                <a:spcPct val="142000"/>
              </a:lnSpc>
              <a:buNone/>
            </a:pPr>
            <a:r>
              <a:rPr lang="en-US" sz="1500" b="1" spc="180" kern="0" dirty="0">
                <a:solidFill>
                  <a:srgbClr val="F5EFDF"/>
                </a:solidFill>
                <a:latin typeface="Arial" pitchFamily="34" charset="0"/>
                <a:ea typeface="Arial" pitchFamily="34" charset="-122"/>
                <a:cs typeface="Arial" pitchFamily="34" charset="-120"/>
              </a:rPr>
              <a:t>MEDICAL</a:t>
            </a:r>
            <a:endParaRPr lang="en-US" sz="1500" dirty="0"/>
          </a:p>
        </p:txBody>
      </p:sp>
      <p:sp>
        <p:nvSpPr>
          <p:cNvPr id="31" name="Text 29"/>
          <p:cNvSpPr/>
          <p:nvPr/>
        </p:nvSpPr>
        <p:spPr>
          <a:xfrm>
            <a:off x="11375113" y="5117902"/>
            <a:ext cx="2199084" cy="416719"/>
          </a:xfrm>
          <a:prstGeom prst="rect">
            <a:avLst/>
          </a:prstGeom>
          <a:noFill/>
          <a:ln/>
        </p:spPr>
        <p:txBody>
          <a:bodyPr wrap="square" lIns="25400" tIns="25400" rIns="25400" bIns="25400" rtlCol="0" anchor="t">
            <a:normAutofit/>
          </a:bodyPr>
          <a:lstStyle/>
          <a:p>
            <a:pPr algn="l" indent="0" marL="0">
              <a:lnSpc>
                <a:spcPct val="142000"/>
              </a:lnSpc>
              <a:buNone/>
            </a:pPr>
            <a:r>
              <a:rPr lang="en-US" sz="2100" i="1" dirty="0">
                <a:solidFill>
                  <a:srgbClr val="3E3A33"/>
                </a:solidFill>
                <a:latin typeface="Arial" pitchFamily="34" charset="0"/>
                <a:ea typeface="Arial" pitchFamily="34" charset="-122"/>
                <a:cs typeface="Arial" pitchFamily="34" charset="-120"/>
              </a:rPr>
              <a:t>the brittle specialist</a:t>
            </a:r>
            <a:endParaRPr lang="en-US" sz="2100" dirty="0"/>
          </a:p>
        </p:txBody>
      </p:sp>
      <p:sp>
        <p:nvSpPr>
          <p:cNvPr id="32" name="Shape 30"/>
          <p:cNvSpPr/>
          <p:nvPr/>
        </p:nvSpPr>
        <p:spPr>
          <a:xfrm>
            <a:off x="9856470" y="7443431"/>
            <a:ext cx="6899910" cy="9525"/>
          </a:xfrm>
          <a:prstGeom prst="rect">
            <a:avLst/>
          </a:prstGeom>
          <a:solidFill>
            <a:srgbClr val="E4DCC6"/>
          </a:solidFill>
          <a:ln/>
        </p:spPr>
      </p:sp>
      <p:sp>
        <p:nvSpPr>
          <p:cNvPr id="33" name="Shape 31"/>
          <p:cNvSpPr/>
          <p:nvPr/>
        </p:nvSpPr>
        <p:spPr>
          <a:xfrm>
            <a:off x="9856470" y="5674162"/>
            <a:ext cx="6899910" cy="9525"/>
          </a:xfrm>
          <a:prstGeom prst="rect">
            <a:avLst/>
          </a:prstGeom>
          <a:solidFill>
            <a:srgbClr val="E4DCC6"/>
          </a:solidFill>
          <a:ln/>
        </p:spPr>
      </p:sp>
      <p:sp>
        <p:nvSpPr>
          <p:cNvPr id="34" name="Text 32"/>
          <p:cNvSpPr/>
          <p:nvPr/>
        </p:nvSpPr>
        <p:spPr>
          <a:xfrm>
            <a:off x="9856470" y="5853232"/>
            <a:ext cx="1592580" cy="335637"/>
          </a:xfrm>
          <a:prstGeom prst="rect">
            <a:avLst/>
          </a:prstGeom>
          <a:noFill/>
          <a:ln/>
        </p:spPr>
        <p:txBody>
          <a:bodyPr wrap="square" lIns="25400" tIns="25400" rIns="25400" bIns="25400" rtlCol="0" anchor="t">
            <a:normAutofit/>
          </a:bodyPr>
          <a:lstStyle/>
          <a:p>
            <a:pPr algn="l" indent="0" marL="0">
              <a:lnSpc>
                <a:spcPct val="142000"/>
              </a:lnSpc>
              <a:buNone/>
            </a:pPr>
            <a:r>
              <a:rPr lang="en-US" sz="1650" dirty="0">
                <a:solidFill>
                  <a:srgbClr val="3E3A33"/>
                </a:solidFill>
                <a:latin typeface="Arial" pitchFamily="34" charset="0"/>
                <a:ea typeface="Arial" pitchFamily="34" charset="-122"/>
                <a:cs typeface="Arial" pitchFamily="34" charset="-120"/>
              </a:rPr>
              <a:t>PubMed BPC</a:t>
            </a:r>
            <a:endParaRPr lang="en-US" sz="1650" dirty="0"/>
          </a:p>
        </p:txBody>
      </p:sp>
      <p:sp>
        <p:nvSpPr>
          <p:cNvPr id="35" name="Text 33"/>
          <p:cNvSpPr/>
          <p:nvPr/>
        </p:nvSpPr>
        <p:spPr>
          <a:xfrm>
            <a:off x="11601450" y="5853232"/>
            <a:ext cx="5309578" cy="335637"/>
          </a:xfrm>
          <a:prstGeom prst="rect">
            <a:avLst/>
          </a:prstGeom>
          <a:noFill/>
          <a:ln/>
        </p:spPr>
        <p:txBody>
          <a:bodyPr wrap="square" lIns="25400" tIns="25400" rIns="25400" bIns="25400" rtlCol="0" anchor="t">
            <a:normAutofit/>
          </a:bodyPr>
          <a:lstStyle/>
          <a:p>
            <a:pPr algn="l" indent="0" marL="0">
              <a:lnSpc>
                <a:spcPct val="142000"/>
              </a:lnSpc>
              <a:buNone/>
            </a:pPr>
            <a:r>
              <a:rPr lang="en-US" sz="1650" b="1" dirty="0">
                <a:solidFill>
                  <a:srgbClr val="1A1A1A"/>
                </a:solidFill>
                <a:latin typeface="Arial" pitchFamily="34" charset="0"/>
                <a:ea typeface="Arial" pitchFamily="34" charset="-122"/>
                <a:cs typeface="Arial" pitchFamily="34" charset="-120"/>
              </a:rPr>
              <a:t>1.0499 </a:t>
            </a:r>
            <a:pPr algn="l" indent="0" marL="0">
              <a:lnSpc>
                <a:spcPct val="142000"/>
              </a:lnSpc>
              <a:buNone/>
            </a:pPr>
            <a:r>
              <a:rPr lang="en-US" sz="1650" b="1" dirty="0">
                <a:solidFill>
                  <a:srgbClr val="B6351D"/>
                </a:solidFill>
                <a:latin typeface="Arial" pitchFamily="34" charset="0"/>
                <a:ea typeface="Arial" pitchFamily="34" charset="-122"/>
                <a:cs typeface="Arial" pitchFamily="34" charset="-120"/>
              </a:rPr>
              <a:t>(wins by −0.010 vs general 1.0591)</a:t>
            </a:r>
            <a:endParaRPr lang="en-US" sz="1650" dirty="0"/>
          </a:p>
        </p:txBody>
      </p:sp>
      <p:sp>
        <p:nvSpPr>
          <p:cNvPr id="36" name="Text 34"/>
          <p:cNvSpPr/>
          <p:nvPr/>
        </p:nvSpPr>
        <p:spPr>
          <a:xfrm>
            <a:off x="9856470" y="6265069"/>
            <a:ext cx="1592580" cy="335637"/>
          </a:xfrm>
          <a:prstGeom prst="rect">
            <a:avLst/>
          </a:prstGeom>
          <a:noFill/>
          <a:ln/>
        </p:spPr>
        <p:txBody>
          <a:bodyPr wrap="square" lIns="25400" tIns="25400" rIns="25400" bIns="25400" rtlCol="0" anchor="t">
            <a:normAutofit/>
          </a:bodyPr>
          <a:lstStyle/>
          <a:p>
            <a:pPr algn="l" indent="0" marL="0">
              <a:lnSpc>
                <a:spcPct val="142000"/>
              </a:lnSpc>
              <a:buNone/>
            </a:pPr>
            <a:r>
              <a:rPr lang="en-US" sz="1650" dirty="0">
                <a:solidFill>
                  <a:srgbClr val="3E3A33"/>
                </a:solidFill>
                <a:latin typeface="Arial" pitchFamily="34" charset="0"/>
                <a:ea typeface="Arial" pitchFamily="34" charset="-122"/>
                <a:cs typeface="Arial" pitchFamily="34" charset="-120"/>
              </a:rPr>
              <a:t>Wikitext cost</a:t>
            </a:r>
            <a:endParaRPr lang="en-US" sz="1650" dirty="0"/>
          </a:p>
        </p:txBody>
      </p:sp>
      <p:sp>
        <p:nvSpPr>
          <p:cNvPr id="37" name="Text 35"/>
          <p:cNvSpPr/>
          <p:nvPr/>
        </p:nvSpPr>
        <p:spPr>
          <a:xfrm>
            <a:off x="11601450" y="6265069"/>
            <a:ext cx="5309578" cy="335637"/>
          </a:xfrm>
          <a:prstGeom prst="rect">
            <a:avLst/>
          </a:prstGeom>
          <a:noFill/>
          <a:ln/>
        </p:spPr>
        <p:txBody>
          <a:bodyPr wrap="square" lIns="25400" tIns="25400" rIns="25400" bIns="25400" rtlCol="0" anchor="t">
            <a:normAutofit/>
          </a:bodyPr>
          <a:lstStyle/>
          <a:p>
            <a:pPr algn="l" indent="0" marL="0">
              <a:lnSpc>
                <a:spcPct val="142000"/>
              </a:lnSpc>
              <a:buNone/>
            </a:pPr>
            <a:r>
              <a:rPr lang="en-US" sz="1650" b="1" dirty="0">
                <a:solidFill>
                  <a:srgbClr val="B6351D"/>
                </a:solidFill>
                <a:latin typeface="Arial" pitchFamily="34" charset="0"/>
                <a:ea typeface="Arial" pitchFamily="34" charset="-122"/>
                <a:cs typeface="Arial" pitchFamily="34" charset="-120"/>
              </a:rPr>
              <a:t>+0.94 BPC</a:t>
            </a:r>
            <a:endParaRPr lang="en-US" sz="1650" dirty="0"/>
          </a:p>
        </p:txBody>
      </p:sp>
      <p:sp>
        <p:nvSpPr>
          <p:cNvPr id="38" name="Text 36"/>
          <p:cNvSpPr/>
          <p:nvPr/>
        </p:nvSpPr>
        <p:spPr>
          <a:xfrm>
            <a:off x="9856470" y="6676906"/>
            <a:ext cx="1592580" cy="633174"/>
          </a:xfrm>
          <a:prstGeom prst="rect">
            <a:avLst/>
          </a:prstGeom>
          <a:noFill/>
          <a:ln/>
        </p:spPr>
        <p:txBody>
          <a:bodyPr wrap="square" lIns="25400" tIns="25400" rIns="25400" bIns="25400" rtlCol="0" anchor="t">
            <a:normAutofit/>
          </a:bodyPr>
          <a:lstStyle/>
          <a:p>
            <a:pPr algn="l" indent="0" marL="0">
              <a:lnSpc>
                <a:spcPct val="142000"/>
              </a:lnSpc>
              <a:buNone/>
            </a:pPr>
            <a:r>
              <a:rPr lang="en-US" sz="1650" dirty="0">
                <a:solidFill>
                  <a:srgbClr val="3E3A33"/>
                </a:solidFill>
                <a:latin typeface="Arial" pitchFamily="34" charset="0"/>
                <a:ea typeface="Arial" pitchFamily="34" charset="-122"/>
                <a:cs typeface="Arial" pitchFamily="34" charset="-120"/>
              </a:rPr>
              <a:t>MTSamples cost</a:t>
            </a:r>
            <a:endParaRPr lang="en-US" sz="1650" dirty="0"/>
          </a:p>
        </p:txBody>
      </p:sp>
      <p:sp>
        <p:nvSpPr>
          <p:cNvPr id="39" name="Text 37"/>
          <p:cNvSpPr/>
          <p:nvPr/>
        </p:nvSpPr>
        <p:spPr>
          <a:xfrm>
            <a:off x="11601450" y="6676906"/>
            <a:ext cx="5309578" cy="335637"/>
          </a:xfrm>
          <a:prstGeom prst="rect">
            <a:avLst/>
          </a:prstGeom>
          <a:noFill/>
          <a:ln/>
        </p:spPr>
        <p:txBody>
          <a:bodyPr wrap="square" lIns="25400" tIns="25400" rIns="25400" bIns="25400" rtlCol="0" anchor="t">
            <a:normAutofit/>
          </a:bodyPr>
          <a:lstStyle/>
          <a:p>
            <a:pPr algn="l" indent="0" marL="0">
              <a:lnSpc>
                <a:spcPct val="142000"/>
              </a:lnSpc>
              <a:buNone/>
            </a:pPr>
            <a:r>
              <a:rPr lang="en-US" sz="1650" b="1" dirty="0">
                <a:solidFill>
                  <a:srgbClr val="B6351D"/>
                </a:solidFill>
                <a:latin typeface="Arial" pitchFamily="34" charset="0"/>
                <a:ea typeface="Arial" pitchFamily="34" charset="-122"/>
                <a:cs typeface="Arial" pitchFamily="34" charset="-120"/>
              </a:rPr>
              <a:t>+0.49 BPC</a:t>
            </a:r>
            <a:endParaRPr lang="en-US" sz="1650" dirty="0"/>
          </a:p>
        </p:txBody>
      </p:sp>
      <p:sp>
        <p:nvSpPr>
          <p:cNvPr id="40" name="Text 38"/>
          <p:cNvSpPr/>
          <p:nvPr/>
        </p:nvSpPr>
        <p:spPr>
          <a:xfrm>
            <a:off x="9856470" y="7698700"/>
            <a:ext cx="7106908" cy="384810"/>
          </a:xfrm>
          <a:prstGeom prst="rect">
            <a:avLst/>
          </a:prstGeom>
          <a:noFill/>
          <a:ln/>
        </p:spPr>
        <p:txBody>
          <a:bodyPr wrap="square" lIns="25400" tIns="25400" rIns="25400" bIns="25400" rtlCol="0" anchor="t">
            <a:normAutofit/>
          </a:bodyPr>
          <a:lstStyle/>
          <a:p>
            <a:pPr algn="l" indent="0" marL="0">
              <a:lnSpc>
                <a:spcPct val="140000"/>
              </a:lnSpc>
              <a:buNone/>
            </a:pPr>
            <a:r>
              <a:rPr lang="en-US" sz="1950" i="1" dirty="0">
                <a:solidFill>
                  <a:srgbClr val="1A1A1A"/>
                </a:solidFill>
                <a:latin typeface="Arial" pitchFamily="34" charset="0"/>
                <a:ea typeface="Arial" pitchFamily="34" charset="-122"/>
                <a:cs typeface="Arial" pitchFamily="34" charset="-120"/>
              </a:rPr>
              <a:t>Largest out-of-domain cost on every corpus except its own.</a:t>
            </a:r>
            <a:endParaRPr lang="en-US" sz="1950" dirty="0"/>
          </a:p>
        </p:txBody>
      </p:sp>
      <p:sp>
        <p:nvSpPr>
          <p:cNvPr id="41" name="Shape 39"/>
          <p:cNvSpPr/>
          <p:nvPr/>
        </p:nvSpPr>
        <p:spPr>
          <a:xfrm>
            <a:off x="1143000" y="8940403"/>
            <a:ext cx="14897100" cy="15240"/>
          </a:xfrm>
          <a:prstGeom prst="rect">
            <a:avLst/>
          </a:prstGeom>
          <a:solidFill>
            <a:srgbClr val="1A1A1A"/>
          </a:solidFill>
          <a:ln/>
        </p:spPr>
      </p:sp>
      <p:sp>
        <p:nvSpPr>
          <p:cNvPr id="42" name="Text 40"/>
          <p:cNvSpPr/>
          <p:nvPr/>
        </p:nvSpPr>
        <p:spPr>
          <a:xfrm>
            <a:off x="1447800" y="9088993"/>
            <a:ext cx="14734413" cy="331470"/>
          </a:xfrm>
          <a:prstGeom prst="rect">
            <a:avLst/>
          </a:prstGeom>
          <a:noFill/>
          <a:ln/>
        </p:spPr>
        <p:txBody>
          <a:bodyPr wrap="square" lIns="25400" tIns="25400" rIns="25400" bIns="25400" rtlCol="0" anchor="t">
            <a:normAutofit/>
          </a:bodyPr>
          <a:lstStyle/>
          <a:p>
            <a:pPr algn="l" indent="0" marL="0">
              <a:lnSpc>
                <a:spcPct val="140000"/>
              </a:lnSpc>
              <a:buNone/>
            </a:pPr>
            <a:r>
              <a:rPr lang="en-US" sz="1650" i="1" dirty="0">
                <a:solidFill>
                  <a:srgbClr val="1A1A1A"/>
                </a:solidFill>
                <a:latin typeface="Arial" pitchFamily="34" charset="0"/>
                <a:ea typeface="Arial" pitchFamily="34" charset="-122"/>
                <a:cs typeface="Arial" pitchFamily="34" charset="-120"/>
              </a:rPr>
              <a:t>One register pair, one observation—not a generalized claim. The asymmetry suggests </a:t>
            </a:r>
            <a:pPr algn="l" indent="0" marL="0">
              <a:lnSpc>
                <a:spcPct val="140000"/>
              </a:lnSpc>
              <a:buNone/>
            </a:pPr>
            <a:r>
              <a:rPr lang="en-US" sz="1650" b="1" dirty="0">
                <a:solidFill>
                  <a:srgbClr val="1A1A1A"/>
                </a:solidFill>
                <a:latin typeface="Arial" pitchFamily="34" charset="0"/>
                <a:ea typeface="Arial" pitchFamily="34" charset="-122"/>
                <a:cs typeface="Arial" pitchFamily="34" charset="-120"/>
              </a:rPr>
              <a:t>specialist portability </a:t>
            </a:r>
            <a:pPr algn="l" indent="0" marL="0">
              <a:lnSpc>
                <a:spcPct val="140000"/>
              </a:lnSpc>
              <a:buNone/>
            </a:pPr>
            <a:r>
              <a:rPr lang="en-US" sz="1650" i="1" dirty="0">
                <a:solidFill>
                  <a:srgbClr val="1A1A1A"/>
                </a:solidFill>
                <a:latin typeface="Arial" pitchFamily="34" charset="0"/>
                <a:ea typeface="Arial" pitchFamily="34" charset="-122"/>
                <a:cs typeface="Arial" pitchFamily="34" charset="-120"/>
              </a:rPr>
              <a:t>is itself a tunable property of the training corpus.</a:t>
            </a:r>
            <a:endParaRPr lang="en-US" sz="1650" dirty="0"/>
          </a:p>
        </p:txBody>
      </p:sp>
      <p:sp>
        <p:nvSpPr>
          <p:cNvPr id="43" name="Text 41"/>
          <p:cNvSpPr/>
          <p:nvPr/>
        </p:nvSpPr>
        <p:spPr>
          <a:xfrm>
            <a:off x="16588860" y="9429036"/>
            <a:ext cx="63234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144" kern="0" dirty="0">
                <a:solidFill>
                  <a:srgbClr val="8A8375"/>
                </a:solidFill>
                <a:latin typeface="Arial" pitchFamily="34" charset="0"/>
                <a:ea typeface="Arial" pitchFamily="34" charset="-122"/>
                <a:cs typeface="Arial" pitchFamily="34" charset="-120"/>
              </a:rPr>
              <a:t>S·12</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1143000" y="533400"/>
            <a:ext cx="2523292"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 04 · SURPRISES</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13 </a:t>
            </a:r>
            <a:pPr algn="l" indent="0" marL="0">
              <a:lnSpc>
                <a:spcPct val="142000"/>
              </a:lnSpc>
              <a:buNone/>
            </a:pPr>
            <a:r>
              <a:rPr lang="en-US" sz="1800" spc="252" kern="0" dirty="0">
                <a:solidFill>
                  <a:srgbClr val="C9BFA8"/>
                </a:solidFill>
                <a:latin typeface="Arial" pitchFamily="34" charset="0"/>
                <a:ea typeface="Arial" pitchFamily="34" charset="-122"/>
                <a:cs typeface="Arial" pitchFamily="34" charset="-120"/>
              </a:rPr>
              <a:t>/ 15</a:t>
            </a:r>
            <a:endParaRPr lang="en-US" sz="1800" dirty="0"/>
          </a:p>
        </p:txBody>
      </p:sp>
      <p:sp>
        <p:nvSpPr>
          <p:cNvPr id="4" name="Shape 2"/>
          <p:cNvSpPr/>
          <p:nvPr/>
        </p:nvSpPr>
        <p:spPr>
          <a:xfrm>
            <a:off x="1143000" y="2286000"/>
            <a:ext cx="914400" cy="9525"/>
          </a:xfrm>
          <a:prstGeom prst="rect">
            <a:avLst/>
          </a:prstGeom>
          <a:solidFill>
            <a:srgbClr val="C9BFA8"/>
          </a:solidFill>
          <a:ln/>
        </p:spPr>
      </p:sp>
      <p:sp>
        <p:nvSpPr>
          <p:cNvPr id="5" name="Text 3"/>
          <p:cNvSpPr/>
          <p:nvPr/>
        </p:nvSpPr>
        <p:spPr>
          <a:xfrm>
            <a:off x="1143000" y="2674620"/>
            <a:ext cx="14716125" cy="704017"/>
          </a:xfrm>
          <a:prstGeom prst="rect">
            <a:avLst/>
          </a:prstGeom>
          <a:noFill/>
          <a:ln/>
        </p:spPr>
        <p:txBody>
          <a:bodyPr wrap="square" lIns="25400" tIns="25400" rIns="25400" bIns="25400" rtlCol="0" anchor="t">
            <a:normAutofit/>
          </a:bodyPr>
          <a:lstStyle/>
          <a:p>
            <a:pPr algn="l" indent="0" marL="0">
              <a:lnSpc>
                <a:spcPct val="108000"/>
              </a:lnSpc>
              <a:buNone/>
            </a:pPr>
            <a:r>
              <a:rPr lang="en-US" sz="4800" spc="-72" kern="0" dirty="0">
                <a:solidFill>
                  <a:srgbClr val="1A1A1A"/>
                </a:solidFill>
                <a:latin typeface="Arial" pitchFamily="34" charset="0"/>
                <a:ea typeface="Arial" pitchFamily="34" charset="-122"/>
                <a:cs typeface="Arial" pitchFamily="34" charset="-120"/>
              </a:rPr>
              <a:t>The </a:t>
            </a:r>
            <a:pPr algn="l" indent="0" marL="0">
              <a:lnSpc>
                <a:spcPct val="108000"/>
              </a:lnSpc>
              <a:buNone/>
            </a:pPr>
            <a:r>
              <a:rPr lang="en-US" sz="4800" i="1" spc="-72" kern="0" dirty="0">
                <a:solidFill>
                  <a:srgbClr val="1A1A1A"/>
                </a:solidFill>
                <a:latin typeface="Arial" pitchFamily="34" charset="0"/>
                <a:ea typeface="Arial" pitchFamily="34" charset="-122"/>
                <a:cs typeface="Arial" pitchFamily="34" charset="-120"/>
              </a:rPr>
              <a:t>shape </a:t>
            </a:r>
            <a:pPr algn="l" indent="0" marL="0">
              <a:lnSpc>
                <a:spcPct val="108000"/>
              </a:lnSpc>
              <a:buNone/>
            </a:pPr>
            <a:r>
              <a:rPr lang="en-US" sz="4800" spc="-72" kern="0" dirty="0">
                <a:solidFill>
                  <a:srgbClr val="1A1A1A"/>
                </a:solidFill>
                <a:latin typeface="Arial" pitchFamily="34" charset="0"/>
                <a:ea typeface="Arial" pitchFamily="34" charset="-122"/>
                <a:cs typeface="Arial" pitchFamily="34" charset="-120"/>
              </a:rPr>
              <a:t>of errors differs—not just the rate.</a:t>
            </a:r>
            <a:endParaRPr lang="en-US" sz="4800" dirty="0"/>
          </a:p>
        </p:txBody>
      </p:sp>
      <p:sp>
        <p:nvSpPr>
          <p:cNvPr id="6" name="Text 4"/>
          <p:cNvSpPr/>
          <p:nvPr/>
        </p:nvSpPr>
        <p:spPr>
          <a:xfrm>
            <a:off x="1143000" y="3797737"/>
            <a:ext cx="13735050" cy="501015"/>
          </a:xfrm>
          <a:prstGeom prst="rect">
            <a:avLst/>
          </a:prstGeom>
          <a:noFill/>
          <a:ln/>
        </p:spPr>
        <p:txBody>
          <a:bodyPr wrap="square" lIns="25400" tIns="25400" rIns="25400" bIns="25400" rtlCol="0" anchor="t">
            <a:normAutofit/>
          </a:bodyPr>
          <a:lstStyle/>
          <a:p>
            <a:pPr algn="l" indent="0" marL="0">
              <a:lnSpc>
                <a:spcPct val="135000"/>
              </a:lnSpc>
              <a:buNone/>
            </a:pPr>
            <a:r>
              <a:rPr lang="en-US" sz="2700" dirty="0">
                <a:solidFill>
                  <a:srgbClr val="3E3A33"/>
                </a:solidFill>
                <a:latin typeface="Arial" pitchFamily="34" charset="0"/>
                <a:ea typeface="Arial" pitchFamily="34" charset="-122"/>
                <a:cs typeface="Arial" pitchFamily="34" charset="-120"/>
              </a:rPr>
              <a:t>And it traces directly to how each tokenizer fragments rare words.</a:t>
            </a:r>
            <a:endParaRPr lang="en-US" sz="2700" dirty="0"/>
          </a:p>
        </p:txBody>
      </p:sp>
      <p:sp>
        <p:nvSpPr>
          <p:cNvPr id="7" name="Text 5"/>
          <p:cNvSpPr/>
          <p:nvPr/>
        </p:nvSpPr>
        <p:spPr>
          <a:xfrm>
            <a:off x="1143000" y="4908352"/>
            <a:ext cx="7887843"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2457A8"/>
                </a:solidFill>
                <a:latin typeface="Arial" pitchFamily="34" charset="0"/>
                <a:ea typeface="Arial" pitchFamily="34" charset="-122"/>
                <a:cs typeface="Arial" pitchFamily="34" charset="-120"/>
              </a:rPr>
              <a:t>GENERAL · CHAR-LEVEL DRIFT</a:t>
            </a:r>
            <a:endParaRPr lang="en-US" sz="1800" dirty="0"/>
          </a:p>
        </p:txBody>
      </p:sp>
      <p:sp>
        <p:nvSpPr>
          <p:cNvPr id="8" name="Shape 6"/>
          <p:cNvSpPr/>
          <p:nvPr/>
        </p:nvSpPr>
        <p:spPr>
          <a:xfrm>
            <a:off x="1143000" y="5556766"/>
            <a:ext cx="2801779" cy="464820"/>
          </a:xfrm>
          <a:prstGeom prst="roundRect">
            <a:avLst>
              <a:gd name="adj" fmla="val 8197"/>
            </a:avLst>
          </a:prstGeom>
          <a:solidFill>
            <a:srgbClr val="E3EAF5"/>
          </a:solidFill>
          <a:ln w="7620">
            <a:solidFill>
              <a:srgbClr val="2457A8">
                <a:alpha val="30000"/>
              </a:srgbClr>
            </a:solidFill>
            <a:prstDash val="solid"/>
          </a:ln>
        </p:spPr>
      </p:sp>
      <p:sp>
        <p:nvSpPr>
          <p:cNvPr id="9" name="Text 7"/>
          <p:cNvSpPr/>
          <p:nvPr/>
        </p:nvSpPr>
        <p:spPr>
          <a:xfrm>
            <a:off x="1264920" y="5621536"/>
            <a:ext cx="2641992" cy="373380"/>
          </a:xfrm>
          <a:prstGeom prst="rect">
            <a:avLst/>
          </a:prstGeom>
          <a:noFill/>
          <a:ln/>
        </p:spPr>
        <p:txBody>
          <a:bodyPr wrap="square" lIns="25400" tIns="25400" rIns="25400" bIns="25400" rtlCol="0" anchor="t">
            <a:normAutofit/>
          </a:bodyPr>
          <a:lstStyle/>
          <a:p>
            <a:pPr algn="l" indent="0" marL="0">
              <a:lnSpc>
                <a:spcPct val="110000"/>
              </a:lnSpc>
              <a:buNone/>
            </a:pPr>
            <a:r>
              <a:rPr lang="en-US" sz="2400" dirty="0">
                <a:solidFill>
                  <a:srgbClr val="173876"/>
                </a:solidFill>
                <a:latin typeface="Arial" pitchFamily="34" charset="0"/>
                <a:ea typeface="Arial" pitchFamily="34" charset="-122"/>
                <a:cs typeface="Arial" pitchFamily="34" charset="-120"/>
              </a:rPr>
              <a:t>cholesterolecystitis</a:t>
            </a:r>
            <a:endParaRPr lang="en-US" sz="2400" dirty="0"/>
          </a:p>
        </p:txBody>
      </p:sp>
      <p:sp>
        <p:nvSpPr>
          <p:cNvPr id="10" name="Shape 8"/>
          <p:cNvSpPr/>
          <p:nvPr/>
        </p:nvSpPr>
        <p:spPr>
          <a:xfrm>
            <a:off x="1143000" y="6135886"/>
            <a:ext cx="1904762" cy="464820"/>
          </a:xfrm>
          <a:prstGeom prst="roundRect">
            <a:avLst>
              <a:gd name="adj" fmla="val 8197"/>
            </a:avLst>
          </a:prstGeom>
          <a:solidFill>
            <a:srgbClr val="E3EAF5"/>
          </a:solidFill>
          <a:ln w="7620">
            <a:solidFill>
              <a:srgbClr val="2457A8">
                <a:alpha val="30000"/>
              </a:srgbClr>
            </a:solidFill>
            <a:prstDash val="solid"/>
          </a:ln>
        </p:spPr>
      </p:sp>
      <p:sp>
        <p:nvSpPr>
          <p:cNvPr id="11" name="Text 9"/>
          <p:cNvSpPr/>
          <p:nvPr/>
        </p:nvSpPr>
        <p:spPr>
          <a:xfrm>
            <a:off x="1264920" y="6200656"/>
            <a:ext cx="1737122" cy="373380"/>
          </a:xfrm>
          <a:prstGeom prst="rect">
            <a:avLst/>
          </a:prstGeom>
          <a:noFill/>
          <a:ln/>
        </p:spPr>
        <p:txBody>
          <a:bodyPr wrap="square" lIns="25400" tIns="25400" rIns="25400" bIns="25400" rtlCol="0" anchor="t">
            <a:normAutofit/>
          </a:bodyPr>
          <a:lstStyle/>
          <a:p>
            <a:pPr algn="l" indent="0" marL="0">
              <a:lnSpc>
                <a:spcPct val="110000"/>
              </a:lnSpc>
              <a:buNone/>
            </a:pPr>
            <a:r>
              <a:rPr lang="en-US" sz="2400" dirty="0">
                <a:solidFill>
                  <a:srgbClr val="173876"/>
                </a:solidFill>
                <a:latin typeface="Arial" pitchFamily="34" charset="0"/>
                <a:ea typeface="Arial" pitchFamily="34" charset="-122"/>
                <a:cs typeface="Arial" pitchFamily="34" charset="-120"/>
              </a:rPr>
              <a:t>udgulopathy</a:t>
            </a:r>
            <a:endParaRPr lang="en-US" sz="2400" dirty="0"/>
          </a:p>
        </p:txBody>
      </p:sp>
      <p:sp>
        <p:nvSpPr>
          <p:cNvPr id="12" name="Shape 10"/>
          <p:cNvSpPr/>
          <p:nvPr/>
        </p:nvSpPr>
        <p:spPr>
          <a:xfrm>
            <a:off x="1143000" y="6715006"/>
            <a:ext cx="3022640" cy="464820"/>
          </a:xfrm>
          <a:prstGeom prst="roundRect">
            <a:avLst>
              <a:gd name="adj" fmla="val 8197"/>
            </a:avLst>
          </a:prstGeom>
          <a:solidFill>
            <a:srgbClr val="E3EAF5"/>
          </a:solidFill>
          <a:ln w="7620">
            <a:solidFill>
              <a:srgbClr val="2457A8">
                <a:alpha val="30000"/>
              </a:srgbClr>
            </a:solidFill>
            <a:prstDash val="solid"/>
          </a:ln>
        </p:spPr>
      </p:sp>
      <p:sp>
        <p:nvSpPr>
          <p:cNvPr id="13" name="Text 11"/>
          <p:cNvSpPr/>
          <p:nvPr/>
        </p:nvSpPr>
        <p:spPr>
          <a:xfrm>
            <a:off x="1264920" y="6779776"/>
            <a:ext cx="2869479" cy="373380"/>
          </a:xfrm>
          <a:prstGeom prst="rect">
            <a:avLst/>
          </a:prstGeom>
          <a:noFill/>
          <a:ln/>
        </p:spPr>
        <p:txBody>
          <a:bodyPr wrap="square" lIns="25400" tIns="25400" rIns="25400" bIns="25400" rtlCol="0" anchor="t">
            <a:normAutofit/>
          </a:bodyPr>
          <a:lstStyle/>
          <a:p>
            <a:pPr algn="l" indent="0" marL="0">
              <a:lnSpc>
                <a:spcPct val="110000"/>
              </a:lnSpc>
              <a:buNone/>
            </a:pPr>
            <a:r>
              <a:rPr lang="en-US" sz="2400" dirty="0">
                <a:solidFill>
                  <a:srgbClr val="173876"/>
                </a:solidFill>
                <a:latin typeface="Arial" pitchFamily="34" charset="0"/>
                <a:ea typeface="Arial" pitchFamily="34" charset="-122"/>
                <a:cs typeface="Arial" pitchFamily="34" charset="-120"/>
              </a:rPr>
              <a:t>bronchiolitin stenting</a:t>
            </a:r>
            <a:endParaRPr lang="en-US" sz="2400" dirty="0"/>
          </a:p>
        </p:txBody>
      </p:sp>
      <p:sp>
        <p:nvSpPr>
          <p:cNvPr id="14" name="Shape 12"/>
          <p:cNvSpPr/>
          <p:nvPr/>
        </p:nvSpPr>
        <p:spPr>
          <a:xfrm>
            <a:off x="1143000" y="7294126"/>
            <a:ext cx="2175034" cy="464820"/>
          </a:xfrm>
          <a:prstGeom prst="roundRect">
            <a:avLst>
              <a:gd name="adj" fmla="val 8197"/>
            </a:avLst>
          </a:prstGeom>
          <a:solidFill>
            <a:srgbClr val="E3EAF5"/>
          </a:solidFill>
          <a:ln w="7620">
            <a:solidFill>
              <a:srgbClr val="2457A8">
                <a:alpha val="30000"/>
              </a:srgbClr>
            </a:solidFill>
            <a:prstDash val="solid"/>
          </a:ln>
        </p:spPr>
      </p:sp>
      <p:sp>
        <p:nvSpPr>
          <p:cNvPr id="15" name="Text 13"/>
          <p:cNvSpPr/>
          <p:nvPr/>
        </p:nvSpPr>
        <p:spPr>
          <a:xfrm>
            <a:off x="1264920" y="7358896"/>
            <a:ext cx="2007394" cy="373380"/>
          </a:xfrm>
          <a:prstGeom prst="rect">
            <a:avLst/>
          </a:prstGeom>
          <a:noFill/>
          <a:ln/>
        </p:spPr>
        <p:txBody>
          <a:bodyPr wrap="square" lIns="25400" tIns="25400" rIns="25400" bIns="25400" rtlCol="0" anchor="t">
            <a:normAutofit/>
          </a:bodyPr>
          <a:lstStyle/>
          <a:p>
            <a:pPr algn="l" indent="0" marL="0">
              <a:lnSpc>
                <a:spcPct val="110000"/>
              </a:lnSpc>
              <a:buNone/>
            </a:pPr>
            <a:r>
              <a:rPr lang="en-US" sz="2400" dirty="0">
                <a:solidFill>
                  <a:srgbClr val="173876"/>
                </a:solidFill>
                <a:latin typeface="Arial" pitchFamily="34" charset="0"/>
                <a:ea typeface="Arial" pitchFamily="34" charset="-122"/>
                <a:cs typeface="Arial" pitchFamily="34" charset="-120"/>
              </a:rPr>
              <a:t>emtourmesing</a:t>
            </a:r>
            <a:endParaRPr lang="en-US" sz="2400" dirty="0"/>
          </a:p>
        </p:txBody>
      </p:sp>
      <p:sp>
        <p:nvSpPr>
          <p:cNvPr id="16" name="Text 14"/>
          <p:cNvSpPr/>
          <p:nvPr/>
        </p:nvSpPr>
        <p:spPr>
          <a:xfrm>
            <a:off x="1143000" y="8082796"/>
            <a:ext cx="6278880" cy="103251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E3A33"/>
                </a:solidFill>
                <a:latin typeface="Arial" pitchFamily="34" charset="0"/>
                <a:ea typeface="Arial" pitchFamily="34" charset="-122"/>
                <a:cs typeface="Arial" pitchFamily="34" charset="-120"/>
              </a:rPr>
              <a:t>Because cholecystectomy is 6 tokens, swapping in one wrong subword mid-word produces a plausible-sounding fake.</a:t>
            </a:r>
            <a:endParaRPr lang="en-US" sz="1800" dirty="0"/>
          </a:p>
        </p:txBody>
      </p:sp>
      <p:sp>
        <p:nvSpPr>
          <p:cNvPr id="17" name="Text 15"/>
          <p:cNvSpPr/>
          <p:nvPr/>
        </p:nvSpPr>
        <p:spPr>
          <a:xfrm>
            <a:off x="9486900" y="4908352"/>
            <a:ext cx="7887843"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B6351D"/>
                </a:solidFill>
                <a:latin typeface="Arial" pitchFamily="34" charset="0"/>
                <a:ea typeface="Arial" pitchFamily="34" charset="-122"/>
                <a:cs typeface="Arial" pitchFamily="34" charset="-120"/>
              </a:rPr>
              <a:t>MEDICAL · MORPHEME PORTMANTEAUS</a:t>
            </a:r>
            <a:endParaRPr lang="en-US" sz="1800" dirty="0"/>
          </a:p>
        </p:txBody>
      </p:sp>
      <p:sp>
        <p:nvSpPr>
          <p:cNvPr id="18" name="Shape 16"/>
          <p:cNvSpPr/>
          <p:nvPr/>
        </p:nvSpPr>
        <p:spPr>
          <a:xfrm>
            <a:off x="9486900" y="5541526"/>
            <a:ext cx="3372326" cy="422910"/>
          </a:xfrm>
          <a:prstGeom prst="roundRect">
            <a:avLst>
              <a:gd name="adj" fmla="val 9009"/>
            </a:avLst>
          </a:prstGeom>
          <a:solidFill>
            <a:srgbClr val="F3DFD7"/>
          </a:solidFill>
          <a:ln w="7620">
            <a:solidFill>
              <a:srgbClr val="B6351D">
                <a:alpha val="30000"/>
              </a:srgbClr>
            </a:solidFill>
            <a:prstDash val="solid"/>
          </a:ln>
        </p:spPr>
      </p:sp>
      <p:sp>
        <p:nvSpPr>
          <p:cNvPr id="19" name="Text 17"/>
          <p:cNvSpPr/>
          <p:nvPr/>
        </p:nvSpPr>
        <p:spPr>
          <a:xfrm>
            <a:off x="9608820" y="5606296"/>
            <a:ext cx="3229656" cy="331470"/>
          </a:xfrm>
          <a:prstGeom prst="rect">
            <a:avLst/>
          </a:prstGeom>
          <a:noFill/>
          <a:ln/>
        </p:spPr>
        <p:txBody>
          <a:bodyPr wrap="square" lIns="25400" tIns="25400" rIns="25400" bIns="25400" rtlCol="0" anchor="t">
            <a:normAutofit/>
          </a:bodyPr>
          <a:lstStyle/>
          <a:p>
            <a:pPr algn="l" indent="0" marL="0">
              <a:lnSpc>
                <a:spcPct val="110000"/>
              </a:lnSpc>
              <a:buNone/>
            </a:pPr>
            <a:r>
              <a:rPr lang="en-US" sz="2100" dirty="0">
                <a:solidFill>
                  <a:srgbClr val="7A2212"/>
                </a:solidFill>
                <a:latin typeface="Arial" pitchFamily="34" charset="0"/>
                <a:ea typeface="Arial" pitchFamily="34" charset="-122"/>
                <a:cs typeface="Arial" pitchFamily="34" charset="-120"/>
              </a:rPr>
              <a:t>pancreaticoduodenectomy</a:t>
            </a:r>
            <a:endParaRPr lang="en-US" sz="2100" dirty="0"/>
          </a:p>
        </p:txBody>
      </p:sp>
      <p:sp>
        <p:nvSpPr>
          <p:cNvPr id="20" name="Shape 18"/>
          <p:cNvSpPr/>
          <p:nvPr/>
        </p:nvSpPr>
        <p:spPr>
          <a:xfrm>
            <a:off x="9486900" y="6048256"/>
            <a:ext cx="3312557" cy="422910"/>
          </a:xfrm>
          <a:prstGeom prst="roundRect">
            <a:avLst>
              <a:gd name="adj" fmla="val 9009"/>
            </a:avLst>
          </a:prstGeom>
          <a:solidFill>
            <a:srgbClr val="F3DFD7"/>
          </a:solidFill>
          <a:ln w="7620">
            <a:solidFill>
              <a:srgbClr val="B6351D">
                <a:alpha val="30000"/>
              </a:srgbClr>
            </a:solidFill>
            <a:prstDash val="solid"/>
          </a:ln>
        </p:spPr>
      </p:sp>
      <p:sp>
        <p:nvSpPr>
          <p:cNvPr id="21" name="Text 19"/>
          <p:cNvSpPr/>
          <p:nvPr/>
        </p:nvSpPr>
        <p:spPr>
          <a:xfrm>
            <a:off x="9608820" y="6113026"/>
            <a:ext cx="3168094" cy="331470"/>
          </a:xfrm>
          <a:prstGeom prst="rect">
            <a:avLst/>
          </a:prstGeom>
          <a:noFill/>
          <a:ln/>
        </p:spPr>
        <p:txBody>
          <a:bodyPr wrap="square" lIns="25400" tIns="25400" rIns="25400" bIns="25400" rtlCol="0" anchor="t">
            <a:normAutofit/>
          </a:bodyPr>
          <a:lstStyle/>
          <a:p>
            <a:pPr algn="l" indent="0" marL="0">
              <a:lnSpc>
                <a:spcPct val="110000"/>
              </a:lnSpc>
              <a:buNone/>
            </a:pPr>
            <a:r>
              <a:rPr lang="en-US" sz="2100" dirty="0">
                <a:solidFill>
                  <a:srgbClr val="7A2212"/>
                </a:solidFill>
                <a:latin typeface="Arial" pitchFamily="34" charset="0"/>
                <a:ea typeface="Arial" pitchFamily="34" charset="-122"/>
                <a:cs typeface="Arial" pitchFamily="34" charset="-120"/>
              </a:rPr>
              <a:t>extraperitoneal lymphoma</a:t>
            </a:r>
            <a:endParaRPr lang="en-US" sz="2100" dirty="0"/>
          </a:p>
        </p:txBody>
      </p:sp>
      <p:sp>
        <p:nvSpPr>
          <p:cNvPr id="22" name="Shape 20"/>
          <p:cNvSpPr/>
          <p:nvPr/>
        </p:nvSpPr>
        <p:spPr>
          <a:xfrm>
            <a:off x="9486900" y="6554986"/>
            <a:ext cx="2852857" cy="422910"/>
          </a:xfrm>
          <a:prstGeom prst="roundRect">
            <a:avLst>
              <a:gd name="adj" fmla="val 9009"/>
            </a:avLst>
          </a:prstGeom>
          <a:solidFill>
            <a:srgbClr val="F3DFD7"/>
          </a:solidFill>
          <a:ln w="7620">
            <a:solidFill>
              <a:srgbClr val="B6351D">
                <a:alpha val="30000"/>
              </a:srgbClr>
            </a:solidFill>
            <a:prstDash val="solid"/>
          </a:ln>
        </p:spPr>
      </p:sp>
      <p:sp>
        <p:nvSpPr>
          <p:cNvPr id="23" name="Text 21"/>
          <p:cNvSpPr/>
          <p:nvPr/>
        </p:nvSpPr>
        <p:spPr>
          <a:xfrm>
            <a:off x="9608820" y="6619756"/>
            <a:ext cx="2694602" cy="331470"/>
          </a:xfrm>
          <a:prstGeom prst="rect">
            <a:avLst/>
          </a:prstGeom>
          <a:noFill/>
          <a:ln/>
        </p:spPr>
        <p:txBody>
          <a:bodyPr wrap="square" lIns="25400" tIns="25400" rIns="25400" bIns="25400" rtlCol="0" anchor="t">
            <a:normAutofit/>
          </a:bodyPr>
          <a:lstStyle/>
          <a:p>
            <a:pPr algn="l" indent="0" marL="0">
              <a:lnSpc>
                <a:spcPct val="110000"/>
              </a:lnSpc>
              <a:buNone/>
            </a:pPr>
            <a:r>
              <a:rPr lang="en-US" sz="2100" dirty="0">
                <a:solidFill>
                  <a:srgbClr val="7A2212"/>
                </a:solidFill>
                <a:latin typeface="Arial" pitchFamily="34" charset="0"/>
                <a:ea typeface="Arial" pitchFamily="34" charset="-122"/>
                <a:cs typeface="Arial" pitchFamily="34" charset="-120"/>
              </a:rPr>
              <a:t>thoracoscopic surgery</a:t>
            </a:r>
            <a:endParaRPr lang="en-US" sz="2100" dirty="0"/>
          </a:p>
        </p:txBody>
      </p:sp>
      <p:sp>
        <p:nvSpPr>
          <p:cNvPr id="24" name="Shape 22"/>
          <p:cNvSpPr/>
          <p:nvPr/>
        </p:nvSpPr>
        <p:spPr>
          <a:xfrm>
            <a:off x="9486900" y="7054096"/>
            <a:ext cx="3074908" cy="426720"/>
          </a:xfrm>
          <a:prstGeom prst="roundRect">
            <a:avLst>
              <a:gd name="adj" fmla="val 8929"/>
            </a:avLst>
          </a:prstGeom>
          <a:solidFill>
            <a:srgbClr val="F3DFD7"/>
          </a:solidFill>
          <a:ln w="7620">
            <a:solidFill>
              <a:srgbClr val="B6351D">
                <a:alpha val="50000"/>
              </a:srgbClr>
            </a:solidFill>
            <a:prstDash val="dash"/>
          </a:ln>
        </p:spPr>
      </p:sp>
      <p:sp>
        <p:nvSpPr>
          <p:cNvPr id="25" name="Text 23"/>
          <p:cNvSpPr/>
          <p:nvPr/>
        </p:nvSpPr>
        <p:spPr>
          <a:xfrm>
            <a:off x="9608820" y="7118866"/>
            <a:ext cx="2923315" cy="335280"/>
          </a:xfrm>
          <a:prstGeom prst="rect">
            <a:avLst/>
          </a:prstGeom>
          <a:noFill/>
          <a:ln/>
        </p:spPr>
        <p:txBody>
          <a:bodyPr wrap="square" lIns="25400" tIns="25400" rIns="25400" bIns="25400" rtlCol="0" anchor="t">
            <a:normAutofit/>
          </a:bodyPr>
          <a:lstStyle/>
          <a:p>
            <a:pPr algn="l" indent="0" marL="0">
              <a:lnSpc>
                <a:spcPct val="190000"/>
              </a:lnSpc>
              <a:buNone/>
            </a:pPr>
            <a:r>
              <a:rPr lang="en-US" sz="2100" dirty="0">
                <a:solidFill>
                  <a:srgbClr val="7A2212"/>
                </a:solidFill>
                <a:latin typeface="Arial" pitchFamily="34" charset="0"/>
                <a:ea typeface="Arial" pitchFamily="34" charset="-122"/>
                <a:cs typeface="Arial" pitchFamily="34" charset="-120"/>
              </a:rPr>
              <a:t>cholecystostomyectomy</a:t>
            </a:r>
            <a:endParaRPr lang="en-US" sz="2100" dirty="0"/>
          </a:p>
        </p:txBody>
      </p:sp>
      <p:sp>
        <p:nvSpPr>
          <p:cNvPr id="26" name="Text 24"/>
          <p:cNvSpPr/>
          <p:nvPr/>
        </p:nvSpPr>
        <p:spPr>
          <a:xfrm>
            <a:off x="9486900" y="7793236"/>
            <a:ext cx="6278880" cy="70104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E3A33"/>
                </a:solidFill>
                <a:latin typeface="Arial" pitchFamily="34" charset="0"/>
                <a:ea typeface="Arial" pitchFamily="34" charset="-122"/>
                <a:cs typeface="Arial" pitchFamily="34" charset="-120"/>
              </a:rPr>
              <a:t>Real multi-syllabic terms, one token each. Still fabricates—but by </a:t>
            </a:r>
            <a:pPr algn="l" indent="0" marL="0">
              <a:lnSpc>
                <a:spcPct val="145000"/>
              </a:lnSpc>
              <a:buNone/>
            </a:pPr>
            <a:r>
              <a:rPr lang="en-US" sz="1800" i="1" dirty="0">
                <a:solidFill>
                  <a:srgbClr val="3E3A33"/>
                </a:solidFill>
                <a:latin typeface="Arial" pitchFamily="34" charset="0"/>
                <a:ea typeface="Arial" pitchFamily="34" charset="-122"/>
                <a:cs typeface="Arial" pitchFamily="34" charset="-120"/>
              </a:rPr>
              <a:t>concatenating real morphemes</a:t>
            </a:r>
            <a:pPr algn="l" indent="0" marL="0">
              <a:lnSpc>
                <a:spcPct val="145000"/>
              </a:lnSpc>
              <a:buNone/>
            </a:pPr>
            <a:r>
              <a:rPr lang="en-US" sz="1800" dirty="0">
                <a:solidFill>
                  <a:srgbClr val="3E3A33"/>
                </a:solidFill>
                <a:latin typeface="Arial" pitchFamily="34" charset="0"/>
                <a:ea typeface="Arial" pitchFamily="34" charset="-122"/>
                <a:cs typeface="Arial" pitchFamily="34" charset="-120"/>
              </a:rPr>
              <a:t>, never by char-drift.</a:t>
            </a:r>
            <a:endParaRPr lang="en-US" sz="1800" dirty="0"/>
          </a:p>
        </p:txBody>
      </p:sp>
      <p:sp>
        <p:nvSpPr>
          <p:cNvPr id="27" name="Shape 25"/>
          <p:cNvSpPr/>
          <p:nvPr/>
        </p:nvSpPr>
        <p:spPr>
          <a:xfrm>
            <a:off x="1143000" y="9534406"/>
            <a:ext cx="14897100" cy="9525"/>
          </a:xfrm>
          <a:prstGeom prst="rect">
            <a:avLst/>
          </a:prstGeom>
          <a:solidFill>
            <a:srgbClr val="C9BFA8"/>
          </a:solidFill>
          <a:ln/>
        </p:spPr>
      </p:sp>
      <p:sp>
        <p:nvSpPr>
          <p:cNvPr id="28" name="Text 26"/>
          <p:cNvSpPr/>
          <p:nvPr/>
        </p:nvSpPr>
        <p:spPr>
          <a:xfrm>
            <a:off x="1447800" y="9675376"/>
            <a:ext cx="14734413" cy="331470"/>
          </a:xfrm>
          <a:prstGeom prst="rect">
            <a:avLst/>
          </a:prstGeom>
          <a:noFill/>
          <a:ln/>
        </p:spPr>
        <p:txBody>
          <a:bodyPr wrap="square" lIns="25400" tIns="25400" rIns="25400" bIns="25400" rtlCol="0" anchor="t">
            <a:normAutofit/>
          </a:bodyPr>
          <a:lstStyle/>
          <a:p>
            <a:pPr algn="l" indent="0" marL="0">
              <a:lnSpc>
                <a:spcPct val="140000"/>
              </a:lnSpc>
              <a:buNone/>
            </a:pPr>
            <a:r>
              <a:rPr lang="en-US" sz="1650" i="1" dirty="0">
                <a:solidFill>
                  <a:srgbClr val="1A1A1A"/>
                </a:solidFill>
                <a:latin typeface="Arial" pitchFamily="34" charset="0"/>
                <a:ea typeface="Arial" pitchFamily="34" charset="-122"/>
                <a:cs typeface="Arial" pitchFamily="34" charset="-120"/>
              </a:rPr>
              <a:t>Different failure shapes, not just different error rates. Hallucination analysis should be tokenizer-conditioned. </a:t>
            </a:r>
            <a:pPr algn="l" indent="0" marL="0">
              <a:lnSpc>
                <a:spcPct val="140000"/>
              </a:lnSpc>
              <a:buNone/>
            </a:pPr>
            <a:r>
              <a:rPr lang="en-US" sz="1425" dirty="0">
                <a:solidFill>
                  <a:srgbClr val="8A8375"/>
                </a:solidFill>
                <a:latin typeface="Arial" pitchFamily="34" charset="0"/>
                <a:ea typeface="Arial" pitchFamily="34" charset="-122"/>
                <a:cs typeface="Arial" pitchFamily="34" charset="-120"/>
              </a:rPr>
              <a:t>(general &amp; medical only this round.)</a:t>
            </a:r>
            <a:endParaRPr lang="en-US" sz="1650" dirty="0"/>
          </a:p>
        </p:txBody>
      </p:sp>
      <p:sp>
        <p:nvSpPr>
          <p:cNvPr id="29" name="Text 27"/>
          <p:cNvSpPr/>
          <p:nvPr/>
        </p:nvSpPr>
        <p:spPr>
          <a:xfrm>
            <a:off x="16588860" y="9429036"/>
            <a:ext cx="63234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144" kern="0" dirty="0">
                <a:solidFill>
                  <a:srgbClr val="8A8375"/>
                </a:solidFill>
                <a:latin typeface="Arial" pitchFamily="34" charset="0"/>
                <a:ea typeface="Arial" pitchFamily="34" charset="-122"/>
                <a:cs typeface="Arial" pitchFamily="34" charset="-120"/>
              </a:rPr>
              <a:t>S·13</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1143000" y="533400"/>
            <a:ext cx="301925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 05 · CONCLUSIONS</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14 </a:t>
            </a:r>
            <a:pPr algn="l" indent="0" marL="0">
              <a:lnSpc>
                <a:spcPct val="142000"/>
              </a:lnSpc>
              <a:buNone/>
            </a:pPr>
            <a:r>
              <a:rPr lang="en-US" sz="1800" spc="252" kern="0" dirty="0">
                <a:solidFill>
                  <a:srgbClr val="C9BFA8"/>
                </a:solidFill>
                <a:latin typeface="Arial" pitchFamily="34" charset="0"/>
                <a:ea typeface="Arial" pitchFamily="34" charset="-122"/>
                <a:cs typeface="Arial" pitchFamily="34" charset="-120"/>
              </a:rPr>
              <a:t>/ 15</a:t>
            </a:r>
            <a:endParaRPr lang="en-US" sz="1800" dirty="0"/>
          </a:p>
        </p:txBody>
      </p:sp>
      <p:sp>
        <p:nvSpPr>
          <p:cNvPr id="4" name="Shape 2"/>
          <p:cNvSpPr/>
          <p:nvPr/>
        </p:nvSpPr>
        <p:spPr>
          <a:xfrm>
            <a:off x="1143000" y="2286000"/>
            <a:ext cx="914400" cy="9525"/>
          </a:xfrm>
          <a:prstGeom prst="rect">
            <a:avLst/>
          </a:prstGeom>
          <a:solidFill>
            <a:srgbClr val="C9BFA8"/>
          </a:solidFill>
          <a:ln/>
        </p:spPr>
      </p:sp>
      <p:sp>
        <p:nvSpPr>
          <p:cNvPr id="5" name="Text 3"/>
          <p:cNvSpPr/>
          <p:nvPr/>
        </p:nvSpPr>
        <p:spPr>
          <a:xfrm>
            <a:off x="1143000" y="2674620"/>
            <a:ext cx="14716125" cy="696397"/>
          </a:xfrm>
          <a:prstGeom prst="rect">
            <a:avLst/>
          </a:prstGeom>
          <a:noFill/>
          <a:ln/>
        </p:spPr>
        <p:txBody>
          <a:bodyPr wrap="square" lIns="25400" tIns="25400" rIns="25400" bIns="25400" rtlCol="0" anchor="t">
            <a:normAutofit/>
          </a:bodyPr>
          <a:lstStyle/>
          <a:p>
            <a:pPr algn="l" indent="0" marL="0">
              <a:lnSpc>
                <a:spcPct val="108000"/>
              </a:lnSpc>
              <a:buNone/>
            </a:pPr>
            <a:r>
              <a:rPr lang="en-US" sz="4800" spc="-72" kern="0" dirty="0">
                <a:solidFill>
                  <a:srgbClr val="1A1A1A"/>
                </a:solidFill>
                <a:latin typeface="Arial" pitchFamily="34" charset="0"/>
                <a:ea typeface="Arial" pitchFamily="34" charset="-122"/>
                <a:cs typeface="Arial" pitchFamily="34" charset="-120"/>
              </a:rPr>
              <a:t>Three findings, in order of effect size.</a:t>
            </a:r>
            <a:endParaRPr lang="en-US" sz="4800" dirty="0"/>
          </a:p>
        </p:txBody>
      </p:sp>
      <p:sp>
        <p:nvSpPr>
          <p:cNvPr id="6" name="Text 4"/>
          <p:cNvSpPr/>
          <p:nvPr/>
        </p:nvSpPr>
        <p:spPr>
          <a:xfrm>
            <a:off x="2000250" y="3790117"/>
            <a:ext cx="1219200" cy="914400"/>
          </a:xfrm>
          <a:prstGeom prst="rect">
            <a:avLst/>
          </a:prstGeom>
          <a:noFill/>
          <a:ln/>
        </p:spPr>
        <p:txBody>
          <a:bodyPr wrap="square" lIns="25400" tIns="25400" rIns="25400" bIns="25400" rtlCol="0" anchor="t">
            <a:normAutofit/>
          </a:bodyPr>
          <a:lstStyle/>
          <a:p>
            <a:pPr algn="l" indent="0" marL="0">
              <a:lnSpc>
                <a:spcPct val="100000"/>
              </a:lnSpc>
              <a:buNone/>
            </a:pPr>
            <a:r>
              <a:rPr lang="en-US" sz="6900" dirty="0">
                <a:solidFill>
                  <a:srgbClr val="8A8375"/>
                </a:solidFill>
                <a:latin typeface="Arial" pitchFamily="34" charset="0"/>
                <a:ea typeface="Arial" pitchFamily="34" charset="-122"/>
                <a:cs typeface="Arial" pitchFamily="34" charset="-120"/>
              </a:rPr>
              <a:t>01</a:t>
            </a:r>
            <a:endParaRPr lang="en-US" sz="6900" dirty="0"/>
          </a:p>
        </p:txBody>
      </p:sp>
      <p:sp>
        <p:nvSpPr>
          <p:cNvPr id="7" name="Text 5"/>
          <p:cNvSpPr/>
          <p:nvPr/>
        </p:nvSpPr>
        <p:spPr>
          <a:xfrm>
            <a:off x="3524250" y="4178737"/>
            <a:ext cx="11363792" cy="483870"/>
          </a:xfrm>
          <a:prstGeom prst="rect">
            <a:avLst/>
          </a:prstGeom>
          <a:noFill/>
          <a:ln/>
        </p:spPr>
        <p:txBody>
          <a:bodyPr wrap="square" lIns="25400" tIns="25400" rIns="25400" bIns="25400" rtlCol="0" anchor="t">
            <a:normAutofit/>
          </a:bodyPr>
          <a:lstStyle/>
          <a:p>
            <a:pPr algn="l" indent="0" marL="0">
              <a:lnSpc>
                <a:spcPct val="115000"/>
              </a:lnSpc>
              <a:buNone/>
            </a:pPr>
            <a:r>
              <a:rPr lang="en-US" sz="3000" dirty="0">
                <a:solidFill>
                  <a:srgbClr val="1A1A1A"/>
                </a:solidFill>
                <a:latin typeface="Arial" pitchFamily="34" charset="0"/>
                <a:ea typeface="Arial" pitchFamily="34" charset="-122"/>
                <a:cs typeface="Arial" pitchFamily="34" charset="-120"/>
              </a:rPr>
              <a:t>Register-matched tokenization can be a </a:t>
            </a:r>
            <a:pPr algn="l" indent="0" marL="0">
              <a:lnSpc>
                <a:spcPct val="115000"/>
              </a:lnSpc>
              <a:buNone/>
            </a:pPr>
            <a:r>
              <a:rPr lang="en-US" sz="3000" i="1" dirty="0">
                <a:solidFill>
                  <a:srgbClr val="1A1A1A"/>
                </a:solidFill>
                <a:latin typeface="Arial" pitchFamily="34" charset="0"/>
                <a:ea typeface="Arial" pitchFamily="34" charset="-122"/>
                <a:cs typeface="Arial" pitchFamily="34" charset="-120"/>
              </a:rPr>
              <a:t>large </a:t>
            </a:r>
            <a:pPr algn="l" indent="0" marL="0">
              <a:lnSpc>
                <a:spcPct val="115000"/>
              </a:lnSpc>
              <a:buNone/>
            </a:pPr>
            <a:r>
              <a:rPr lang="en-US" sz="3000" dirty="0">
                <a:solidFill>
                  <a:srgbClr val="1A1A1A"/>
                </a:solidFill>
                <a:latin typeface="Arial" pitchFamily="34" charset="0"/>
                <a:ea typeface="Arial" pitchFamily="34" charset="-122"/>
                <a:cs typeface="Arial" pitchFamily="34" charset="-120"/>
              </a:rPr>
              <a:t>effect.</a:t>
            </a:r>
            <a:endParaRPr lang="en-US" sz="3000" dirty="0"/>
          </a:p>
        </p:txBody>
      </p:sp>
      <p:sp>
        <p:nvSpPr>
          <p:cNvPr id="8" name="Text 6"/>
          <p:cNvSpPr/>
          <p:nvPr/>
        </p:nvSpPr>
        <p:spPr>
          <a:xfrm>
            <a:off x="3524250" y="4700707"/>
            <a:ext cx="11363792"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8A8375"/>
                </a:solidFill>
                <a:latin typeface="Arial" pitchFamily="34" charset="0"/>
                <a:ea typeface="Arial" pitchFamily="34" charset="-122"/>
                <a:cs typeface="Arial" pitchFamily="34" charset="-120"/>
              </a:rPr>
              <a:t>MTSamples-tok beats general by 0.78 BPC on MTSamples (n=3, 95% CI [0.73, 0.83], p=0.0002). The biggest tokenizer-driven number we measured.</a:t>
            </a:r>
            <a:endParaRPr lang="en-US" sz="1800" dirty="0"/>
          </a:p>
        </p:txBody>
      </p:sp>
      <p:sp>
        <p:nvSpPr>
          <p:cNvPr id="9" name="Text 7"/>
          <p:cNvSpPr/>
          <p:nvPr/>
        </p:nvSpPr>
        <p:spPr>
          <a:xfrm>
            <a:off x="14938058" y="4079677"/>
            <a:ext cx="1425892"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dirty="0">
                <a:solidFill>
                  <a:srgbClr val="C28B1F"/>
                </a:solidFill>
                <a:latin typeface="Arial" pitchFamily="34" charset="0"/>
                <a:ea typeface="Arial" pitchFamily="34" charset="-122"/>
                <a:cs typeface="Arial" pitchFamily="34" charset="-120"/>
              </a:rPr>
              <a:t>−0.78</a:t>
            </a:r>
            <a:endParaRPr lang="en-US" sz="4200" dirty="0"/>
          </a:p>
        </p:txBody>
      </p:sp>
      <p:sp>
        <p:nvSpPr>
          <p:cNvPr id="10" name="Text 8"/>
          <p:cNvSpPr/>
          <p:nvPr/>
        </p:nvSpPr>
        <p:spPr>
          <a:xfrm>
            <a:off x="2000250" y="5843707"/>
            <a:ext cx="1219200" cy="914400"/>
          </a:xfrm>
          <a:prstGeom prst="rect">
            <a:avLst/>
          </a:prstGeom>
          <a:noFill/>
          <a:ln/>
        </p:spPr>
        <p:txBody>
          <a:bodyPr wrap="square" lIns="25400" tIns="25400" rIns="25400" bIns="25400" rtlCol="0" anchor="t">
            <a:normAutofit/>
          </a:bodyPr>
          <a:lstStyle/>
          <a:p>
            <a:pPr algn="l" indent="0" marL="0">
              <a:lnSpc>
                <a:spcPct val="100000"/>
              </a:lnSpc>
              <a:buNone/>
            </a:pPr>
            <a:r>
              <a:rPr lang="en-US" sz="6900" dirty="0">
                <a:solidFill>
                  <a:srgbClr val="8A8375"/>
                </a:solidFill>
                <a:latin typeface="Arial" pitchFamily="34" charset="0"/>
                <a:ea typeface="Arial" pitchFamily="34" charset="-122"/>
                <a:cs typeface="Arial" pitchFamily="34" charset="-120"/>
              </a:rPr>
              <a:t>02</a:t>
            </a:r>
            <a:endParaRPr lang="en-US" sz="6900" dirty="0"/>
          </a:p>
        </p:txBody>
      </p:sp>
      <p:sp>
        <p:nvSpPr>
          <p:cNvPr id="11" name="Text 9"/>
          <p:cNvSpPr/>
          <p:nvPr/>
        </p:nvSpPr>
        <p:spPr>
          <a:xfrm>
            <a:off x="3524250" y="6232327"/>
            <a:ext cx="11058187" cy="483870"/>
          </a:xfrm>
          <a:prstGeom prst="rect">
            <a:avLst/>
          </a:prstGeom>
          <a:noFill/>
          <a:ln/>
        </p:spPr>
        <p:txBody>
          <a:bodyPr wrap="square" lIns="25400" tIns="25400" rIns="25400" bIns="25400" rtlCol="0" anchor="t">
            <a:normAutofit/>
          </a:bodyPr>
          <a:lstStyle/>
          <a:p>
            <a:pPr algn="l" indent="0" marL="0">
              <a:lnSpc>
                <a:spcPct val="115000"/>
              </a:lnSpc>
              <a:buNone/>
            </a:pPr>
            <a:r>
              <a:rPr lang="en-US" sz="3000" dirty="0">
                <a:solidFill>
                  <a:srgbClr val="1A1A1A"/>
                </a:solidFill>
                <a:latin typeface="Arial" pitchFamily="34" charset="0"/>
                <a:ea typeface="Arial" pitchFamily="34" charset="-122"/>
                <a:cs typeface="Arial" pitchFamily="34" charset="-120"/>
              </a:rPr>
              <a:t>The PubMed in-domain effect is </a:t>
            </a:r>
            <a:pPr algn="l" indent="0" marL="0">
              <a:lnSpc>
                <a:spcPct val="115000"/>
              </a:lnSpc>
              <a:buNone/>
            </a:pPr>
            <a:r>
              <a:rPr lang="en-US" sz="3000" i="1" dirty="0">
                <a:solidFill>
                  <a:srgbClr val="1A1A1A"/>
                </a:solidFill>
                <a:latin typeface="Arial" pitchFamily="34" charset="0"/>
                <a:ea typeface="Arial" pitchFamily="34" charset="-122"/>
                <a:cs typeface="Arial" pitchFamily="34" charset="-120"/>
              </a:rPr>
              <a:t>real but small</a:t>
            </a:r>
            <a:pPr algn="l" indent="0" marL="0">
              <a:lnSpc>
                <a:spcPct val="115000"/>
              </a:lnSpc>
              <a:buNone/>
            </a:pPr>
            <a:r>
              <a:rPr lang="en-US" sz="3000" dirty="0">
                <a:solidFill>
                  <a:srgbClr val="1A1A1A"/>
                </a:solidFill>
                <a:latin typeface="Arial" pitchFamily="34" charset="0"/>
                <a:ea typeface="Arial" pitchFamily="34" charset="-122"/>
                <a:cs typeface="Arial" pitchFamily="34" charset="-120"/>
              </a:rPr>
              <a:t>.</a:t>
            </a:r>
            <a:endParaRPr lang="en-US" sz="3000" dirty="0"/>
          </a:p>
        </p:txBody>
      </p:sp>
      <p:sp>
        <p:nvSpPr>
          <p:cNvPr id="12" name="Text 10"/>
          <p:cNvSpPr/>
          <p:nvPr/>
        </p:nvSpPr>
        <p:spPr>
          <a:xfrm>
            <a:off x="3524250" y="6754296"/>
            <a:ext cx="11058187"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8A8375"/>
                </a:solidFill>
                <a:latin typeface="Arial" pitchFamily="34" charset="0"/>
                <a:ea typeface="Arial" pitchFamily="34" charset="-122"/>
                <a:cs typeface="Arial" pitchFamily="34" charset="-120"/>
              </a:rPr>
              <a:t>Medical wins PubMed by 0.010 BPC (n=5, 95% CI [0.006, 0.013], p=0.002, d=+3.15). Statistically robust, ~80× smaller than the register effect.</a:t>
            </a:r>
            <a:endParaRPr lang="en-US" sz="1800" dirty="0"/>
          </a:p>
        </p:txBody>
      </p:sp>
      <p:sp>
        <p:nvSpPr>
          <p:cNvPr id="13" name="Text 11"/>
          <p:cNvSpPr/>
          <p:nvPr/>
        </p:nvSpPr>
        <p:spPr>
          <a:xfrm>
            <a:off x="14641354" y="6133267"/>
            <a:ext cx="1722596"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dirty="0">
                <a:solidFill>
                  <a:srgbClr val="B6351D"/>
                </a:solidFill>
                <a:latin typeface="Arial" pitchFamily="34" charset="0"/>
                <a:ea typeface="Arial" pitchFamily="34" charset="-122"/>
                <a:cs typeface="Arial" pitchFamily="34" charset="-120"/>
              </a:rPr>
              <a:t>−0.010</a:t>
            </a:r>
            <a:endParaRPr lang="en-US" sz="4200" dirty="0"/>
          </a:p>
        </p:txBody>
      </p:sp>
      <p:sp>
        <p:nvSpPr>
          <p:cNvPr id="14" name="Text 12"/>
          <p:cNvSpPr/>
          <p:nvPr/>
        </p:nvSpPr>
        <p:spPr>
          <a:xfrm>
            <a:off x="2000250" y="7897296"/>
            <a:ext cx="1219200" cy="914400"/>
          </a:xfrm>
          <a:prstGeom prst="rect">
            <a:avLst/>
          </a:prstGeom>
          <a:noFill/>
          <a:ln/>
        </p:spPr>
        <p:txBody>
          <a:bodyPr wrap="square" lIns="25400" tIns="25400" rIns="25400" bIns="25400" rtlCol="0" anchor="t">
            <a:normAutofit/>
          </a:bodyPr>
          <a:lstStyle/>
          <a:p>
            <a:pPr algn="l" indent="0" marL="0">
              <a:lnSpc>
                <a:spcPct val="100000"/>
              </a:lnSpc>
              <a:buNone/>
            </a:pPr>
            <a:r>
              <a:rPr lang="en-US" sz="6900" dirty="0">
                <a:solidFill>
                  <a:srgbClr val="8A8375"/>
                </a:solidFill>
                <a:latin typeface="Arial" pitchFamily="34" charset="0"/>
                <a:ea typeface="Arial" pitchFamily="34" charset="-122"/>
                <a:cs typeface="Arial" pitchFamily="34" charset="-120"/>
              </a:rPr>
              <a:t>03</a:t>
            </a:r>
            <a:endParaRPr lang="en-US" sz="6900" dirty="0"/>
          </a:p>
        </p:txBody>
      </p:sp>
      <p:sp>
        <p:nvSpPr>
          <p:cNvPr id="15" name="Text 13"/>
          <p:cNvSpPr/>
          <p:nvPr/>
        </p:nvSpPr>
        <p:spPr>
          <a:xfrm>
            <a:off x="3524250" y="8285917"/>
            <a:ext cx="10961797" cy="483870"/>
          </a:xfrm>
          <a:prstGeom prst="rect">
            <a:avLst/>
          </a:prstGeom>
          <a:noFill/>
          <a:ln/>
        </p:spPr>
        <p:txBody>
          <a:bodyPr wrap="square" lIns="25400" tIns="25400" rIns="25400" bIns="25400" rtlCol="0" anchor="t">
            <a:normAutofit/>
          </a:bodyPr>
          <a:lstStyle/>
          <a:p>
            <a:pPr algn="l" indent="0" marL="0">
              <a:lnSpc>
                <a:spcPct val="115000"/>
              </a:lnSpc>
              <a:buNone/>
            </a:pPr>
            <a:r>
              <a:rPr lang="en-US" sz="3000" dirty="0">
                <a:solidFill>
                  <a:srgbClr val="1A1A1A"/>
                </a:solidFill>
                <a:latin typeface="Arial" pitchFamily="34" charset="0"/>
                <a:ea typeface="Arial" pitchFamily="34" charset="-122"/>
                <a:cs typeface="Arial" pitchFamily="34" charset="-120"/>
              </a:rPr>
              <a:t>Out-of-domain costs are </a:t>
            </a:r>
            <a:pPr algn="l" indent="0" marL="0">
              <a:lnSpc>
                <a:spcPct val="115000"/>
              </a:lnSpc>
              <a:buNone/>
            </a:pPr>
            <a:r>
              <a:rPr lang="en-US" sz="3000" i="1" dirty="0">
                <a:solidFill>
                  <a:srgbClr val="1A1A1A"/>
                </a:solidFill>
                <a:latin typeface="Arial" pitchFamily="34" charset="0"/>
                <a:ea typeface="Arial" pitchFamily="34" charset="-122"/>
                <a:cs typeface="Arial" pitchFamily="34" charset="-120"/>
              </a:rPr>
              <a:t>asymmetric</a:t>
            </a:r>
            <a:pPr algn="l" indent="0" marL="0">
              <a:lnSpc>
                <a:spcPct val="115000"/>
              </a:lnSpc>
              <a:buNone/>
            </a:pPr>
            <a:r>
              <a:rPr lang="en-US" sz="3000" dirty="0">
                <a:solidFill>
                  <a:srgbClr val="1A1A1A"/>
                </a:solidFill>
                <a:latin typeface="Arial" pitchFamily="34" charset="0"/>
                <a:ea typeface="Arial" pitchFamily="34" charset="-122"/>
                <a:cs typeface="Arial" pitchFamily="34" charset="-120"/>
              </a:rPr>
              <a:t>.</a:t>
            </a:r>
            <a:endParaRPr lang="en-US" sz="3000" dirty="0"/>
          </a:p>
        </p:txBody>
      </p:sp>
      <p:sp>
        <p:nvSpPr>
          <p:cNvPr id="16" name="Text 14"/>
          <p:cNvSpPr/>
          <p:nvPr/>
        </p:nvSpPr>
        <p:spPr>
          <a:xfrm>
            <a:off x="3524250" y="8807887"/>
            <a:ext cx="10961797"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8A8375"/>
                </a:solidFill>
                <a:latin typeface="Arial" pitchFamily="34" charset="0"/>
                <a:ea typeface="Arial" pitchFamily="34" charset="-122"/>
                <a:cs typeface="Arial" pitchFamily="34" charset="-120"/>
              </a:rPr>
              <a:t>Medical-tok pays +0.94 BPC on wikitext and +0.49 on MTSamples. MTSamples-tok essentially ties general on PubMed (Δ = +0.0001).</a:t>
            </a:r>
            <a:endParaRPr lang="en-US" sz="1800" dirty="0"/>
          </a:p>
        </p:txBody>
      </p:sp>
      <p:sp>
        <p:nvSpPr>
          <p:cNvPr id="17" name="Text 15"/>
          <p:cNvSpPr/>
          <p:nvPr/>
        </p:nvSpPr>
        <p:spPr>
          <a:xfrm>
            <a:off x="14471571" y="8438317"/>
            <a:ext cx="1816179" cy="541020"/>
          </a:xfrm>
          <a:prstGeom prst="rect">
            <a:avLst/>
          </a:prstGeom>
          <a:noFill/>
          <a:ln/>
        </p:spPr>
        <p:txBody>
          <a:bodyPr wrap="square" lIns="25400" tIns="25400" rIns="25400" bIns="25400" rtlCol="0" anchor="t">
            <a:normAutofit/>
          </a:bodyPr>
          <a:lstStyle/>
          <a:p>
            <a:pPr algn="r" indent="0" marL="0">
              <a:lnSpc>
                <a:spcPct val="120000"/>
              </a:lnSpc>
              <a:buNone/>
            </a:pPr>
            <a:r>
              <a:rPr lang="en-US" sz="1650" b="1" dirty="0">
                <a:solidFill>
                  <a:srgbClr val="B6351D"/>
                </a:solidFill>
                <a:latin typeface="Arial" pitchFamily="34" charset="0"/>
                <a:ea typeface="Arial" pitchFamily="34" charset="-122"/>
                <a:cs typeface="Arial" pitchFamily="34" charset="-120"/>
              </a:rPr>
              <a:t>+0.94 </a:t>
            </a:r>
            <a:pPr algn="r" indent="0" marL="0">
              <a:lnSpc>
                <a:spcPct val="120000"/>
              </a:lnSpc>
              <a:buNone/>
            </a:pPr>
            <a:r>
              <a:rPr lang="en-US" sz="1650" b="1" dirty="0">
                <a:solidFill>
                  <a:srgbClr val="1A1A1A"/>
                </a:solidFill>
                <a:latin typeface="Arial" pitchFamily="34" charset="0"/>
                <a:ea typeface="Arial" pitchFamily="34" charset="-122"/>
                <a:cs typeface="Arial" pitchFamily="34" charset="-120"/>
              </a:rPr>
              <a:t>/ </a:t>
            </a:r>
            <a:pPr algn="r" indent="0" marL="0">
              <a:lnSpc>
                <a:spcPct val="120000"/>
              </a:lnSpc>
              <a:buNone/>
            </a:pPr>
            <a:r>
              <a:rPr lang="en-US" sz="1650" b="1" dirty="0">
                <a:solidFill>
                  <a:srgbClr val="C28B1F"/>
                </a:solidFill>
                <a:latin typeface="Arial" pitchFamily="34" charset="0"/>
                <a:ea typeface="Arial" pitchFamily="34" charset="-122"/>
                <a:cs typeface="Arial" pitchFamily="34" charset="-120"/>
              </a:rPr>
              <a:t>+0.0001 </a:t>
            </a:r>
            <a:pPr algn="r" indent="0" marL="0">
              <a:lnSpc>
                <a:spcPct val="120000"/>
              </a:lnSpc>
              <a:buNone/>
            </a:pPr>
            <a:r>
              <a:rPr lang="en-US" sz="1200" i="1" dirty="0">
                <a:solidFill>
                  <a:srgbClr val="8A8375"/>
                </a:solidFill>
                <a:latin typeface="Arial" pitchFamily="34" charset="0"/>
                <a:ea typeface="Arial" pitchFamily="34" charset="-122"/>
                <a:cs typeface="Arial" pitchFamily="34" charset="-120"/>
              </a:rPr>
              <a:t>medical · mtsamples</a:t>
            </a:r>
            <a:endParaRPr lang="en-US" sz="1650" dirty="0"/>
          </a:p>
        </p:txBody>
      </p:sp>
      <p:sp>
        <p:nvSpPr>
          <p:cNvPr id="18" name="Text 16"/>
          <p:cNvSpPr/>
          <p:nvPr/>
        </p:nvSpPr>
        <p:spPr>
          <a:xfrm>
            <a:off x="16588860" y="9429036"/>
            <a:ext cx="63234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144" kern="0" dirty="0">
                <a:solidFill>
                  <a:srgbClr val="8A8375"/>
                </a:solidFill>
                <a:latin typeface="Arial" pitchFamily="34" charset="0"/>
                <a:ea typeface="Arial" pitchFamily="34" charset="-122"/>
                <a:cs typeface="Arial" pitchFamily="34" charset="-120"/>
              </a:rPr>
              <a:t>S·14</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1143000" y="533400"/>
            <a:ext cx="3014844"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 06 · FUTURE WORK</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15 </a:t>
            </a:r>
            <a:pPr algn="l" indent="0" marL="0">
              <a:lnSpc>
                <a:spcPct val="142000"/>
              </a:lnSpc>
              <a:buNone/>
            </a:pPr>
            <a:r>
              <a:rPr lang="en-US" sz="1800" spc="252" kern="0" dirty="0">
                <a:solidFill>
                  <a:srgbClr val="C9BFA8"/>
                </a:solidFill>
                <a:latin typeface="Arial" pitchFamily="34" charset="0"/>
                <a:ea typeface="Arial" pitchFamily="34" charset="-122"/>
                <a:cs typeface="Arial" pitchFamily="34" charset="-120"/>
              </a:rPr>
              <a:t>/ 15</a:t>
            </a:r>
            <a:endParaRPr lang="en-US" sz="1800" dirty="0"/>
          </a:p>
        </p:txBody>
      </p:sp>
      <p:sp>
        <p:nvSpPr>
          <p:cNvPr id="4" name="Shape 2"/>
          <p:cNvSpPr/>
          <p:nvPr/>
        </p:nvSpPr>
        <p:spPr>
          <a:xfrm>
            <a:off x="1143000" y="2286000"/>
            <a:ext cx="914400" cy="9525"/>
          </a:xfrm>
          <a:prstGeom prst="rect">
            <a:avLst/>
          </a:prstGeom>
          <a:solidFill>
            <a:srgbClr val="C9BFA8"/>
          </a:solidFill>
          <a:ln/>
        </p:spPr>
      </p:sp>
      <p:sp>
        <p:nvSpPr>
          <p:cNvPr id="5" name="Text 3"/>
          <p:cNvSpPr/>
          <p:nvPr/>
        </p:nvSpPr>
        <p:spPr>
          <a:xfrm>
            <a:off x="1143000" y="2674620"/>
            <a:ext cx="14716125" cy="696397"/>
          </a:xfrm>
          <a:prstGeom prst="rect">
            <a:avLst/>
          </a:prstGeom>
          <a:noFill/>
          <a:ln/>
        </p:spPr>
        <p:txBody>
          <a:bodyPr wrap="square" lIns="25400" tIns="25400" rIns="25400" bIns="25400" rtlCol="0" anchor="t">
            <a:normAutofit/>
          </a:bodyPr>
          <a:lstStyle/>
          <a:p>
            <a:pPr algn="l" indent="0" marL="0">
              <a:lnSpc>
                <a:spcPct val="108000"/>
              </a:lnSpc>
              <a:buNone/>
            </a:pPr>
            <a:r>
              <a:rPr lang="en-US" sz="4800" spc="-72" kern="0" dirty="0">
                <a:solidFill>
                  <a:srgbClr val="1A1A1A"/>
                </a:solidFill>
                <a:latin typeface="Arial" pitchFamily="34" charset="0"/>
                <a:ea typeface="Arial" pitchFamily="34" charset="-122"/>
                <a:cs typeface="Arial" pitchFamily="34" charset="-120"/>
              </a:rPr>
              <a:t>With more compute, next.</a:t>
            </a:r>
            <a:endParaRPr lang="en-US" sz="4800" dirty="0"/>
          </a:p>
        </p:txBody>
      </p:sp>
      <p:sp>
        <p:nvSpPr>
          <p:cNvPr id="6" name="Shape 4"/>
          <p:cNvSpPr/>
          <p:nvPr/>
        </p:nvSpPr>
        <p:spPr>
          <a:xfrm>
            <a:off x="1143000" y="3923467"/>
            <a:ext cx="7620000" cy="15240"/>
          </a:xfrm>
          <a:prstGeom prst="rect">
            <a:avLst/>
          </a:prstGeom>
          <a:solidFill>
            <a:srgbClr val="1A1A1A"/>
          </a:solidFill>
          <a:ln/>
        </p:spPr>
      </p:sp>
      <p:sp>
        <p:nvSpPr>
          <p:cNvPr id="7" name="Text 5"/>
          <p:cNvSpPr/>
          <p:nvPr/>
        </p:nvSpPr>
        <p:spPr>
          <a:xfrm>
            <a:off x="1143000" y="4167307"/>
            <a:ext cx="784860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1A1A1A"/>
                </a:solidFill>
                <a:latin typeface="Arial" pitchFamily="34" charset="0"/>
                <a:ea typeface="Arial" pitchFamily="34" charset="-122"/>
                <a:cs typeface="Arial" pitchFamily="34" charset="-120"/>
              </a:rPr>
              <a:t>01 · HEADLINE QUESTION</a:t>
            </a:r>
            <a:endParaRPr lang="en-US" sz="1800" dirty="0"/>
          </a:p>
        </p:txBody>
      </p:sp>
      <p:sp>
        <p:nvSpPr>
          <p:cNvPr id="8" name="Text 6"/>
          <p:cNvSpPr/>
          <p:nvPr/>
        </p:nvSpPr>
        <p:spPr>
          <a:xfrm>
            <a:off x="1143000" y="4587121"/>
            <a:ext cx="7848600" cy="470892"/>
          </a:xfrm>
          <a:prstGeom prst="rect">
            <a:avLst/>
          </a:prstGeom>
          <a:noFill/>
          <a:ln/>
        </p:spPr>
        <p:txBody>
          <a:bodyPr wrap="square" lIns="25400" tIns="25400" rIns="25400" bIns="25400" rtlCol="0" anchor="t">
            <a:normAutofit/>
          </a:bodyPr>
          <a:lstStyle/>
          <a:p>
            <a:pPr algn="l" indent="0" marL="0">
              <a:lnSpc>
                <a:spcPct val="142000"/>
              </a:lnSpc>
              <a:buNone/>
            </a:pPr>
            <a:r>
              <a:rPr lang="en-US" sz="2400" dirty="0">
                <a:solidFill>
                  <a:srgbClr val="1A1A1A"/>
                </a:solidFill>
                <a:latin typeface="Arial" pitchFamily="34" charset="0"/>
                <a:ea typeface="Arial" pitchFamily="34" charset="-122"/>
                <a:cs typeface="Arial" pitchFamily="34" charset="-120"/>
              </a:rPr>
              <a:t>Tokenizer-effect-vs-register-distance</a:t>
            </a:r>
            <a:endParaRPr lang="en-US" sz="2400" dirty="0"/>
          </a:p>
        </p:txBody>
      </p:sp>
      <p:sp>
        <p:nvSpPr>
          <p:cNvPr id="9" name="Text 7"/>
          <p:cNvSpPr/>
          <p:nvPr/>
        </p:nvSpPr>
        <p:spPr>
          <a:xfrm>
            <a:off x="1143000" y="5096113"/>
            <a:ext cx="7848600" cy="501015"/>
          </a:xfrm>
          <a:prstGeom prst="rect">
            <a:avLst/>
          </a:prstGeom>
          <a:noFill/>
          <a:ln/>
        </p:spPr>
        <p:txBody>
          <a:bodyPr wrap="square" lIns="25400" tIns="25400" rIns="25400" bIns="25400" rtlCol="0" anchor="t">
            <a:normAutofit/>
          </a:bodyPr>
          <a:lstStyle/>
          <a:p>
            <a:pPr algn="l" indent="0" marL="0">
              <a:lnSpc>
                <a:spcPct val="135000"/>
              </a:lnSpc>
              <a:buNone/>
            </a:pPr>
            <a:r>
              <a:rPr lang="en-US" sz="1350" dirty="0">
                <a:solidFill>
                  <a:srgbClr val="8A8375"/>
                </a:solidFill>
                <a:latin typeface="Arial" pitchFamily="34" charset="0"/>
                <a:ea typeface="Arial" pitchFamily="34" charset="-122"/>
                <a:cs typeface="Arial" pitchFamily="34" charset="-120"/>
              </a:rPr>
              <a:t>Train tokenizers on 4–5 registers (legal, code, dialogue, medical sub-genres). Operationalize register-distance via cross-tokenizer chars/token deltas.</a:t>
            </a:r>
            <a:endParaRPr lang="en-US" sz="1350" dirty="0"/>
          </a:p>
        </p:txBody>
      </p:sp>
      <p:sp>
        <p:nvSpPr>
          <p:cNvPr id="10" name="Shape 8"/>
          <p:cNvSpPr/>
          <p:nvPr/>
        </p:nvSpPr>
        <p:spPr>
          <a:xfrm>
            <a:off x="9525000" y="3923467"/>
            <a:ext cx="7620000" cy="9525"/>
          </a:xfrm>
          <a:prstGeom prst="rect">
            <a:avLst/>
          </a:prstGeom>
          <a:solidFill>
            <a:srgbClr val="C9BFA8"/>
          </a:solidFill>
          <a:ln/>
        </p:spPr>
      </p:sp>
      <p:sp>
        <p:nvSpPr>
          <p:cNvPr id="11" name="Text 9"/>
          <p:cNvSpPr/>
          <p:nvPr/>
        </p:nvSpPr>
        <p:spPr>
          <a:xfrm>
            <a:off x="9525000" y="4159687"/>
            <a:ext cx="784860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02 · TOKENIZATION</a:t>
            </a:r>
            <a:endParaRPr lang="en-US" sz="1800" dirty="0"/>
          </a:p>
        </p:txBody>
      </p:sp>
      <p:sp>
        <p:nvSpPr>
          <p:cNvPr id="12" name="Text 10"/>
          <p:cNvSpPr/>
          <p:nvPr/>
        </p:nvSpPr>
        <p:spPr>
          <a:xfrm>
            <a:off x="9525000" y="4579501"/>
            <a:ext cx="7848600" cy="470892"/>
          </a:xfrm>
          <a:prstGeom prst="rect">
            <a:avLst/>
          </a:prstGeom>
          <a:noFill/>
          <a:ln/>
        </p:spPr>
        <p:txBody>
          <a:bodyPr wrap="square" lIns="25400" tIns="25400" rIns="25400" bIns="25400" rtlCol="0" anchor="t">
            <a:normAutofit/>
          </a:bodyPr>
          <a:lstStyle/>
          <a:p>
            <a:pPr algn="l" indent="0" marL="0">
              <a:lnSpc>
                <a:spcPct val="142000"/>
              </a:lnSpc>
              <a:buNone/>
            </a:pPr>
            <a:r>
              <a:rPr lang="en-US" sz="2400" dirty="0">
                <a:solidFill>
                  <a:srgbClr val="1A1A1A"/>
                </a:solidFill>
                <a:latin typeface="Arial" pitchFamily="34" charset="0"/>
                <a:ea typeface="Arial" pitchFamily="34" charset="-122"/>
                <a:cs typeface="Arial" pitchFamily="34" charset="-120"/>
              </a:rPr>
              <a:t>Mixed-corpus tokenizer</a:t>
            </a:r>
            <a:endParaRPr lang="en-US" sz="2400" dirty="0"/>
          </a:p>
        </p:txBody>
      </p:sp>
      <p:sp>
        <p:nvSpPr>
          <p:cNvPr id="13" name="Text 11"/>
          <p:cNvSpPr/>
          <p:nvPr/>
        </p:nvSpPr>
        <p:spPr>
          <a:xfrm>
            <a:off x="9525000" y="5088493"/>
            <a:ext cx="7848600" cy="501015"/>
          </a:xfrm>
          <a:prstGeom prst="rect">
            <a:avLst/>
          </a:prstGeom>
          <a:noFill/>
          <a:ln/>
        </p:spPr>
        <p:txBody>
          <a:bodyPr wrap="square" lIns="25400" tIns="25400" rIns="25400" bIns="25400" rtlCol="0" anchor="t">
            <a:normAutofit/>
          </a:bodyPr>
          <a:lstStyle/>
          <a:p>
            <a:pPr algn="l" indent="0" marL="0">
              <a:lnSpc>
                <a:spcPct val="135000"/>
              </a:lnSpc>
              <a:buNone/>
            </a:pPr>
            <a:r>
              <a:rPr lang="en-US" sz="1350" dirty="0">
                <a:solidFill>
                  <a:srgbClr val="8A8375"/>
                </a:solidFill>
                <a:latin typeface="Arial" pitchFamily="34" charset="0"/>
                <a:ea typeface="Arial" pitchFamily="34" charset="-122"/>
                <a:cs typeface="Arial" pitchFamily="34" charset="-120"/>
              </a:rPr>
              <a:t>PubMed + MTSamples + drug monographs + general English. Preserve in-domain wins, close the cross-register gap.</a:t>
            </a:r>
            <a:endParaRPr lang="en-US" sz="1350" dirty="0"/>
          </a:p>
        </p:txBody>
      </p:sp>
      <p:sp>
        <p:nvSpPr>
          <p:cNvPr id="14" name="Shape 12"/>
          <p:cNvSpPr/>
          <p:nvPr/>
        </p:nvSpPr>
        <p:spPr>
          <a:xfrm>
            <a:off x="1143000" y="5787628"/>
            <a:ext cx="7620000" cy="9525"/>
          </a:xfrm>
          <a:prstGeom prst="rect">
            <a:avLst/>
          </a:prstGeom>
          <a:solidFill>
            <a:srgbClr val="C9BFA8"/>
          </a:solidFill>
          <a:ln/>
        </p:spPr>
      </p:sp>
      <p:sp>
        <p:nvSpPr>
          <p:cNvPr id="15" name="Text 13"/>
          <p:cNvSpPr/>
          <p:nvPr/>
        </p:nvSpPr>
        <p:spPr>
          <a:xfrm>
            <a:off x="1143000" y="6023848"/>
            <a:ext cx="784860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03 · INFERENCE</a:t>
            </a:r>
            <a:endParaRPr lang="en-US" sz="1800" dirty="0"/>
          </a:p>
        </p:txBody>
      </p:sp>
      <p:sp>
        <p:nvSpPr>
          <p:cNvPr id="16" name="Text 14"/>
          <p:cNvSpPr/>
          <p:nvPr/>
        </p:nvSpPr>
        <p:spPr>
          <a:xfrm>
            <a:off x="1143000" y="6443663"/>
            <a:ext cx="7848600" cy="470892"/>
          </a:xfrm>
          <a:prstGeom prst="rect">
            <a:avLst/>
          </a:prstGeom>
          <a:noFill/>
          <a:ln/>
        </p:spPr>
        <p:txBody>
          <a:bodyPr wrap="square" lIns="25400" tIns="25400" rIns="25400" bIns="25400" rtlCol="0" anchor="t">
            <a:normAutofit/>
          </a:bodyPr>
          <a:lstStyle/>
          <a:p>
            <a:pPr algn="l" indent="0" marL="0">
              <a:lnSpc>
                <a:spcPct val="142000"/>
              </a:lnSpc>
              <a:buNone/>
            </a:pPr>
            <a:r>
              <a:rPr lang="en-US" sz="2400" dirty="0">
                <a:solidFill>
                  <a:srgbClr val="1A1A1A"/>
                </a:solidFill>
                <a:latin typeface="Arial" pitchFamily="34" charset="0"/>
                <a:ea typeface="Arial" pitchFamily="34" charset="-122"/>
                <a:cs typeface="Arial" pitchFamily="34" charset="-120"/>
              </a:rPr>
              <a:t>Register-aware switching</a:t>
            </a:r>
            <a:endParaRPr lang="en-US" sz="2400" dirty="0"/>
          </a:p>
        </p:txBody>
      </p:sp>
      <p:sp>
        <p:nvSpPr>
          <p:cNvPr id="17" name="Text 15"/>
          <p:cNvSpPr/>
          <p:nvPr/>
        </p:nvSpPr>
        <p:spPr>
          <a:xfrm>
            <a:off x="1143000" y="6952655"/>
            <a:ext cx="7848600" cy="501015"/>
          </a:xfrm>
          <a:prstGeom prst="rect">
            <a:avLst/>
          </a:prstGeom>
          <a:noFill/>
          <a:ln/>
        </p:spPr>
        <p:txBody>
          <a:bodyPr wrap="square" lIns="25400" tIns="25400" rIns="25400" bIns="25400" rtlCol="0" anchor="t">
            <a:normAutofit/>
          </a:bodyPr>
          <a:lstStyle/>
          <a:p>
            <a:pPr algn="l" indent="0" marL="0">
              <a:lnSpc>
                <a:spcPct val="135000"/>
              </a:lnSpc>
              <a:buNone/>
            </a:pPr>
            <a:r>
              <a:rPr lang="en-US" sz="1350" dirty="0">
                <a:solidFill>
                  <a:srgbClr val="8A8375"/>
                </a:solidFill>
                <a:latin typeface="Arial" pitchFamily="34" charset="0"/>
                <a:ea typeface="Arial" pitchFamily="34" charset="-122"/>
                <a:cs typeface="Arial" pitchFamily="34" charset="-120"/>
              </a:rPr>
              <a:t>A lightweight classifier routes each document to its best-matched subword dictionary at inference time.</a:t>
            </a:r>
            <a:endParaRPr lang="en-US" sz="1350" dirty="0"/>
          </a:p>
        </p:txBody>
      </p:sp>
      <p:sp>
        <p:nvSpPr>
          <p:cNvPr id="18" name="Shape 16"/>
          <p:cNvSpPr/>
          <p:nvPr/>
        </p:nvSpPr>
        <p:spPr>
          <a:xfrm>
            <a:off x="9525000" y="5787628"/>
            <a:ext cx="7620000" cy="9525"/>
          </a:xfrm>
          <a:prstGeom prst="rect">
            <a:avLst/>
          </a:prstGeom>
          <a:solidFill>
            <a:srgbClr val="C9BFA8"/>
          </a:solidFill>
          <a:ln/>
        </p:spPr>
      </p:sp>
      <p:sp>
        <p:nvSpPr>
          <p:cNvPr id="19" name="Text 17"/>
          <p:cNvSpPr/>
          <p:nvPr/>
        </p:nvSpPr>
        <p:spPr>
          <a:xfrm>
            <a:off x="9525000" y="6023848"/>
            <a:ext cx="784860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04 · SCALE</a:t>
            </a:r>
            <a:endParaRPr lang="en-US" sz="1800" dirty="0"/>
          </a:p>
        </p:txBody>
      </p:sp>
      <p:sp>
        <p:nvSpPr>
          <p:cNvPr id="20" name="Text 18"/>
          <p:cNvSpPr/>
          <p:nvPr/>
        </p:nvSpPr>
        <p:spPr>
          <a:xfrm>
            <a:off x="9525000" y="6443663"/>
            <a:ext cx="7848600" cy="470892"/>
          </a:xfrm>
          <a:prstGeom prst="rect">
            <a:avLst/>
          </a:prstGeom>
          <a:noFill/>
          <a:ln/>
        </p:spPr>
        <p:txBody>
          <a:bodyPr wrap="square" lIns="25400" tIns="25400" rIns="25400" bIns="25400" rtlCol="0" anchor="t">
            <a:normAutofit/>
          </a:bodyPr>
          <a:lstStyle/>
          <a:p>
            <a:pPr algn="l" indent="0" marL="0">
              <a:lnSpc>
                <a:spcPct val="142000"/>
              </a:lnSpc>
              <a:buNone/>
            </a:pPr>
            <a:r>
              <a:rPr lang="en-US" sz="2400" dirty="0">
                <a:solidFill>
                  <a:srgbClr val="1A1A1A"/>
                </a:solidFill>
                <a:latin typeface="Arial" pitchFamily="34" charset="0"/>
                <a:ea typeface="Arial" pitchFamily="34" charset="-122"/>
                <a:cs typeface="Arial" pitchFamily="34" charset="-120"/>
              </a:rPr>
              <a:t>Chinchilla-optimal training</a:t>
            </a:r>
            <a:endParaRPr lang="en-US" sz="2400" dirty="0"/>
          </a:p>
        </p:txBody>
      </p:sp>
      <p:sp>
        <p:nvSpPr>
          <p:cNvPr id="21" name="Text 19"/>
          <p:cNvSpPr/>
          <p:nvPr/>
        </p:nvSpPr>
        <p:spPr>
          <a:xfrm>
            <a:off x="9525000" y="6952655"/>
            <a:ext cx="7848600" cy="501015"/>
          </a:xfrm>
          <a:prstGeom prst="rect">
            <a:avLst/>
          </a:prstGeom>
          <a:noFill/>
          <a:ln/>
        </p:spPr>
        <p:txBody>
          <a:bodyPr wrap="square" lIns="25400" tIns="25400" rIns="25400" bIns="25400" rtlCol="0" anchor="t">
            <a:normAutofit/>
          </a:bodyPr>
          <a:lstStyle/>
          <a:p>
            <a:pPr algn="l" indent="0" marL="0">
              <a:lnSpc>
                <a:spcPct val="135000"/>
              </a:lnSpc>
              <a:buNone/>
            </a:pPr>
            <a:r>
              <a:rPr lang="en-US" sz="1350" dirty="0">
                <a:solidFill>
                  <a:srgbClr val="8A8375"/>
                </a:solidFill>
                <a:latin typeface="Arial" pitchFamily="34" charset="0"/>
                <a:ea typeface="Arial" pitchFamily="34" charset="-122"/>
                <a:cs typeface="Arial" pitchFamily="34" charset="-120"/>
              </a:rPr>
              <a:t>29M params × 20 tokens/param ≈ 580M tokens — we trained at ~32M. Does the gap widen or close?</a:t>
            </a:r>
            <a:endParaRPr lang="en-US" sz="1350" dirty="0"/>
          </a:p>
        </p:txBody>
      </p:sp>
      <p:sp>
        <p:nvSpPr>
          <p:cNvPr id="22" name="Shape 20"/>
          <p:cNvSpPr/>
          <p:nvPr/>
        </p:nvSpPr>
        <p:spPr>
          <a:xfrm>
            <a:off x="1143000" y="7644170"/>
            <a:ext cx="7620000" cy="9525"/>
          </a:xfrm>
          <a:prstGeom prst="rect">
            <a:avLst/>
          </a:prstGeom>
          <a:solidFill>
            <a:srgbClr val="C9BFA8"/>
          </a:solidFill>
          <a:ln/>
        </p:spPr>
      </p:sp>
      <p:sp>
        <p:nvSpPr>
          <p:cNvPr id="23" name="Text 21"/>
          <p:cNvSpPr/>
          <p:nvPr/>
        </p:nvSpPr>
        <p:spPr>
          <a:xfrm>
            <a:off x="1143000" y="7880390"/>
            <a:ext cx="784860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05 · EVALUATION</a:t>
            </a:r>
            <a:endParaRPr lang="en-US" sz="1800" dirty="0"/>
          </a:p>
        </p:txBody>
      </p:sp>
      <p:sp>
        <p:nvSpPr>
          <p:cNvPr id="24" name="Text 22"/>
          <p:cNvSpPr/>
          <p:nvPr/>
        </p:nvSpPr>
        <p:spPr>
          <a:xfrm>
            <a:off x="1143000" y="8300204"/>
            <a:ext cx="7848600" cy="470892"/>
          </a:xfrm>
          <a:prstGeom prst="rect">
            <a:avLst/>
          </a:prstGeom>
          <a:noFill/>
          <a:ln/>
        </p:spPr>
        <p:txBody>
          <a:bodyPr wrap="square" lIns="25400" tIns="25400" rIns="25400" bIns="25400" rtlCol="0" anchor="t">
            <a:normAutofit/>
          </a:bodyPr>
          <a:lstStyle/>
          <a:p>
            <a:pPr algn="l" indent="0" marL="0">
              <a:lnSpc>
                <a:spcPct val="142000"/>
              </a:lnSpc>
              <a:buNone/>
            </a:pPr>
            <a:r>
              <a:rPr lang="en-US" sz="2400" dirty="0">
                <a:solidFill>
                  <a:srgbClr val="1A1A1A"/>
                </a:solidFill>
                <a:latin typeface="Arial" pitchFamily="34" charset="0"/>
                <a:ea typeface="Arial" pitchFamily="34" charset="-122"/>
                <a:cs typeface="Arial" pitchFamily="34" charset="-120"/>
              </a:rPr>
              <a:t>Tokenizer-conditioned hallucination</a:t>
            </a:r>
            <a:endParaRPr lang="en-US" sz="2400" dirty="0"/>
          </a:p>
        </p:txBody>
      </p:sp>
      <p:sp>
        <p:nvSpPr>
          <p:cNvPr id="25" name="Text 23"/>
          <p:cNvSpPr/>
          <p:nvPr/>
        </p:nvSpPr>
        <p:spPr>
          <a:xfrm>
            <a:off x="1143000" y="8809197"/>
            <a:ext cx="7848600" cy="269558"/>
          </a:xfrm>
          <a:prstGeom prst="rect">
            <a:avLst/>
          </a:prstGeom>
          <a:noFill/>
          <a:ln/>
        </p:spPr>
        <p:txBody>
          <a:bodyPr wrap="square" lIns="25400" tIns="25400" rIns="25400" bIns="25400" rtlCol="0" anchor="t">
            <a:normAutofit/>
          </a:bodyPr>
          <a:lstStyle/>
          <a:p>
            <a:pPr algn="l" indent="0" marL="0">
              <a:lnSpc>
                <a:spcPct val="135000"/>
              </a:lnSpc>
              <a:buNone/>
            </a:pPr>
            <a:r>
              <a:rPr lang="en-US" sz="1350" dirty="0">
                <a:solidFill>
                  <a:srgbClr val="8A8375"/>
                </a:solidFill>
                <a:latin typeface="Arial" pitchFamily="34" charset="0"/>
                <a:ea typeface="Arial" pitchFamily="34" charset="-122"/>
                <a:cs typeface="Arial" pitchFamily="34" charset="-120"/>
              </a:rPr>
              <a:t>Score fabrications by the merge tree that produced them. Different tokenizers fail differently.</a:t>
            </a:r>
            <a:endParaRPr lang="en-US" sz="1350" dirty="0"/>
          </a:p>
        </p:txBody>
      </p:sp>
      <p:sp>
        <p:nvSpPr>
          <p:cNvPr id="26" name="Shape 24"/>
          <p:cNvSpPr/>
          <p:nvPr/>
        </p:nvSpPr>
        <p:spPr>
          <a:xfrm>
            <a:off x="9525000" y="7644170"/>
            <a:ext cx="7620000" cy="9525"/>
          </a:xfrm>
          <a:prstGeom prst="rect">
            <a:avLst/>
          </a:prstGeom>
          <a:solidFill>
            <a:srgbClr val="C9BFA8"/>
          </a:solidFill>
          <a:ln/>
        </p:spPr>
      </p:sp>
      <p:sp>
        <p:nvSpPr>
          <p:cNvPr id="27" name="Text 25"/>
          <p:cNvSpPr/>
          <p:nvPr/>
        </p:nvSpPr>
        <p:spPr>
          <a:xfrm>
            <a:off x="9525000" y="7880390"/>
            <a:ext cx="784860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06 · LOSS-VS-CHARS</a:t>
            </a:r>
            <a:endParaRPr lang="en-US" sz="1800" dirty="0"/>
          </a:p>
        </p:txBody>
      </p:sp>
      <p:sp>
        <p:nvSpPr>
          <p:cNvPr id="28" name="Text 26"/>
          <p:cNvSpPr/>
          <p:nvPr/>
        </p:nvSpPr>
        <p:spPr>
          <a:xfrm>
            <a:off x="9525000" y="8300204"/>
            <a:ext cx="7848600" cy="470892"/>
          </a:xfrm>
          <a:prstGeom prst="rect">
            <a:avLst/>
          </a:prstGeom>
          <a:noFill/>
          <a:ln/>
        </p:spPr>
        <p:txBody>
          <a:bodyPr wrap="square" lIns="25400" tIns="25400" rIns="25400" bIns="25400" rtlCol="0" anchor="t">
            <a:normAutofit/>
          </a:bodyPr>
          <a:lstStyle/>
          <a:p>
            <a:pPr algn="l" indent="0" marL="0">
              <a:lnSpc>
                <a:spcPct val="142000"/>
              </a:lnSpc>
              <a:buNone/>
            </a:pPr>
            <a:r>
              <a:rPr lang="en-US" sz="2400" dirty="0">
                <a:solidFill>
                  <a:srgbClr val="1A1A1A"/>
                </a:solidFill>
                <a:latin typeface="Arial" pitchFamily="34" charset="0"/>
                <a:ea typeface="Arial" pitchFamily="34" charset="-122"/>
                <a:cs typeface="Arial" pitchFamily="34" charset="-120"/>
              </a:rPr>
              <a:t>Curves at scale</a:t>
            </a:r>
            <a:endParaRPr lang="en-US" sz="2400" dirty="0"/>
          </a:p>
        </p:txBody>
      </p:sp>
      <p:sp>
        <p:nvSpPr>
          <p:cNvPr id="29" name="Text 27"/>
          <p:cNvSpPr/>
          <p:nvPr/>
        </p:nvSpPr>
        <p:spPr>
          <a:xfrm>
            <a:off x="9525000" y="8809197"/>
            <a:ext cx="7848600" cy="501015"/>
          </a:xfrm>
          <a:prstGeom prst="rect">
            <a:avLst/>
          </a:prstGeom>
          <a:noFill/>
          <a:ln/>
        </p:spPr>
        <p:txBody>
          <a:bodyPr wrap="square" lIns="25400" tIns="25400" rIns="25400" bIns="25400" rtlCol="0" anchor="t">
            <a:normAutofit/>
          </a:bodyPr>
          <a:lstStyle/>
          <a:p>
            <a:pPr algn="l" indent="0" marL="0">
              <a:lnSpc>
                <a:spcPct val="135000"/>
              </a:lnSpc>
              <a:buNone/>
            </a:pPr>
            <a:r>
              <a:rPr lang="en-US" sz="1350" dirty="0">
                <a:solidFill>
                  <a:srgbClr val="8A8375"/>
                </a:solidFill>
                <a:latin typeface="Arial" pitchFamily="34" charset="0"/>
                <a:ea typeface="Arial" pitchFamily="34" charset="-122"/>
                <a:cs typeface="Arial" pitchFamily="34" charset="-120"/>
              </a:rPr>
              <a:t>The chars-axis plot is the tokenizer-fair view of training efficiency. Do the curves cross past convergence?</a:t>
            </a:r>
            <a:endParaRPr lang="en-US" sz="1350" dirty="0"/>
          </a:p>
        </p:txBody>
      </p:sp>
      <p:sp>
        <p:nvSpPr>
          <p:cNvPr id="30" name="Shape 28"/>
          <p:cNvSpPr/>
          <p:nvPr/>
        </p:nvSpPr>
        <p:spPr>
          <a:xfrm>
            <a:off x="1143000" y="9348311"/>
            <a:ext cx="16002000" cy="15240"/>
          </a:xfrm>
          <a:prstGeom prst="rect">
            <a:avLst/>
          </a:prstGeom>
          <a:solidFill>
            <a:srgbClr val="1A1A1A"/>
          </a:solidFill>
          <a:ln/>
        </p:spPr>
      </p:sp>
      <p:sp>
        <p:nvSpPr>
          <p:cNvPr id="31" name="Text 29"/>
          <p:cNvSpPr/>
          <p:nvPr/>
        </p:nvSpPr>
        <p:spPr>
          <a:xfrm>
            <a:off x="1143000" y="9458801"/>
            <a:ext cx="2306122" cy="443865"/>
          </a:xfrm>
          <a:prstGeom prst="rect">
            <a:avLst/>
          </a:prstGeom>
          <a:noFill/>
          <a:ln/>
        </p:spPr>
        <p:txBody>
          <a:bodyPr wrap="square" lIns="25400" tIns="25400" rIns="25400" bIns="25400" rtlCol="0" anchor="t">
            <a:normAutofit/>
          </a:bodyPr>
          <a:lstStyle/>
          <a:p>
            <a:pPr algn="l" indent="0" marL="0">
              <a:lnSpc>
                <a:spcPct val="142000"/>
              </a:lnSpc>
              <a:buNone/>
            </a:pPr>
            <a:r>
              <a:rPr lang="en-US" sz="2250" i="1" dirty="0">
                <a:solidFill>
                  <a:srgbClr val="1A1A1A"/>
                </a:solidFill>
                <a:latin typeface="Arial" pitchFamily="34" charset="0"/>
                <a:ea typeface="Arial" pitchFamily="34" charset="-122"/>
                <a:cs typeface="Arial" pitchFamily="34" charset="-120"/>
              </a:rPr>
              <a:t>Thank you.</a:t>
            </a:r>
            <a:endParaRPr lang="en-US" sz="2250" dirty="0"/>
          </a:p>
        </p:txBody>
      </p:sp>
      <p:sp>
        <p:nvSpPr>
          <p:cNvPr id="32" name="Text 30"/>
          <p:cNvSpPr/>
          <p:nvPr/>
        </p:nvSpPr>
        <p:spPr>
          <a:xfrm>
            <a:off x="1143000" y="9902666"/>
            <a:ext cx="2306122" cy="389692"/>
          </a:xfrm>
          <a:prstGeom prst="rect">
            <a:avLst/>
          </a:prstGeom>
          <a:noFill/>
          <a:ln/>
        </p:spPr>
        <p:txBody>
          <a:bodyPr wrap="square" lIns="25400" tIns="25400" rIns="25400" bIns="25400" rtlCol="0" anchor="t">
            <a:normAutofit/>
          </a:bodyPr>
          <a:lstStyle/>
          <a:p>
            <a:pPr algn="l" indent="0" marL="0">
              <a:lnSpc>
                <a:spcPct val="142000"/>
              </a:lnSpc>
              <a:buNone/>
            </a:pPr>
            <a:r>
              <a:rPr lang="en-US" sz="1950" dirty="0">
                <a:solidFill>
                  <a:srgbClr val="8A8375"/>
                </a:solidFill>
                <a:latin typeface="Arial" pitchFamily="34" charset="0"/>
                <a:ea typeface="Arial" pitchFamily="34" charset="-122"/>
                <a:cs typeface="Arial" pitchFamily="34" charset="-120"/>
              </a:rPr>
              <a:t>Questions welcome.</a:t>
            </a:r>
            <a:endParaRPr lang="en-US" sz="1950" dirty="0"/>
          </a:p>
        </p:txBody>
      </p:sp>
      <p:sp>
        <p:nvSpPr>
          <p:cNvPr id="33" name="Text 31"/>
          <p:cNvSpPr/>
          <p:nvPr/>
        </p:nvSpPr>
        <p:spPr>
          <a:xfrm>
            <a:off x="11744182" y="9496901"/>
            <a:ext cx="5400818" cy="389692"/>
          </a:xfrm>
          <a:prstGeom prst="rect">
            <a:avLst/>
          </a:prstGeom>
          <a:noFill/>
          <a:ln/>
        </p:spPr>
        <p:txBody>
          <a:bodyPr wrap="square" lIns="25400" tIns="25400" rIns="25400" bIns="25400" rtlCol="0" anchor="t">
            <a:normAutofit/>
          </a:bodyPr>
          <a:lstStyle/>
          <a:p>
            <a:pPr algn="r" indent="0" marL="0">
              <a:lnSpc>
                <a:spcPct val="142000"/>
              </a:lnSpc>
              <a:buNone/>
            </a:pPr>
            <a:r>
              <a:rPr lang="en-US" sz="1950" dirty="0">
                <a:solidFill>
                  <a:srgbClr val="1A1A1A"/>
                </a:solidFill>
                <a:latin typeface="Arial" pitchFamily="34" charset="0"/>
                <a:ea typeface="Arial" pitchFamily="34" charset="-122"/>
                <a:cs typeface="Arial" pitchFamily="34" charset="-120"/>
              </a:rPr>
              <a:t>github.com/SamihAmer/ChatGPT-from-Scratch-</a:t>
            </a:r>
            <a:endParaRPr lang="en-US" sz="1950" dirty="0"/>
          </a:p>
        </p:txBody>
      </p:sp>
      <p:sp>
        <p:nvSpPr>
          <p:cNvPr id="34" name="Text 32"/>
          <p:cNvSpPr/>
          <p:nvPr/>
        </p:nvSpPr>
        <p:spPr>
          <a:xfrm>
            <a:off x="11744182" y="9867543"/>
            <a:ext cx="5400818" cy="389692"/>
          </a:xfrm>
          <a:prstGeom prst="rect">
            <a:avLst/>
          </a:prstGeom>
          <a:noFill/>
          <a:ln/>
        </p:spPr>
        <p:txBody>
          <a:bodyPr wrap="square" lIns="25400" tIns="25400" rIns="25400" bIns="25400" rtlCol="0" anchor="t">
            <a:normAutofit/>
          </a:bodyPr>
          <a:lstStyle/>
          <a:p>
            <a:pPr algn="r" indent="0" marL="0">
              <a:lnSpc>
                <a:spcPct val="142000"/>
              </a:lnSpc>
              <a:buNone/>
            </a:pPr>
            <a:r>
              <a:rPr lang="en-US" sz="1950" dirty="0">
                <a:solidFill>
                  <a:srgbClr val="8A8375"/>
                </a:solidFill>
                <a:latin typeface="Arial" pitchFamily="34" charset="0"/>
                <a:ea typeface="Arial" pitchFamily="34" charset="-122"/>
                <a:cs typeface="Arial" pitchFamily="34" charset="-120"/>
              </a:rPr>
              <a:t>Samih Amer · May 2026</a:t>
            </a:r>
            <a:endParaRPr lang="en-US" sz="1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2026-05-06T02:25:08Z</dcterms:created>
  <dcterms:modified xsi:type="dcterms:W3CDTF">2026-05-06T02:25:08Z</dcterms:modified>
</cp:coreProperties>
</file>